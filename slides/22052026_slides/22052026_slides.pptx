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914040" y="2562120"/>
            <a:ext cx="57600" cy="543240"/>
          </a:xfrm>
          <a:custGeom>
            <a:avLst/>
            <a:gdLst/>
            <a:ahLst/>
            <a:rect l="0" t="0" r="r" b="b"/>
            <a:pathLst>
              <a:path w="160" h="1509">
                <a:moveTo>
                  <a:pt x="0" y="0"/>
                </a:moveTo>
                <a:lnTo>
                  <a:pt x="160" y="0"/>
                </a:lnTo>
                <a:lnTo>
                  <a:pt x="16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181160" y="2595600"/>
            <a:ext cx="1076328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0" b="1" u="none" strike="noStrike">
                <a:solidFill>
                  <a:srgbClr val="111827"/>
                </a:solidFill>
                <a:effectLst/>
                <a:uFillTx/>
                <a:latin typeface=".SFNS-Regular_wdth_opsz240000_GRAD_wght2BC0000"/>
                <a:ea typeface=".SFNS-Regular_wdth_opsz240000_GRAD_wght2BC0000"/>
              </a:rPr>
              <a:t>Cortical EEG slowing in resting-state Parkinson's disease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181160" y="3245760"/>
            <a:ext cx="39290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Progress update: hypothesis, model, and next steps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181160" y="4106160"/>
            <a:ext cx="15379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6B7280"/>
                </a:solidFill>
                <a:effectLst/>
                <a:uFillTx/>
                <a:latin typeface=".SFNS"/>
                <a:ea typeface=".SFNS"/>
              </a:rPr>
              <a:t>PD EEG group · 22.05.2026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685440" y="942840"/>
            <a:ext cx="10820880" cy="28800"/>
          </a:xfrm>
          <a:custGeom>
            <a:avLst/>
            <a:gdLst/>
            <a:ahLst/>
            <a:rect l="0" t="0" r="r" b="b"/>
            <a:pathLst>
              <a:path w="30058" h="80">
                <a:moveTo>
                  <a:pt x="0" y="0"/>
                </a:moveTo>
                <a:lnTo>
                  <a:pt x="30058" y="0"/>
                </a:lnTo>
                <a:lnTo>
                  <a:pt x="30058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685440" y="1438200"/>
            <a:ext cx="10820880" cy="1467000"/>
          </a:xfrm>
          <a:custGeom>
            <a:avLst/>
            <a:gdLst/>
            <a:ahLst/>
            <a:rect l="0" t="0" r="r" b="b"/>
            <a:pathLst>
              <a:path w="30058" h="4075">
                <a:moveTo>
                  <a:pt x="0" y="0"/>
                </a:moveTo>
                <a:lnTo>
                  <a:pt x="30058" y="0"/>
                </a:lnTo>
                <a:lnTo>
                  <a:pt x="30058" y="4075"/>
                </a:lnTo>
                <a:lnTo>
                  <a:pt x="0" y="40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685440" y="1438200"/>
            <a:ext cx="38520" cy="1467000"/>
          </a:xfrm>
          <a:custGeom>
            <a:avLst/>
            <a:gdLst/>
            <a:ahLst/>
            <a:rect l="0" t="0" r="r" b="b"/>
            <a:pathLst>
              <a:path w="107" h="4075">
                <a:moveTo>
                  <a:pt x="0" y="0"/>
                </a:moveTo>
                <a:lnTo>
                  <a:pt x="107" y="0"/>
                </a:lnTo>
                <a:lnTo>
                  <a:pt x="107" y="4075"/>
                </a:lnTo>
                <a:lnTo>
                  <a:pt x="0" y="4075"/>
                </a:lnTo>
                <a:lnTo>
                  <a:pt x="0" y="0"/>
                </a:ln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85800" y="515160"/>
            <a:ext cx="2949480" cy="37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Hypothesis (refined)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85800" y="1114200"/>
            <a:ext cx="1521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0F766E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WHAT WE PREDICT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961920" y="199044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133" y="66"/>
                </a:moveTo>
                <a:cubicBezTo>
                  <a:pt x="133" y="75"/>
                  <a:pt x="131" y="85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0" y="125"/>
                  <a:pt x="92" y="129"/>
                </a:cubicBezTo>
                <a:cubicBezTo>
                  <a:pt x="84" y="132"/>
                  <a:pt x="76" y="134"/>
                  <a:pt x="67" y="134"/>
                </a:cubicBezTo>
                <a:cubicBezTo>
                  <a:pt x="58" y="134"/>
                  <a:pt x="50" y="132"/>
                  <a:pt x="42" y="129"/>
                </a:cubicBezTo>
                <a:cubicBezTo>
                  <a:pt x="33" y="125"/>
                  <a:pt x="25" y="120"/>
                  <a:pt x="19" y="114"/>
                </a:cubicBezTo>
                <a:cubicBezTo>
                  <a:pt x="13" y="108"/>
                  <a:pt x="8" y="101"/>
                  <a:pt x="5" y="93"/>
                </a:cubicBezTo>
                <a:cubicBezTo>
                  <a:pt x="1" y="85"/>
                  <a:pt x="0" y="75"/>
                  <a:pt x="0" y="66"/>
                </a:cubicBezTo>
                <a:cubicBezTo>
                  <a:pt x="0" y="58"/>
                  <a:pt x="1" y="49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5" y="13"/>
                  <a:pt x="33" y="9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9"/>
                  <a:pt x="108" y="13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8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933480" y="1579680"/>
            <a:ext cx="61912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.SFNS"/>
                <a:ea typeface=".SFNS"/>
              </a:rPr>
              <a:t>Compared to age-matched healthy controls, Parkinson's disease patients at rest show: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961920" y="228564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133" y="68"/>
                </a:moveTo>
                <a:cubicBezTo>
                  <a:pt x="133" y="76"/>
                  <a:pt x="131" y="85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1"/>
                  <a:pt x="100" y="125"/>
                  <a:pt x="92" y="129"/>
                </a:cubicBezTo>
                <a:cubicBezTo>
                  <a:pt x="84" y="132"/>
                  <a:pt x="76" y="134"/>
                  <a:pt x="67" y="134"/>
                </a:cubicBezTo>
                <a:cubicBezTo>
                  <a:pt x="58" y="134"/>
                  <a:pt x="50" y="132"/>
                  <a:pt x="42" y="129"/>
                </a:cubicBezTo>
                <a:cubicBezTo>
                  <a:pt x="33" y="125"/>
                  <a:pt x="25" y="121"/>
                  <a:pt x="19" y="114"/>
                </a:cubicBezTo>
                <a:cubicBezTo>
                  <a:pt x="13" y="108"/>
                  <a:pt x="8" y="101"/>
                  <a:pt x="5" y="93"/>
                </a:cubicBezTo>
                <a:cubicBezTo>
                  <a:pt x="1" y="85"/>
                  <a:pt x="0" y="76"/>
                  <a:pt x="0" y="68"/>
                </a:cubicBezTo>
                <a:cubicBezTo>
                  <a:pt x="0" y="59"/>
                  <a:pt x="1" y="49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5" y="14"/>
                  <a:pt x="33" y="9"/>
                  <a:pt x="42" y="6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6"/>
                </a:cubicBezTo>
                <a:cubicBezTo>
                  <a:pt x="100" y="9"/>
                  <a:pt x="108" y="14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9"/>
                  <a:pt x="133" y="68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123920" y="1884240"/>
            <a:ext cx="39506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slowing of the alpha peak frequency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(8–13 Hz)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961920" y="25812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3" y="125"/>
                  <a:pt x="25" y="120"/>
                  <a:pt x="19" y="114"/>
                </a:cubicBezTo>
                <a:cubicBezTo>
                  <a:pt x="13" y="107"/>
                  <a:pt x="8" y="100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2"/>
                </a:cubicBezTo>
                <a:cubicBezTo>
                  <a:pt x="8" y="33"/>
                  <a:pt x="13" y="26"/>
                  <a:pt x="19" y="19"/>
                </a:cubicBezTo>
                <a:cubicBezTo>
                  <a:pt x="25" y="13"/>
                  <a:pt x="33" y="8"/>
                  <a:pt x="42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6"/>
                  <a:pt x="125" y="33"/>
                  <a:pt x="128" y="42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123920" y="2179440"/>
            <a:ext cx="3133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increased theta-band power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(4–8 Hz)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123920" y="2475000"/>
            <a:ext cx="4030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decreased cortical beta-band power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(13–30 Hz)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85800" y="3047760"/>
            <a:ext cx="2412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0F766E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REFINEMENT BASED ON DATA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3752640" y="3362040"/>
            <a:ext cx="562320" cy="190800"/>
          </a:xfrm>
          <a:custGeom>
            <a:avLst/>
            <a:gdLst/>
            <a:ahLst/>
            <a:rect l="0" t="0" r="r" b="b"/>
            <a:pathLst>
              <a:path w="1562" h="530">
                <a:moveTo>
                  <a:pt x="0" y="478"/>
                </a:move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2"/>
                  <a:pt x="46" y="0"/>
                  <a:pt x="53" y="0"/>
                </a:cubicBezTo>
                <a:lnTo>
                  <a:pt x="1509" y="0"/>
                </a:lnTo>
                <a:cubicBezTo>
                  <a:pt x="1516" y="0"/>
                  <a:pt x="1523" y="2"/>
                  <a:pt x="1529" y="4"/>
                </a:cubicBezTo>
                <a:cubicBezTo>
                  <a:pt x="1536" y="7"/>
                  <a:pt x="1542" y="11"/>
                  <a:pt x="1547" y="16"/>
                </a:cubicBezTo>
                <a:cubicBezTo>
                  <a:pt x="1552" y="21"/>
                  <a:pt x="1555" y="26"/>
                  <a:pt x="1558" y="33"/>
                </a:cubicBezTo>
                <a:cubicBezTo>
                  <a:pt x="1561" y="39"/>
                  <a:pt x="1562" y="46"/>
                  <a:pt x="1562" y="53"/>
                </a:cubicBezTo>
                <a:lnTo>
                  <a:pt x="1562" y="478"/>
                </a:lnTo>
                <a:cubicBezTo>
                  <a:pt x="1562" y="485"/>
                  <a:pt x="1561" y="491"/>
                  <a:pt x="1558" y="498"/>
                </a:cubicBezTo>
                <a:cubicBezTo>
                  <a:pt x="1555" y="504"/>
                  <a:pt x="1552" y="510"/>
                  <a:pt x="1547" y="515"/>
                </a:cubicBezTo>
                <a:cubicBezTo>
                  <a:pt x="1542" y="520"/>
                  <a:pt x="1536" y="524"/>
                  <a:pt x="1529" y="526"/>
                </a:cubicBezTo>
                <a:cubicBezTo>
                  <a:pt x="1523" y="529"/>
                  <a:pt x="1516" y="530"/>
                  <a:pt x="1509" y="530"/>
                </a:cubicBezTo>
                <a:lnTo>
                  <a:pt x="53" y="530"/>
                </a:lnTo>
                <a:cubicBezTo>
                  <a:pt x="46" y="530"/>
                  <a:pt x="39" y="529"/>
                  <a:pt x="33" y="526"/>
                </a:cubicBezTo>
                <a:cubicBezTo>
                  <a:pt x="26" y="524"/>
                  <a:pt x="21" y="520"/>
                  <a:pt x="16" y="515"/>
                </a:cubicBezTo>
                <a:cubicBezTo>
                  <a:pt x="11" y="510"/>
                  <a:pt x="7" y="504"/>
                  <a:pt x="4" y="498"/>
                </a:cubicBezTo>
                <a:cubicBezTo>
                  <a:pt x="1" y="491"/>
                  <a:pt x="0" y="485"/>
                  <a:pt x="0" y="478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85800" y="3341520"/>
            <a:ext cx="30391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Originally formulated as </a:t>
            </a:r>
            <a:r>
              <a:rPr lang="en-US" sz="1280" b="0" i="1" u="none" strike="noStrike">
                <a:solidFill>
                  <a:srgbClr val="1F2937"/>
                </a:solidFill>
                <a:effectLst/>
                <a:uFillTx/>
                <a:latin typeface=".SFNS-Regular"/>
                <a:ea typeface=".SFNS-Regular"/>
              </a:rPr>
              <a:t>"decreased alpha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801240" y="3370320"/>
            <a:ext cx="440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i="1" u="none" strike="noStrike">
                <a:solidFill>
                  <a:srgbClr val="374151"/>
                </a:solidFill>
                <a:effectLst/>
                <a:uFillTx/>
                <a:latin typeface=".SFNS-RegularItalic_opsz_YAXS_wght1F40000"/>
                <a:ea typeface=".SFNS-RegularItalic_opsz_YAXS_wght1F40000"/>
              </a:rPr>
              <a:t>power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8400960" y="3362040"/>
            <a:ext cx="552600" cy="190800"/>
          </a:xfrm>
          <a:custGeom>
            <a:avLst/>
            <a:gdLst/>
            <a:ahLst/>
            <a:rect l="0" t="0" r="r" b="b"/>
            <a:pathLst>
              <a:path w="1535" h="530">
                <a:moveTo>
                  <a:pt x="0" y="478"/>
                </a:move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6" y="26"/>
                  <a:pt x="10" y="21"/>
                  <a:pt x="15" y="16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2"/>
                  <a:pt x="46" y="0"/>
                  <a:pt x="53" y="0"/>
                </a:cubicBezTo>
                <a:lnTo>
                  <a:pt x="1482" y="0"/>
                </a:lnTo>
                <a:cubicBezTo>
                  <a:pt x="1489" y="0"/>
                  <a:pt x="1496" y="2"/>
                  <a:pt x="1503" y="4"/>
                </a:cubicBezTo>
                <a:cubicBezTo>
                  <a:pt x="1509" y="7"/>
                  <a:pt x="1515" y="11"/>
                  <a:pt x="1520" y="16"/>
                </a:cubicBezTo>
                <a:cubicBezTo>
                  <a:pt x="1525" y="21"/>
                  <a:pt x="1529" y="26"/>
                  <a:pt x="1531" y="33"/>
                </a:cubicBezTo>
                <a:cubicBezTo>
                  <a:pt x="1534" y="39"/>
                  <a:pt x="1535" y="46"/>
                  <a:pt x="1535" y="53"/>
                </a:cubicBezTo>
                <a:lnTo>
                  <a:pt x="1535" y="478"/>
                </a:lnTo>
                <a:cubicBezTo>
                  <a:pt x="1535" y="485"/>
                  <a:pt x="1534" y="491"/>
                  <a:pt x="1531" y="498"/>
                </a:cubicBezTo>
                <a:cubicBezTo>
                  <a:pt x="1529" y="504"/>
                  <a:pt x="1525" y="510"/>
                  <a:pt x="1520" y="515"/>
                </a:cubicBezTo>
                <a:cubicBezTo>
                  <a:pt x="1515" y="520"/>
                  <a:pt x="1509" y="524"/>
                  <a:pt x="1503" y="526"/>
                </a:cubicBezTo>
                <a:cubicBezTo>
                  <a:pt x="1496" y="529"/>
                  <a:pt x="1489" y="530"/>
                  <a:pt x="1482" y="530"/>
                </a:cubicBezTo>
                <a:lnTo>
                  <a:pt x="53" y="530"/>
                </a:lnTo>
                <a:cubicBezTo>
                  <a:pt x="46" y="530"/>
                  <a:pt x="39" y="529"/>
                  <a:pt x="32" y="526"/>
                </a:cubicBezTo>
                <a:cubicBezTo>
                  <a:pt x="26" y="524"/>
                  <a:pt x="20" y="520"/>
                  <a:pt x="15" y="515"/>
                </a:cubicBezTo>
                <a:cubicBezTo>
                  <a:pt x="10" y="510"/>
                  <a:pt x="6" y="504"/>
                  <a:pt x="4" y="498"/>
                </a:cubicBezTo>
                <a:cubicBezTo>
                  <a:pt x="1" y="491"/>
                  <a:pt x="0" y="485"/>
                  <a:pt x="0" y="478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313160" y="3341520"/>
            <a:ext cx="67737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i="1" u="none" strike="noStrike">
                <a:solidFill>
                  <a:srgbClr val="1F2937"/>
                </a:solidFill>
                <a:effectLst/>
                <a:uFillTx/>
                <a:latin typeface=".SFNS-Regular"/>
                <a:ea typeface=".SFNS-Regular"/>
              </a:rPr>
              <a:t>"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. Group comparison on 149 subjects showed that alpha </a:t>
            </a:r>
            <a:r>
              <a:rPr lang="en-US" sz="1280" b="0" u="none" strike="noStrike">
                <a:solidFill>
                  <a:srgbClr val="374151"/>
                </a:solidFill>
                <a:effectLst/>
                <a:uFillTx/>
                <a:latin typeface=".SFNS-Regular_wdth_opsz_GRAD_wght1F40000"/>
                <a:ea typeface=".SFNS-Regular_wdth_opsz_GRAD_wght1F40000"/>
              </a:rPr>
              <a:t> power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 is </a:t>
            </a: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essentially unchanged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3066840" y="3609720"/>
            <a:ext cx="1305360" cy="190800"/>
          </a:xfrm>
          <a:custGeom>
            <a:avLst/>
            <a:gdLst/>
            <a:ahLst/>
            <a:rect l="0" t="0" r="r" b="b"/>
            <a:pathLst>
              <a:path w="3626" h="530">
                <a:moveTo>
                  <a:pt x="0" y="477"/>
                </a:move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2"/>
                  <a:pt x="46" y="0"/>
                  <a:pt x="53" y="0"/>
                </a:cubicBezTo>
                <a:lnTo>
                  <a:pt x="3573" y="0"/>
                </a:lnTo>
                <a:cubicBezTo>
                  <a:pt x="3580" y="0"/>
                  <a:pt x="3587" y="2"/>
                  <a:pt x="3593" y="4"/>
                </a:cubicBezTo>
                <a:cubicBezTo>
                  <a:pt x="3600" y="7"/>
                  <a:pt x="3605" y="11"/>
                  <a:pt x="3610" y="16"/>
                </a:cubicBezTo>
                <a:cubicBezTo>
                  <a:pt x="3615" y="21"/>
                  <a:pt x="3619" y="26"/>
                  <a:pt x="3622" y="33"/>
                </a:cubicBezTo>
                <a:cubicBezTo>
                  <a:pt x="3625" y="39"/>
                  <a:pt x="3626" y="46"/>
                  <a:pt x="3626" y="53"/>
                </a:cubicBezTo>
                <a:lnTo>
                  <a:pt x="3626" y="477"/>
                </a:lnTo>
                <a:cubicBezTo>
                  <a:pt x="3626" y="484"/>
                  <a:pt x="3625" y="491"/>
                  <a:pt x="3622" y="498"/>
                </a:cubicBezTo>
                <a:cubicBezTo>
                  <a:pt x="3619" y="504"/>
                  <a:pt x="3615" y="510"/>
                  <a:pt x="3610" y="515"/>
                </a:cubicBezTo>
                <a:cubicBezTo>
                  <a:pt x="3605" y="520"/>
                  <a:pt x="3600" y="524"/>
                  <a:pt x="3593" y="526"/>
                </a:cubicBezTo>
                <a:cubicBezTo>
                  <a:pt x="3587" y="529"/>
                  <a:pt x="3580" y="530"/>
                  <a:pt x="3573" y="530"/>
                </a:cubicBezTo>
                <a:lnTo>
                  <a:pt x="53" y="530"/>
                </a:lnTo>
                <a:cubicBezTo>
                  <a:pt x="46" y="530"/>
                  <a:pt x="39" y="529"/>
                  <a:pt x="33" y="526"/>
                </a:cubicBezTo>
                <a:cubicBezTo>
                  <a:pt x="26" y="524"/>
                  <a:pt x="21" y="520"/>
                  <a:pt x="16" y="515"/>
                </a:cubicBezTo>
                <a:cubicBezTo>
                  <a:pt x="11" y="510"/>
                  <a:pt x="7" y="504"/>
                  <a:pt x="4" y="498"/>
                </a:cubicBezTo>
                <a:cubicBezTo>
                  <a:pt x="1" y="491"/>
                  <a:pt x="0" y="484"/>
                  <a:pt x="0" y="477"/>
                </a:cubicBezTo>
                <a:close/>
              </a:path>
            </a:pathLst>
          </a:custGeom>
          <a:solidFill>
            <a:srgbClr val="FEF0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85800" y="3589200"/>
            <a:ext cx="8263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between groups, while the alpha </a:t>
            </a:r>
            <a:r>
              <a:rPr lang="en-US" sz="1280" b="1" u="none" strike="noStrike">
                <a:solidFill>
                  <a:srgbClr val="713F12"/>
                </a:solidFill>
                <a:effectLst/>
                <a:uFillTx/>
                <a:latin typeface=".SFNS"/>
                <a:ea typeface=".SFNS"/>
              </a:rPr>
              <a:t> peak frequency</a:t>
            </a: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 drops by ~1 Hz in PD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(median 9.25 → 8.00 Hz, p &lt; 0.001).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3190680" y="3867120"/>
            <a:ext cx="476640" cy="190800"/>
          </a:xfrm>
          <a:custGeom>
            <a:avLst/>
            <a:gdLst/>
            <a:ahLst/>
            <a:rect l="0" t="0" r="r" b="b"/>
            <a:pathLst>
              <a:path w="1324" h="530">
                <a:moveTo>
                  <a:pt x="0" y="477"/>
                </a:moveTo>
                <a:lnTo>
                  <a:pt x="0" y="52"/>
                </a:lnTo>
                <a:cubicBezTo>
                  <a:pt x="0" y="45"/>
                  <a:pt x="1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1271" y="0"/>
                </a:lnTo>
                <a:cubicBezTo>
                  <a:pt x="1278" y="0"/>
                  <a:pt x="1285" y="1"/>
                  <a:pt x="1291" y="4"/>
                </a:cubicBezTo>
                <a:cubicBezTo>
                  <a:pt x="1298" y="6"/>
                  <a:pt x="1303" y="10"/>
                  <a:pt x="1308" y="15"/>
                </a:cubicBezTo>
                <a:cubicBezTo>
                  <a:pt x="1313" y="20"/>
                  <a:pt x="1317" y="26"/>
                  <a:pt x="1320" y="32"/>
                </a:cubicBezTo>
                <a:cubicBezTo>
                  <a:pt x="1323" y="39"/>
                  <a:pt x="1324" y="45"/>
                  <a:pt x="1324" y="52"/>
                </a:cubicBezTo>
                <a:lnTo>
                  <a:pt x="1324" y="477"/>
                </a:lnTo>
                <a:cubicBezTo>
                  <a:pt x="1324" y="484"/>
                  <a:pt x="1323" y="491"/>
                  <a:pt x="1320" y="497"/>
                </a:cubicBezTo>
                <a:cubicBezTo>
                  <a:pt x="1317" y="504"/>
                  <a:pt x="1313" y="509"/>
                  <a:pt x="1308" y="514"/>
                </a:cubicBezTo>
                <a:cubicBezTo>
                  <a:pt x="1303" y="519"/>
                  <a:pt x="1298" y="523"/>
                  <a:pt x="1291" y="526"/>
                </a:cubicBezTo>
                <a:cubicBezTo>
                  <a:pt x="1285" y="528"/>
                  <a:pt x="1278" y="530"/>
                  <a:pt x="1271" y="530"/>
                </a:cubicBezTo>
                <a:lnTo>
                  <a:pt x="53" y="530"/>
                </a:lnTo>
                <a:cubicBezTo>
                  <a:pt x="46" y="530"/>
                  <a:pt x="39" y="528"/>
                  <a:pt x="33" y="526"/>
                </a:cubicBezTo>
                <a:cubicBezTo>
                  <a:pt x="26" y="523"/>
                  <a:pt x="21" y="519"/>
                  <a:pt x="16" y="514"/>
                </a:cubicBezTo>
                <a:cubicBezTo>
                  <a:pt x="11" y="509"/>
                  <a:pt x="7" y="504"/>
                  <a:pt x="4" y="497"/>
                </a:cubicBezTo>
                <a:cubicBezTo>
                  <a:pt x="1" y="491"/>
                  <a:pt x="0" y="484"/>
                  <a:pt x="0" y="477"/>
                </a:cubicBezTo>
                <a:close/>
              </a:path>
            </a:pathLst>
          </a:custGeom>
          <a:solidFill>
            <a:srgbClr val="FEF0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" name=""/>
          <p:cNvPicPr/>
          <p:nvPr/>
        </p:nvPicPr>
        <p:blipFill>
          <a:blip r:embed="rId1"/>
          <a:stretch/>
        </p:blipFill>
        <p:spPr>
          <a:xfrm>
            <a:off x="2809800" y="4162320"/>
            <a:ext cx="6571800" cy="219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"/>
          <p:cNvSpPr txBox="1"/>
          <p:nvPr/>
        </p:nvSpPr>
        <p:spPr>
          <a:xfrm>
            <a:off x="685800" y="3846600"/>
            <a:ext cx="64101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The wording was refined to </a:t>
            </a:r>
            <a:r>
              <a:rPr lang="en-US" sz="1280" b="0" i="1" u="none" strike="noStrike">
                <a:solidFill>
                  <a:srgbClr val="1F2937"/>
                </a:solidFill>
                <a:effectLst/>
                <a:uFillTx/>
                <a:latin typeface=".SFNS-Regular"/>
                <a:ea typeface=".SFNS-Regular"/>
              </a:rPr>
              <a:t>"alpha </a:t>
            </a:r>
            <a:r>
              <a:rPr lang="en-US" sz="1280" b="1" i="1" u="none" strike="noStrike">
                <a:solidFill>
                  <a:srgbClr val="713F12"/>
                </a:solidFill>
                <a:effectLst/>
                <a:uFillTx/>
                <a:latin typeface=".SFNS"/>
                <a:ea typeface=".SFNS"/>
              </a:rPr>
              <a:t> peak</a:t>
            </a:r>
            <a:r>
              <a:rPr lang="en-US" sz="1280" b="0" i="1" u="none" strike="noStrike">
                <a:solidFill>
                  <a:srgbClr val="1F2937"/>
                </a:solidFill>
                <a:effectLst/>
                <a:uFillTx/>
                <a:latin typeface=".SFNS-Regular"/>
                <a:ea typeface=".SFNS-Regular"/>
              </a:rPr>
              <a:t>  slowing" 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to reflect the actual change in the data.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85840" y="6488280"/>
            <a:ext cx="53848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.SFNS"/>
                <a:ea typeface=".SFNS"/>
              </a:rPr>
              <a:t>PD vs Control box plots on per-subject features (n = 49 Control, 100 PD). Mann-Whitney U test, two-sided.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1837160" y="6488280"/>
            <a:ext cx="1137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.SFNS"/>
                <a:ea typeface=".SFN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9629640" y="1225440"/>
            <a:ext cx="507240" cy="21024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9629640" y="1225440"/>
            <a:ext cx="717120" cy="71748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9629640" y="1225440"/>
            <a:ext cx="507240" cy="122508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9629640" y="1225440"/>
            <a:ext cx="0" cy="143460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 flipH="1">
            <a:off x="9122760" y="1225440"/>
            <a:ext cx="507240" cy="122508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 flipH="1">
            <a:off x="8912880" y="1225440"/>
            <a:ext cx="717120" cy="71748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 flipH="1">
            <a:off x="9122760" y="1225440"/>
            <a:ext cx="507240" cy="21024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0136520" y="1435320"/>
            <a:ext cx="210240" cy="50760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0136520" y="1435320"/>
            <a:ext cx="0" cy="101484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 flipH="1">
            <a:off x="9629640" y="1435320"/>
            <a:ext cx="507240" cy="122508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9122760" y="1435320"/>
            <a:ext cx="1014120" cy="101520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8912880" y="1435320"/>
            <a:ext cx="1224000" cy="50760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9122760" y="1435320"/>
            <a:ext cx="1013760" cy="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10136520" y="1942560"/>
            <a:ext cx="210240" cy="50796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 flipH="1">
            <a:off x="9629640" y="1942560"/>
            <a:ext cx="717120" cy="71784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 flipH="1">
            <a:off x="9122760" y="1942560"/>
            <a:ext cx="1224000" cy="50796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8912880" y="1942560"/>
            <a:ext cx="1433520" cy="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 flipH="1" flipV="1">
            <a:off x="9122760" y="1435320"/>
            <a:ext cx="1224000" cy="50760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 flipH="1">
            <a:off x="9629640" y="2450160"/>
            <a:ext cx="507240" cy="21024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 flipH="1">
            <a:off x="9122760" y="2450160"/>
            <a:ext cx="1013760" cy="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 flipH="1" flipV="1">
            <a:off x="8912880" y="1942560"/>
            <a:ext cx="1224000" cy="50796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 flipH="1" flipV="1">
            <a:off x="9122760" y="1435320"/>
            <a:ext cx="1014120" cy="101520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 flipH="1" flipV="1">
            <a:off x="9122760" y="2450160"/>
            <a:ext cx="507240" cy="21024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 flipH="1" flipV="1">
            <a:off x="8912880" y="1942560"/>
            <a:ext cx="717120" cy="71784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 flipH="1" flipV="1">
            <a:off x="9122760" y="1435320"/>
            <a:ext cx="507240" cy="122508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 flipH="1" flipV="1">
            <a:off x="8912880" y="1942560"/>
            <a:ext cx="210240" cy="50796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 flipV="1">
            <a:off x="9122760" y="1435320"/>
            <a:ext cx="0" cy="101484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 flipV="1">
            <a:off x="8912880" y="1435320"/>
            <a:ext cx="210240" cy="507600"/>
          </a:xfrm>
          <a:prstGeom prst="line">
            <a:avLst/>
          </a:prstGeom>
          <a:ln w="7920">
            <a:solidFill>
              <a:srgbClr val="CBD5E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9516960" y="1112400"/>
            <a:ext cx="225720" cy="226080"/>
          </a:xfrm>
          <a:custGeom>
            <a:avLst/>
            <a:gdLst/>
            <a:ahLst/>
            <a:rect l="0" t="0" r="r" b="b"/>
            <a:pathLst>
              <a:path w="627" h="628">
                <a:moveTo>
                  <a:pt x="627" y="314"/>
                </a:moveTo>
                <a:cubicBezTo>
                  <a:pt x="627" y="334"/>
                  <a:pt x="625" y="356"/>
                  <a:pt x="621" y="376"/>
                </a:cubicBezTo>
                <a:cubicBezTo>
                  <a:pt x="617" y="396"/>
                  <a:pt x="611" y="415"/>
                  <a:pt x="603" y="434"/>
                </a:cubicBezTo>
                <a:cubicBezTo>
                  <a:pt x="595" y="453"/>
                  <a:pt x="585" y="472"/>
                  <a:pt x="574" y="489"/>
                </a:cubicBezTo>
                <a:cubicBezTo>
                  <a:pt x="563" y="506"/>
                  <a:pt x="550" y="522"/>
                  <a:pt x="535" y="536"/>
                </a:cubicBezTo>
                <a:cubicBezTo>
                  <a:pt x="521" y="551"/>
                  <a:pt x="505" y="564"/>
                  <a:pt x="488" y="575"/>
                </a:cubicBezTo>
                <a:cubicBezTo>
                  <a:pt x="471" y="586"/>
                  <a:pt x="453" y="596"/>
                  <a:pt x="434" y="604"/>
                </a:cubicBezTo>
                <a:cubicBezTo>
                  <a:pt x="415" y="612"/>
                  <a:pt x="395" y="618"/>
                  <a:pt x="375" y="622"/>
                </a:cubicBezTo>
                <a:cubicBezTo>
                  <a:pt x="355" y="626"/>
                  <a:pt x="334" y="628"/>
                  <a:pt x="314" y="628"/>
                </a:cubicBezTo>
                <a:cubicBezTo>
                  <a:pt x="293" y="628"/>
                  <a:pt x="273" y="626"/>
                  <a:pt x="253" y="622"/>
                </a:cubicBezTo>
                <a:cubicBezTo>
                  <a:pt x="233" y="618"/>
                  <a:pt x="213" y="612"/>
                  <a:pt x="194" y="604"/>
                </a:cubicBezTo>
                <a:cubicBezTo>
                  <a:pt x="175" y="596"/>
                  <a:pt x="157" y="586"/>
                  <a:pt x="140" y="575"/>
                </a:cubicBezTo>
                <a:cubicBezTo>
                  <a:pt x="122" y="564"/>
                  <a:pt x="106" y="551"/>
                  <a:pt x="92" y="536"/>
                </a:cubicBezTo>
                <a:cubicBezTo>
                  <a:pt x="77" y="522"/>
                  <a:pt x="64" y="506"/>
                  <a:pt x="53" y="489"/>
                </a:cubicBezTo>
                <a:cubicBezTo>
                  <a:pt x="41" y="472"/>
                  <a:pt x="32" y="453"/>
                  <a:pt x="24" y="434"/>
                </a:cubicBezTo>
                <a:cubicBezTo>
                  <a:pt x="16" y="415"/>
                  <a:pt x="10" y="396"/>
                  <a:pt x="6" y="376"/>
                </a:cubicBezTo>
                <a:cubicBezTo>
                  <a:pt x="2" y="356"/>
                  <a:pt x="0" y="334"/>
                  <a:pt x="0" y="314"/>
                </a:cubicBezTo>
                <a:cubicBezTo>
                  <a:pt x="0" y="293"/>
                  <a:pt x="2" y="273"/>
                  <a:pt x="6" y="253"/>
                </a:cubicBezTo>
                <a:cubicBezTo>
                  <a:pt x="10" y="232"/>
                  <a:pt x="16" y="213"/>
                  <a:pt x="24" y="194"/>
                </a:cubicBezTo>
                <a:cubicBezTo>
                  <a:pt x="32" y="175"/>
                  <a:pt x="41" y="157"/>
                  <a:pt x="53" y="140"/>
                </a:cubicBezTo>
                <a:cubicBezTo>
                  <a:pt x="64" y="123"/>
                  <a:pt x="77" y="107"/>
                  <a:pt x="92" y="92"/>
                </a:cubicBezTo>
                <a:cubicBezTo>
                  <a:pt x="106" y="78"/>
                  <a:pt x="122" y="65"/>
                  <a:pt x="140" y="53"/>
                </a:cubicBezTo>
                <a:cubicBezTo>
                  <a:pt x="157" y="42"/>
                  <a:pt x="175" y="32"/>
                  <a:pt x="194" y="24"/>
                </a:cubicBezTo>
                <a:cubicBezTo>
                  <a:pt x="213" y="16"/>
                  <a:pt x="233" y="10"/>
                  <a:pt x="253" y="6"/>
                </a:cubicBezTo>
                <a:cubicBezTo>
                  <a:pt x="273" y="2"/>
                  <a:pt x="293" y="0"/>
                  <a:pt x="314" y="0"/>
                </a:cubicBezTo>
                <a:cubicBezTo>
                  <a:pt x="334" y="0"/>
                  <a:pt x="355" y="2"/>
                  <a:pt x="375" y="6"/>
                </a:cubicBezTo>
                <a:cubicBezTo>
                  <a:pt x="395" y="10"/>
                  <a:pt x="415" y="16"/>
                  <a:pt x="434" y="24"/>
                </a:cubicBezTo>
                <a:cubicBezTo>
                  <a:pt x="453" y="32"/>
                  <a:pt x="471" y="42"/>
                  <a:pt x="488" y="53"/>
                </a:cubicBezTo>
                <a:cubicBezTo>
                  <a:pt x="505" y="65"/>
                  <a:pt x="521" y="78"/>
                  <a:pt x="535" y="92"/>
                </a:cubicBezTo>
                <a:cubicBezTo>
                  <a:pt x="550" y="107"/>
                  <a:pt x="563" y="123"/>
                  <a:pt x="574" y="140"/>
                </a:cubicBezTo>
                <a:cubicBezTo>
                  <a:pt x="585" y="157"/>
                  <a:pt x="595" y="175"/>
                  <a:pt x="603" y="194"/>
                </a:cubicBezTo>
                <a:cubicBezTo>
                  <a:pt x="611" y="213"/>
                  <a:pt x="617" y="232"/>
                  <a:pt x="621" y="253"/>
                </a:cubicBezTo>
                <a:cubicBezTo>
                  <a:pt x="625" y="273"/>
                  <a:pt x="627" y="293"/>
                  <a:pt x="627" y="314"/>
                </a:cubicBez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0023840" y="1322640"/>
            <a:ext cx="225720" cy="225720"/>
          </a:xfrm>
          <a:custGeom>
            <a:avLst/>
            <a:gdLst/>
            <a:ahLst/>
            <a:rect l="0" t="0" r="r" b="b"/>
            <a:pathLst>
              <a:path w="627" h="627">
                <a:moveTo>
                  <a:pt x="627" y="313"/>
                </a:moveTo>
                <a:cubicBezTo>
                  <a:pt x="627" y="334"/>
                  <a:pt x="625" y="354"/>
                  <a:pt x="621" y="374"/>
                </a:cubicBezTo>
                <a:cubicBezTo>
                  <a:pt x="617" y="395"/>
                  <a:pt x="611" y="415"/>
                  <a:pt x="603" y="434"/>
                </a:cubicBezTo>
                <a:cubicBezTo>
                  <a:pt x="595" y="453"/>
                  <a:pt x="584" y="471"/>
                  <a:pt x="573" y="488"/>
                </a:cubicBezTo>
                <a:cubicBezTo>
                  <a:pt x="562" y="505"/>
                  <a:pt x="549" y="521"/>
                  <a:pt x="534" y="536"/>
                </a:cubicBezTo>
                <a:cubicBezTo>
                  <a:pt x="519" y="550"/>
                  <a:pt x="504" y="563"/>
                  <a:pt x="487" y="575"/>
                </a:cubicBezTo>
                <a:cubicBezTo>
                  <a:pt x="470" y="586"/>
                  <a:pt x="451" y="596"/>
                  <a:pt x="433" y="604"/>
                </a:cubicBezTo>
                <a:cubicBezTo>
                  <a:pt x="414" y="611"/>
                  <a:pt x="394" y="617"/>
                  <a:pt x="374" y="621"/>
                </a:cubicBezTo>
                <a:cubicBezTo>
                  <a:pt x="354" y="625"/>
                  <a:pt x="333" y="627"/>
                  <a:pt x="313" y="627"/>
                </a:cubicBezTo>
                <a:cubicBezTo>
                  <a:pt x="292" y="627"/>
                  <a:pt x="272" y="625"/>
                  <a:pt x="252" y="621"/>
                </a:cubicBezTo>
                <a:cubicBezTo>
                  <a:pt x="232" y="617"/>
                  <a:pt x="212" y="611"/>
                  <a:pt x="193" y="604"/>
                </a:cubicBezTo>
                <a:cubicBezTo>
                  <a:pt x="174" y="596"/>
                  <a:pt x="156" y="586"/>
                  <a:pt x="139" y="575"/>
                </a:cubicBezTo>
                <a:cubicBezTo>
                  <a:pt x="122" y="563"/>
                  <a:pt x="106" y="550"/>
                  <a:pt x="92" y="536"/>
                </a:cubicBezTo>
                <a:cubicBezTo>
                  <a:pt x="77" y="521"/>
                  <a:pt x="64" y="505"/>
                  <a:pt x="53" y="488"/>
                </a:cubicBezTo>
                <a:cubicBezTo>
                  <a:pt x="41" y="471"/>
                  <a:pt x="32" y="453"/>
                  <a:pt x="24" y="434"/>
                </a:cubicBezTo>
                <a:cubicBezTo>
                  <a:pt x="16" y="415"/>
                  <a:pt x="10" y="395"/>
                  <a:pt x="6" y="374"/>
                </a:cubicBezTo>
                <a:cubicBezTo>
                  <a:pt x="2" y="354"/>
                  <a:pt x="0" y="334"/>
                  <a:pt x="0" y="313"/>
                </a:cubicBezTo>
                <a:cubicBezTo>
                  <a:pt x="0" y="293"/>
                  <a:pt x="2" y="272"/>
                  <a:pt x="6" y="252"/>
                </a:cubicBezTo>
                <a:cubicBezTo>
                  <a:pt x="10" y="232"/>
                  <a:pt x="16" y="212"/>
                  <a:pt x="24" y="193"/>
                </a:cubicBezTo>
                <a:cubicBezTo>
                  <a:pt x="32" y="174"/>
                  <a:pt x="41" y="156"/>
                  <a:pt x="53" y="139"/>
                </a:cubicBezTo>
                <a:cubicBezTo>
                  <a:pt x="64" y="122"/>
                  <a:pt x="77" y="106"/>
                  <a:pt x="92" y="92"/>
                </a:cubicBezTo>
                <a:cubicBezTo>
                  <a:pt x="106" y="77"/>
                  <a:pt x="122" y="64"/>
                  <a:pt x="139" y="53"/>
                </a:cubicBezTo>
                <a:cubicBezTo>
                  <a:pt x="156" y="41"/>
                  <a:pt x="174" y="32"/>
                  <a:pt x="193" y="24"/>
                </a:cubicBezTo>
                <a:cubicBezTo>
                  <a:pt x="212" y="16"/>
                  <a:pt x="232" y="10"/>
                  <a:pt x="252" y="6"/>
                </a:cubicBezTo>
                <a:cubicBezTo>
                  <a:pt x="272" y="2"/>
                  <a:pt x="292" y="0"/>
                  <a:pt x="313" y="0"/>
                </a:cubicBezTo>
                <a:cubicBezTo>
                  <a:pt x="333" y="0"/>
                  <a:pt x="354" y="2"/>
                  <a:pt x="374" y="6"/>
                </a:cubicBezTo>
                <a:cubicBezTo>
                  <a:pt x="394" y="10"/>
                  <a:pt x="414" y="16"/>
                  <a:pt x="433" y="24"/>
                </a:cubicBezTo>
                <a:cubicBezTo>
                  <a:pt x="451" y="32"/>
                  <a:pt x="470" y="41"/>
                  <a:pt x="487" y="53"/>
                </a:cubicBezTo>
                <a:cubicBezTo>
                  <a:pt x="504" y="64"/>
                  <a:pt x="519" y="77"/>
                  <a:pt x="534" y="92"/>
                </a:cubicBezTo>
                <a:cubicBezTo>
                  <a:pt x="549" y="106"/>
                  <a:pt x="562" y="122"/>
                  <a:pt x="573" y="139"/>
                </a:cubicBezTo>
                <a:cubicBezTo>
                  <a:pt x="584" y="156"/>
                  <a:pt x="595" y="174"/>
                  <a:pt x="603" y="193"/>
                </a:cubicBezTo>
                <a:cubicBezTo>
                  <a:pt x="611" y="212"/>
                  <a:pt x="617" y="232"/>
                  <a:pt x="621" y="252"/>
                </a:cubicBezTo>
                <a:cubicBezTo>
                  <a:pt x="625" y="272"/>
                  <a:pt x="627" y="293"/>
                  <a:pt x="627" y="313"/>
                </a:cubicBez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10233720" y="1829880"/>
            <a:ext cx="225720" cy="226080"/>
          </a:xfrm>
          <a:custGeom>
            <a:avLst/>
            <a:gdLst/>
            <a:ahLst/>
            <a:rect l="0" t="0" r="r" b="b"/>
            <a:pathLst>
              <a:path w="627" h="628">
                <a:moveTo>
                  <a:pt x="627" y="314"/>
                </a:moveTo>
                <a:cubicBezTo>
                  <a:pt x="627" y="335"/>
                  <a:pt x="625" y="355"/>
                  <a:pt x="621" y="376"/>
                </a:cubicBezTo>
                <a:cubicBezTo>
                  <a:pt x="617" y="396"/>
                  <a:pt x="611" y="415"/>
                  <a:pt x="603" y="434"/>
                </a:cubicBezTo>
                <a:cubicBezTo>
                  <a:pt x="595" y="453"/>
                  <a:pt x="585" y="471"/>
                  <a:pt x="574" y="488"/>
                </a:cubicBezTo>
                <a:cubicBezTo>
                  <a:pt x="563" y="506"/>
                  <a:pt x="550" y="521"/>
                  <a:pt x="535" y="536"/>
                </a:cubicBezTo>
                <a:cubicBezTo>
                  <a:pt x="521" y="550"/>
                  <a:pt x="505" y="563"/>
                  <a:pt x="488" y="575"/>
                </a:cubicBezTo>
                <a:cubicBezTo>
                  <a:pt x="471" y="586"/>
                  <a:pt x="453" y="596"/>
                  <a:pt x="434" y="604"/>
                </a:cubicBezTo>
                <a:cubicBezTo>
                  <a:pt x="415" y="612"/>
                  <a:pt x="395" y="618"/>
                  <a:pt x="375" y="622"/>
                </a:cubicBezTo>
                <a:cubicBezTo>
                  <a:pt x="355" y="626"/>
                  <a:pt x="334" y="628"/>
                  <a:pt x="314" y="628"/>
                </a:cubicBezTo>
                <a:cubicBezTo>
                  <a:pt x="293" y="628"/>
                  <a:pt x="273" y="626"/>
                  <a:pt x="253" y="622"/>
                </a:cubicBezTo>
                <a:cubicBezTo>
                  <a:pt x="233" y="618"/>
                  <a:pt x="213" y="612"/>
                  <a:pt x="194" y="604"/>
                </a:cubicBezTo>
                <a:cubicBezTo>
                  <a:pt x="175" y="596"/>
                  <a:pt x="157" y="586"/>
                  <a:pt x="140" y="575"/>
                </a:cubicBezTo>
                <a:cubicBezTo>
                  <a:pt x="123" y="563"/>
                  <a:pt x="107" y="550"/>
                  <a:pt x="93" y="536"/>
                </a:cubicBezTo>
                <a:cubicBezTo>
                  <a:pt x="78" y="521"/>
                  <a:pt x="65" y="506"/>
                  <a:pt x="54" y="488"/>
                </a:cubicBezTo>
                <a:cubicBezTo>
                  <a:pt x="42" y="471"/>
                  <a:pt x="33" y="453"/>
                  <a:pt x="25" y="434"/>
                </a:cubicBezTo>
                <a:cubicBezTo>
                  <a:pt x="17" y="415"/>
                  <a:pt x="10" y="396"/>
                  <a:pt x="6" y="376"/>
                </a:cubicBezTo>
                <a:cubicBezTo>
                  <a:pt x="2" y="355"/>
                  <a:pt x="0" y="335"/>
                  <a:pt x="0" y="314"/>
                </a:cubicBezTo>
                <a:cubicBezTo>
                  <a:pt x="0" y="294"/>
                  <a:pt x="2" y="274"/>
                  <a:pt x="6" y="253"/>
                </a:cubicBezTo>
                <a:cubicBezTo>
                  <a:pt x="10" y="232"/>
                  <a:pt x="17" y="213"/>
                  <a:pt x="25" y="194"/>
                </a:cubicBezTo>
                <a:cubicBezTo>
                  <a:pt x="33" y="175"/>
                  <a:pt x="42" y="157"/>
                  <a:pt x="54" y="139"/>
                </a:cubicBezTo>
                <a:cubicBezTo>
                  <a:pt x="65" y="122"/>
                  <a:pt x="78" y="107"/>
                  <a:pt x="93" y="92"/>
                </a:cubicBezTo>
                <a:cubicBezTo>
                  <a:pt x="107" y="77"/>
                  <a:pt x="123" y="65"/>
                  <a:pt x="140" y="53"/>
                </a:cubicBezTo>
                <a:cubicBezTo>
                  <a:pt x="157" y="42"/>
                  <a:pt x="175" y="32"/>
                  <a:pt x="194" y="24"/>
                </a:cubicBezTo>
                <a:cubicBezTo>
                  <a:pt x="213" y="16"/>
                  <a:pt x="233" y="10"/>
                  <a:pt x="253" y="6"/>
                </a:cubicBezTo>
                <a:cubicBezTo>
                  <a:pt x="273" y="2"/>
                  <a:pt x="293" y="0"/>
                  <a:pt x="314" y="0"/>
                </a:cubicBezTo>
                <a:cubicBezTo>
                  <a:pt x="334" y="0"/>
                  <a:pt x="355" y="2"/>
                  <a:pt x="375" y="6"/>
                </a:cubicBezTo>
                <a:cubicBezTo>
                  <a:pt x="395" y="10"/>
                  <a:pt x="415" y="16"/>
                  <a:pt x="434" y="24"/>
                </a:cubicBezTo>
                <a:cubicBezTo>
                  <a:pt x="453" y="32"/>
                  <a:pt x="471" y="42"/>
                  <a:pt x="488" y="53"/>
                </a:cubicBezTo>
                <a:cubicBezTo>
                  <a:pt x="505" y="65"/>
                  <a:pt x="521" y="77"/>
                  <a:pt x="535" y="92"/>
                </a:cubicBezTo>
                <a:cubicBezTo>
                  <a:pt x="550" y="107"/>
                  <a:pt x="563" y="122"/>
                  <a:pt x="574" y="139"/>
                </a:cubicBezTo>
                <a:cubicBezTo>
                  <a:pt x="585" y="157"/>
                  <a:pt x="595" y="175"/>
                  <a:pt x="603" y="194"/>
                </a:cubicBezTo>
                <a:cubicBezTo>
                  <a:pt x="611" y="213"/>
                  <a:pt x="617" y="232"/>
                  <a:pt x="621" y="253"/>
                </a:cubicBezTo>
                <a:cubicBezTo>
                  <a:pt x="625" y="274"/>
                  <a:pt x="627" y="294"/>
                  <a:pt x="627" y="314"/>
                </a:cubicBez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9516960" y="2547360"/>
            <a:ext cx="225720" cy="225720"/>
          </a:xfrm>
          <a:custGeom>
            <a:avLst/>
            <a:gdLst/>
            <a:ahLst/>
            <a:rect l="0" t="0" r="r" b="b"/>
            <a:pathLst>
              <a:path w="627" h="627">
                <a:moveTo>
                  <a:pt x="627" y="314"/>
                </a:moveTo>
                <a:cubicBezTo>
                  <a:pt x="627" y="335"/>
                  <a:pt x="625" y="355"/>
                  <a:pt x="621" y="375"/>
                </a:cubicBezTo>
                <a:cubicBezTo>
                  <a:pt x="617" y="396"/>
                  <a:pt x="611" y="415"/>
                  <a:pt x="603" y="434"/>
                </a:cubicBezTo>
                <a:cubicBezTo>
                  <a:pt x="595" y="453"/>
                  <a:pt x="585" y="471"/>
                  <a:pt x="574" y="488"/>
                </a:cubicBezTo>
                <a:cubicBezTo>
                  <a:pt x="563" y="505"/>
                  <a:pt x="550" y="521"/>
                  <a:pt x="535" y="536"/>
                </a:cubicBezTo>
                <a:cubicBezTo>
                  <a:pt x="521" y="550"/>
                  <a:pt x="505" y="563"/>
                  <a:pt x="488" y="575"/>
                </a:cubicBezTo>
                <a:cubicBezTo>
                  <a:pt x="471" y="586"/>
                  <a:pt x="453" y="596"/>
                  <a:pt x="434" y="604"/>
                </a:cubicBezTo>
                <a:cubicBezTo>
                  <a:pt x="415" y="612"/>
                  <a:pt x="395" y="617"/>
                  <a:pt x="375" y="621"/>
                </a:cubicBezTo>
                <a:cubicBezTo>
                  <a:pt x="355" y="625"/>
                  <a:pt x="334" y="627"/>
                  <a:pt x="314" y="627"/>
                </a:cubicBezTo>
                <a:cubicBezTo>
                  <a:pt x="293" y="627"/>
                  <a:pt x="273" y="625"/>
                  <a:pt x="253" y="621"/>
                </a:cubicBezTo>
                <a:cubicBezTo>
                  <a:pt x="233" y="617"/>
                  <a:pt x="213" y="612"/>
                  <a:pt x="194" y="604"/>
                </a:cubicBezTo>
                <a:cubicBezTo>
                  <a:pt x="175" y="596"/>
                  <a:pt x="157" y="586"/>
                  <a:pt x="140" y="575"/>
                </a:cubicBezTo>
                <a:cubicBezTo>
                  <a:pt x="122" y="563"/>
                  <a:pt x="106" y="550"/>
                  <a:pt x="92" y="536"/>
                </a:cubicBezTo>
                <a:cubicBezTo>
                  <a:pt x="77" y="521"/>
                  <a:pt x="64" y="505"/>
                  <a:pt x="53" y="488"/>
                </a:cubicBezTo>
                <a:cubicBezTo>
                  <a:pt x="41" y="471"/>
                  <a:pt x="32" y="453"/>
                  <a:pt x="24" y="434"/>
                </a:cubicBezTo>
                <a:cubicBezTo>
                  <a:pt x="16" y="415"/>
                  <a:pt x="10" y="396"/>
                  <a:pt x="6" y="375"/>
                </a:cubicBezTo>
                <a:cubicBezTo>
                  <a:pt x="2" y="355"/>
                  <a:pt x="0" y="335"/>
                  <a:pt x="0" y="314"/>
                </a:cubicBezTo>
                <a:cubicBezTo>
                  <a:pt x="0" y="294"/>
                  <a:pt x="2" y="273"/>
                  <a:pt x="6" y="253"/>
                </a:cubicBezTo>
                <a:cubicBezTo>
                  <a:pt x="10" y="233"/>
                  <a:pt x="16" y="213"/>
                  <a:pt x="24" y="194"/>
                </a:cubicBezTo>
                <a:cubicBezTo>
                  <a:pt x="32" y="175"/>
                  <a:pt x="41" y="157"/>
                  <a:pt x="53" y="140"/>
                </a:cubicBezTo>
                <a:cubicBezTo>
                  <a:pt x="64" y="122"/>
                  <a:pt x="77" y="106"/>
                  <a:pt x="92" y="92"/>
                </a:cubicBezTo>
                <a:cubicBezTo>
                  <a:pt x="106" y="77"/>
                  <a:pt x="122" y="64"/>
                  <a:pt x="140" y="53"/>
                </a:cubicBezTo>
                <a:cubicBezTo>
                  <a:pt x="157" y="42"/>
                  <a:pt x="175" y="32"/>
                  <a:pt x="194" y="24"/>
                </a:cubicBezTo>
                <a:cubicBezTo>
                  <a:pt x="213" y="16"/>
                  <a:pt x="233" y="10"/>
                  <a:pt x="253" y="6"/>
                </a:cubicBezTo>
                <a:cubicBezTo>
                  <a:pt x="273" y="2"/>
                  <a:pt x="293" y="0"/>
                  <a:pt x="314" y="0"/>
                </a:cubicBezTo>
                <a:cubicBezTo>
                  <a:pt x="334" y="0"/>
                  <a:pt x="355" y="2"/>
                  <a:pt x="375" y="6"/>
                </a:cubicBezTo>
                <a:cubicBezTo>
                  <a:pt x="395" y="10"/>
                  <a:pt x="415" y="16"/>
                  <a:pt x="434" y="24"/>
                </a:cubicBezTo>
                <a:cubicBezTo>
                  <a:pt x="453" y="32"/>
                  <a:pt x="471" y="42"/>
                  <a:pt x="488" y="53"/>
                </a:cubicBezTo>
                <a:cubicBezTo>
                  <a:pt x="505" y="64"/>
                  <a:pt x="521" y="77"/>
                  <a:pt x="535" y="92"/>
                </a:cubicBezTo>
                <a:cubicBezTo>
                  <a:pt x="550" y="106"/>
                  <a:pt x="563" y="122"/>
                  <a:pt x="574" y="140"/>
                </a:cubicBezTo>
                <a:cubicBezTo>
                  <a:pt x="585" y="157"/>
                  <a:pt x="595" y="175"/>
                  <a:pt x="603" y="194"/>
                </a:cubicBezTo>
                <a:cubicBezTo>
                  <a:pt x="611" y="213"/>
                  <a:pt x="617" y="233"/>
                  <a:pt x="621" y="253"/>
                </a:cubicBezTo>
                <a:cubicBezTo>
                  <a:pt x="625" y="273"/>
                  <a:pt x="627" y="294"/>
                  <a:pt x="627" y="314"/>
                </a:cubicBez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9010080" y="2337480"/>
            <a:ext cx="225720" cy="225720"/>
          </a:xfrm>
          <a:custGeom>
            <a:avLst/>
            <a:gdLst/>
            <a:ahLst/>
            <a:rect l="0" t="0" r="r" b="b"/>
            <a:pathLst>
              <a:path w="627" h="627">
                <a:moveTo>
                  <a:pt x="627" y="314"/>
                </a:moveTo>
                <a:cubicBezTo>
                  <a:pt x="627" y="334"/>
                  <a:pt x="625" y="355"/>
                  <a:pt x="621" y="375"/>
                </a:cubicBezTo>
                <a:cubicBezTo>
                  <a:pt x="617" y="395"/>
                  <a:pt x="611" y="415"/>
                  <a:pt x="603" y="434"/>
                </a:cubicBezTo>
                <a:cubicBezTo>
                  <a:pt x="595" y="453"/>
                  <a:pt x="586" y="471"/>
                  <a:pt x="574" y="488"/>
                </a:cubicBezTo>
                <a:cubicBezTo>
                  <a:pt x="563" y="505"/>
                  <a:pt x="550" y="521"/>
                  <a:pt x="535" y="535"/>
                </a:cubicBezTo>
                <a:cubicBezTo>
                  <a:pt x="521" y="550"/>
                  <a:pt x="505" y="563"/>
                  <a:pt x="488" y="574"/>
                </a:cubicBezTo>
                <a:cubicBezTo>
                  <a:pt x="471" y="586"/>
                  <a:pt x="453" y="595"/>
                  <a:pt x="434" y="603"/>
                </a:cubicBezTo>
                <a:cubicBezTo>
                  <a:pt x="415" y="611"/>
                  <a:pt x="395" y="617"/>
                  <a:pt x="375" y="621"/>
                </a:cubicBezTo>
                <a:cubicBezTo>
                  <a:pt x="355" y="625"/>
                  <a:pt x="335" y="627"/>
                  <a:pt x="314" y="627"/>
                </a:cubicBezTo>
                <a:cubicBezTo>
                  <a:pt x="293" y="627"/>
                  <a:pt x="272" y="625"/>
                  <a:pt x="252" y="621"/>
                </a:cubicBezTo>
                <a:cubicBezTo>
                  <a:pt x="232" y="617"/>
                  <a:pt x="212" y="611"/>
                  <a:pt x="193" y="603"/>
                </a:cubicBezTo>
                <a:cubicBezTo>
                  <a:pt x="174" y="595"/>
                  <a:pt x="156" y="586"/>
                  <a:pt x="139" y="574"/>
                </a:cubicBezTo>
                <a:cubicBezTo>
                  <a:pt x="122" y="563"/>
                  <a:pt x="106" y="550"/>
                  <a:pt x="92" y="535"/>
                </a:cubicBezTo>
                <a:cubicBezTo>
                  <a:pt x="77" y="521"/>
                  <a:pt x="64" y="505"/>
                  <a:pt x="53" y="488"/>
                </a:cubicBezTo>
                <a:cubicBezTo>
                  <a:pt x="41" y="471"/>
                  <a:pt x="32" y="453"/>
                  <a:pt x="24" y="434"/>
                </a:cubicBezTo>
                <a:cubicBezTo>
                  <a:pt x="16" y="415"/>
                  <a:pt x="10" y="395"/>
                  <a:pt x="6" y="375"/>
                </a:cubicBezTo>
                <a:cubicBezTo>
                  <a:pt x="2" y="355"/>
                  <a:pt x="0" y="334"/>
                  <a:pt x="0" y="314"/>
                </a:cubicBezTo>
                <a:cubicBezTo>
                  <a:pt x="0" y="293"/>
                  <a:pt x="2" y="273"/>
                  <a:pt x="6" y="253"/>
                </a:cubicBezTo>
                <a:cubicBezTo>
                  <a:pt x="10" y="232"/>
                  <a:pt x="16" y="213"/>
                  <a:pt x="24" y="194"/>
                </a:cubicBezTo>
                <a:cubicBezTo>
                  <a:pt x="32" y="175"/>
                  <a:pt x="41" y="157"/>
                  <a:pt x="53" y="140"/>
                </a:cubicBezTo>
                <a:cubicBezTo>
                  <a:pt x="64" y="123"/>
                  <a:pt x="77" y="107"/>
                  <a:pt x="92" y="92"/>
                </a:cubicBezTo>
                <a:cubicBezTo>
                  <a:pt x="106" y="77"/>
                  <a:pt x="122" y="64"/>
                  <a:pt x="139" y="52"/>
                </a:cubicBezTo>
                <a:cubicBezTo>
                  <a:pt x="156" y="41"/>
                  <a:pt x="174" y="31"/>
                  <a:pt x="193" y="23"/>
                </a:cubicBezTo>
                <a:cubicBezTo>
                  <a:pt x="212" y="16"/>
                  <a:pt x="232" y="10"/>
                  <a:pt x="252" y="6"/>
                </a:cubicBezTo>
                <a:cubicBezTo>
                  <a:pt x="272" y="2"/>
                  <a:pt x="293" y="0"/>
                  <a:pt x="314" y="0"/>
                </a:cubicBezTo>
                <a:cubicBezTo>
                  <a:pt x="335" y="0"/>
                  <a:pt x="355" y="2"/>
                  <a:pt x="375" y="6"/>
                </a:cubicBezTo>
                <a:cubicBezTo>
                  <a:pt x="395" y="10"/>
                  <a:pt x="415" y="16"/>
                  <a:pt x="434" y="23"/>
                </a:cubicBezTo>
                <a:cubicBezTo>
                  <a:pt x="453" y="31"/>
                  <a:pt x="471" y="41"/>
                  <a:pt x="488" y="52"/>
                </a:cubicBezTo>
                <a:cubicBezTo>
                  <a:pt x="505" y="64"/>
                  <a:pt x="521" y="77"/>
                  <a:pt x="535" y="92"/>
                </a:cubicBezTo>
                <a:cubicBezTo>
                  <a:pt x="550" y="107"/>
                  <a:pt x="563" y="123"/>
                  <a:pt x="574" y="140"/>
                </a:cubicBezTo>
                <a:cubicBezTo>
                  <a:pt x="586" y="157"/>
                  <a:pt x="595" y="175"/>
                  <a:pt x="603" y="194"/>
                </a:cubicBezTo>
                <a:cubicBezTo>
                  <a:pt x="611" y="213"/>
                  <a:pt x="617" y="232"/>
                  <a:pt x="621" y="253"/>
                </a:cubicBezTo>
                <a:cubicBezTo>
                  <a:pt x="625" y="273"/>
                  <a:pt x="627" y="293"/>
                  <a:pt x="627" y="314"/>
                </a:cubicBez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8800200" y="1829880"/>
            <a:ext cx="225720" cy="226080"/>
          </a:xfrm>
          <a:custGeom>
            <a:avLst/>
            <a:gdLst/>
            <a:ahLst/>
            <a:rect l="0" t="0" r="r" b="b"/>
            <a:pathLst>
              <a:path w="627" h="628">
                <a:moveTo>
                  <a:pt x="627" y="314"/>
                </a:moveTo>
                <a:cubicBezTo>
                  <a:pt x="627" y="335"/>
                  <a:pt x="625" y="355"/>
                  <a:pt x="621" y="376"/>
                </a:cubicBezTo>
                <a:cubicBezTo>
                  <a:pt x="617" y="396"/>
                  <a:pt x="611" y="415"/>
                  <a:pt x="603" y="434"/>
                </a:cubicBezTo>
                <a:cubicBezTo>
                  <a:pt x="595" y="453"/>
                  <a:pt x="585" y="471"/>
                  <a:pt x="574" y="488"/>
                </a:cubicBezTo>
                <a:cubicBezTo>
                  <a:pt x="563" y="506"/>
                  <a:pt x="550" y="521"/>
                  <a:pt x="535" y="536"/>
                </a:cubicBezTo>
                <a:cubicBezTo>
                  <a:pt x="521" y="550"/>
                  <a:pt x="505" y="563"/>
                  <a:pt x="488" y="575"/>
                </a:cubicBezTo>
                <a:cubicBezTo>
                  <a:pt x="471" y="586"/>
                  <a:pt x="453" y="596"/>
                  <a:pt x="434" y="604"/>
                </a:cubicBezTo>
                <a:cubicBezTo>
                  <a:pt x="415" y="612"/>
                  <a:pt x="395" y="618"/>
                  <a:pt x="375" y="622"/>
                </a:cubicBezTo>
                <a:cubicBezTo>
                  <a:pt x="355" y="626"/>
                  <a:pt x="334" y="628"/>
                  <a:pt x="314" y="628"/>
                </a:cubicBezTo>
                <a:cubicBezTo>
                  <a:pt x="293" y="628"/>
                  <a:pt x="273" y="626"/>
                  <a:pt x="253" y="622"/>
                </a:cubicBezTo>
                <a:cubicBezTo>
                  <a:pt x="232" y="618"/>
                  <a:pt x="212" y="612"/>
                  <a:pt x="193" y="604"/>
                </a:cubicBezTo>
                <a:cubicBezTo>
                  <a:pt x="174" y="596"/>
                  <a:pt x="156" y="586"/>
                  <a:pt x="139" y="575"/>
                </a:cubicBezTo>
                <a:cubicBezTo>
                  <a:pt x="122" y="563"/>
                  <a:pt x="106" y="550"/>
                  <a:pt x="92" y="536"/>
                </a:cubicBezTo>
                <a:cubicBezTo>
                  <a:pt x="77" y="521"/>
                  <a:pt x="64" y="506"/>
                  <a:pt x="53" y="488"/>
                </a:cubicBezTo>
                <a:cubicBezTo>
                  <a:pt x="41" y="471"/>
                  <a:pt x="32" y="453"/>
                  <a:pt x="24" y="434"/>
                </a:cubicBezTo>
                <a:cubicBezTo>
                  <a:pt x="16" y="415"/>
                  <a:pt x="10" y="396"/>
                  <a:pt x="6" y="376"/>
                </a:cubicBezTo>
                <a:cubicBezTo>
                  <a:pt x="2" y="355"/>
                  <a:pt x="0" y="335"/>
                  <a:pt x="0" y="314"/>
                </a:cubicBezTo>
                <a:cubicBezTo>
                  <a:pt x="0" y="294"/>
                  <a:pt x="2" y="274"/>
                  <a:pt x="6" y="253"/>
                </a:cubicBezTo>
                <a:cubicBezTo>
                  <a:pt x="10" y="232"/>
                  <a:pt x="16" y="213"/>
                  <a:pt x="24" y="194"/>
                </a:cubicBezTo>
                <a:cubicBezTo>
                  <a:pt x="32" y="175"/>
                  <a:pt x="41" y="157"/>
                  <a:pt x="53" y="139"/>
                </a:cubicBezTo>
                <a:cubicBezTo>
                  <a:pt x="64" y="122"/>
                  <a:pt x="77" y="107"/>
                  <a:pt x="92" y="92"/>
                </a:cubicBezTo>
                <a:cubicBezTo>
                  <a:pt x="106" y="77"/>
                  <a:pt x="122" y="65"/>
                  <a:pt x="139" y="53"/>
                </a:cubicBezTo>
                <a:cubicBezTo>
                  <a:pt x="156" y="42"/>
                  <a:pt x="174" y="32"/>
                  <a:pt x="193" y="24"/>
                </a:cubicBezTo>
                <a:cubicBezTo>
                  <a:pt x="212" y="16"/>
                  <a:pt x="232" y="10"/>
                  <a:pt x="253" y="6"/>
                </a:cubicBezTo>
                <a:cubicBezTo>
                  <a:pt x="273" y="2"/>
                  <a:pt x="293" y="0"/>
                  <a:pt x="314" y="0"/>
                </a:cubicBezTo>
                <a:cubicBezTo>
                  <a:pt x="334" y="0"/>
                  <a:pt x="355" y="2"/>
                  <a:pt x="375" y="6"/>
                </a:cubicBezTo>
                <a:cubicBezTo>
                  <a:pt x="395" y="10"/>
                  <a:pt x="415" y="16"/>
                  <a:pt x="434" y="24"/>
                </a:cubicBezTo>
                <a:cubicBezTo>
                  <a:pt x="453" y="32"/>
                  <a:pt x="471" y="42"/>
                  <a:pt x="488" y="53"/>
                </a:cubicBezTo>
                <a:cubicBezTo>
                  <a:pt x="505" y="65"/>
                  <a:pt x="521" y="77"/>
                  <a:pt x="535" y="92"/>
                </a:cubicBezTo>
                <a:cubicBezTo>
                  <a:pt x="550" y="107"/>
                  <a:pt x="563" y="122"/>
                  <a:pt x="574" y="139"/>
                </a:cubicBezTo>
                <a:cubicBezTo>
                  <a:pt x="585" y="157"/>
                  <a:pt x="595" y="175"/>
                  <a:pt x="603" y="194"/>
                </a:cubicBezTo>
                <a:cubicBezTo>
                  <a:pt x="611" y="213"/>
                  <a:pt x="617" y="232"/>
                  <a:pt x="621" y="253"/>
                </a:cubicBezTo>
                <a:cubicBezTo>
                  <a:pt x="625" y="274"/>
                  <a:pt x="627" y="294"/>
                  <a:pt x="627" y="314"/>
                </a:cubicBez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9010080" y="1322640"/>
            <a:ext cx="225720" cy="225720"/>
          </a:xfrm>
          <a:custGeom>
            <a:avLst/>
            <a:gdLst/>
            <a:ahLst/>
            <a:rect l="0" t="0" r="r" b="b"/>
            <a:pathLst>
              <a:path w="627" h="627">
                <a:moveTo>
                  <a:pt x="627" y="313"/>
                </a:moveTo>
                <a:cubicBezTo>
                  <a:pt x="627" y="334"/>
                  <a:pt x="625" y="354"/>
                  <a:pt x="621" y="374"/>
                </a:cubicBezTo>
                <a:cubicBezTo>
                  <a:pt x="617" y="395"/>
                  <a:pt x="611" y="415"/>
                  <a:pt x="603" y="434"/>
                </a:cubicBezTo>
                <a:cubicBezTo>
                  <a:pt x="595" y="453"/>
                  <a:pt x="586" y="471"/>
                  <a:pt x="574" y="488"/>
                </a:cubicBezTo>
                <a:cubicBezTo>
                  <a:pt x="563" y="505"/>
                  <a:pt x="550" y="521"/>
                  <a:pt x="535" y="536"/>
                </a:cubicBezTo>
                <a:cubicBezTo>
                  <a:pt x="521" y="550"/>
                  <a:pt x="505" y="563"/>
                  <a:pt x="488" y="575"/>
                </a:cubicBezTo>
                <a:cubicBezTo>
                  <a:pt x="471" y="586"/>
                  <a:pt x="453" y="596"/>
                  <a:pt x="434" y="604"/>
                </a:cubicBezTo>
                <a:cubicBezTo>
                  <a:pt x="415" y="611"/>
                  <a:pt x="395" y="617"/>
                  <a:pt x="375" y="621"/>
                </a:cubicBezTo>
                <a:cubicBezTo>
                  <a:pt x="355" y="625"/>
                  <a:pt x="335" y="627"/>
                  <a:pt x="314" y="627"/>
                </a:cubicBezTo>
                <a:cubicBezTo>
                  <a:pt x="293" y="627"/>
                  <a:pt x="272" y="625"/>
                  <a:pt x="252" y="621"/>
                </a:cubicBezTo>
                <a:cubicBezTo>
                  <a:pt x="232" y="617"/>
                  <a:pt x="212" y="611"/>
                  <a:pt x="193" y="604"/>
                </a:cubicBezTo>
                <a:cubicBezTo>
                  <a:pt x="174" y="596"/>
                  <a:pt x="156" y="586"/>
                  <a:pt x="139" y="575"/>
                </a:cubicBezTo>
                <a:cubicBezTo>
                  <a:pt x="122" y="563"/>
                  <a:pt x="106" y="550"/>
                  <a:pt x="92" y="536"/>
                </a:cubicBezTo>
                <a:cubicBezTo>
                  <a:pt x="77" y="521"/>
                  <a:pt x="64" y="505"/>
                  <a:pt x="53" y="488"/>
                </a:cubicBezTo>
                <a:cubicBezTo>
                  <a:pt x="41" y="471"/>
                  <a:pt x="32" y="453"/>
                  <a:pt x="24" y="434"/>
                </a:cubicBezTo>
                <a:cubicBezTo>
                  <a:pt x="16" y="415"/>
                  <a:pt x="10" y="395"/>
                  <a:pt x="6" y="374"/>
                </a:cubicBezTo>
                <a:cubicBezTo>
                  <a:pt x="2" y="354"/>
                  <a:pt x="0" y="334"/>
                  <a:pt x="0" y="313"/>
                </a:cubicBezTo>
                <a:cubicBezTo>
                  <a:pt x="0" y="293"/>
                  <a:pt x="2" y="272"/>
                  <a:pt x="6" y="252"/>
                </a:cubicBezTo>
                <a:cubicBezTo>
                  <a:pt x="10" y="232"/>
                  <a:pt x="16" y="212"/>
                  <a:pt x="24" y="193"/>
                </a:cubicBezTo>
                <a:cubicBezTo>
                  <a:pt x="32" y="174"/>
                  <a:pt x="41" y="156"/>
                  <a:pt x="53" y="139"/>
                </a:cubicBezTo>
                <a:cubicBezTo>
                  <a:pt x="64" y="122"/>
                  <a:pt x="77" y="106"/>
                  <a:pt x="92" y="92"/>
                </a:cubicBezTo>
                <a:cubicBezTo>
                  <a:pt x="106" y="77"/>
                  <a:pt x="122" y="64"/>
                  <a:pt x="139" y="53"/>
                </a:cubicBezTo>
                <a:cubicBezTo>
                  <a:pt x="156" y="41"/>
                  <a:pt x="174" y="32"/>
                  <a:pt x="193" y="24"/>
                </a:cubicBezTo>
                <a:cubicBezTo>
                  <a:pt x="212" y="16"/>
                  <a:pt x="232" y="10"/>
                  <a:pt x="252" y="6"/>
                </a:cubicBezTo>
                <a:cubicBezTo>
                  <a:pt x="272" y="2"/>
                  <a:pt x="293" y="0"/>
                  <a:pt x="314" y="0"/>
                </a:cubicBezTo>
                <a:cubicBezTo>
                  <a:pt x="335" y="0"/>
                  <a:pt x="355" y="2"/>
                  <a:pt x="375" y="6"/>
                </a:cubicBezTo>
                <a:cubicBezTo>
                  <a:pt x="395" y="10"/>
                  <a:pt x="415" y="16"/>
                  <a:pt x="434" y="24"/>
                </a:cubicBezTo>
                <a:cubicBezTo>
                  <a:pt x="453" y="32"/>
                  <a:pt x="471" y="41"/>
                  <a:pt x="488" y="53"/>
                </a:cubicBezTo>
                <a:cubicBezTo>
                  <a:pt x="505" y="64"/>
                  <a:pt x="521" y="77"/>
                  <a:pt x="535" y="92"/>
                </a:cubicBezTo>
                <a:cubicBezTo>
                  <a:pt x="550" y="106"/>
                  <a:pt x="563" y="122"/>
                  <a:pt x="574" y="139"/>
                </a:cubicBezTo>
                <a:cubicBezTo>
                  <a:pt x="586" y="156"/>
                  <a:pt x="595" y="174"/>
                  <a:pt x="603" y="193"/>
                </a:cubicBezTo>
                <a:cubicBezTo>
                  <a:pt x="611" y="212"/>
                  <a:pt x="617" y="232"/>
                  <a:pt x="621" y="252"/>
                </a:cubicBezTo>
                <a:cubicBezTo>
                  <a:pt x="625" y="272"/>
                  <a:pt x="627" y="293"/>
                  <a:pt x="627" y="313"/>
                </a:cubicBez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9959760" y="2273400"/>
            <a:ext cx="353520" cy="353880"/>
          </a:xfrm>
          <a:custGeom>
            <a:avLst/>
            <a:gdLst/>
            <a:ahLst/>
            <a:rect l="0" t="0" r="r" b="b"/>
            <a:pathLst>
              <a:path w="982" h="983">
                <a:moveTo>
                  <a:pt x="959" y="642"/>
                </a:moveTo>
                <a:cubicBezTo>
                  <a:pt x="949" y="672"/>
                  <a:pt x="937" y="700"/>
                  <a:pt x="922" y="728"/>
                </a:cubicBezTo>
                <a:lnTo>
                  <a:pt x="860" y="693"/>
                </a:lnTo>
                <a:cubicBezTo>
                  <a:pt x="873" y="670"/>
                  <a:pt x="883" y="646"/>
                  <a:pt x="891" y="620"/>
                </a:cubicBezTo>
                <a:lnTo>
                  <a:pt x="959" y="642"/>
                </a:lnTo>
                <a:moveTo>
                  <a:pt x="889" y="780"/>
                </a:moveTo>
                <a:cubicBezTo>
                  <a:pt x="871" y="805"/>
                  <a:pt x="850" y="829"/>
                  <a:pt x="827" y="850"/>
                </a:cubicBezTo>
                <a:lnTo>
                  <a:pt x="779" y="798"/>
                </a:lnTo>
                <a:cubicBezTo>
                  <a:pt x="798" y="780"/>
                  <a:pt x="816" y="760"/>
                  <a:pt x="831" y="738"/>
                </a:cubicBezTo>
                <a:lnTo>
                  <a:pt x="889" y="780"/>
                </a:lnTo>
                <a:moveTo>
                  <a:pt x="779" y="890"/>
                </a:moveTo>
                <a:cubicBezTo>
                  <a:pt x="754" y="908"/>
                  <a:pt x="727" y="924"/>
                  <a:pt x="699" y="937"/>
                </a:cubicBezTo>
                <a:lnTo>
                  <a:pt x="669" y="872"/>
                </a:lnTo>
                <a:cubicBezTo>
                  <a:pt x="693" y="861"/>
                  <a:pt x="716" y="848"/>
                  <a:pt x="737" y="832"/>
                </a:cubicBezTo>
                <a:lnTo>
                  <a:pt x="779" y="890"/>
                </a:lnTo>
                <a:moveTo>
                  <a:pt x="641" y="959"/>
                </a:moveTo>
                <a:cubicBezTo>
                  <a:pt x="611" y="969"/>
                  <a:pt x="581" y="976"/>
                  <a:pt x="550" y="979"/>
                </a:cubicBezTo>
                <a:lnTo>
                  <a:pt x="542" y="909"/>
                </a:lnTo>
                <a:cubicBezTo>
                  <a:pt x="568" y="905"/>
                  <a:pt x="594" y="900"/>
                  <a:pt x="620" y="892"/>
                </a:cubicBezTo>
                <a:lnTo>
                  <a:pt x="641" y="959"/>
                </a:lnTo>
                <a:moveTo>
                  <a:pt x="491" y="983"/>
                </a:moveTo>
                <a:cubicBezTo>
                  <a:pt x="461" y="983"/>
                  <a:pt x="431" y="980"/>
                  <a:pt x="402" y="974"/>
                </a:cubicBezTo>
                <a:lnTo>
                  <a:pt x="415" y="904"/>
                </a:lnTo>
                <a:cubicBezTo>
                  <a:pt x="440" y="909"/>
                  <a:pt x="465" y="912"/>
                  <a:pt x="491" y="912"/>
                </a:cubicBezTo>
                <a:lnTo>
                  <a:pt x="491" y="983"/>
                </a:lnTo>
                <a:moveTo>
                  <a:pt x="341" y="959"/>
                </a:moveTo>
                <a:cubicBezTo>
                  <a:pt x="311" y="949"/>
                  <a:pt x="282" y="937"/>
                  <a:pt x="254" y="922"/>
                </a:cubicBezTo>
                <a:lnTo>
                  <a:pt x="289" y="860"/>
                </a:lnTo>
                <a:cubicBezTo>
                  <a:pt x="313" y="872"/>
                  <a:pt x="337" y="883"/>
                  <a:pt x="362" y="891"/>
                </a:cubicBezTo>
                <a:lnTo>
                  <a:pt x="341" y="959"/>
                </a:lnTo>
                <a:moveTo>
                  <a:pt x="202" y="889"/>
                </a:moveTo>
                <a:cubicBezTo>
                  <a:pt x="177" y="870"/>
                  <a:pt x="153" y="850"/>
                  <a:pt x="132" y="827"/>
                </a:cubicBezTo>
                <a:lnTo>
                  <a:pt x="184" y="778"/>
                </a:lnTo>
                <a:cubicBezTo>
                  <a:pt x="202" y="798"/>
                  <a:pt x="222" y="815"/>
                  <a:pt x="244" y="831"/>
                </a:cubicBezTo>
                <a:lnTo>
                  <a:pt x="202" y="889"/>
                </a:lnTo>
                <a:moveTo>
                  <a:pt x="92" y="778"/>
                </a:moveTo>
                <a:cubicBezTo>
                  <a:pt x="74" y="753"/>
                  <a:pt x="59" y="727"/>
                  <a:pt x="46" y="699"/>
                </a:cubicBezTo>
                <a:lnTo>
                  <a:pt x="110" y="669"/>
                </a:lnTo>
                <a:cubicBezTo>
                  <a:pt x="121" y="693"/>
                  <a:pt x="135" y="715"/>
                  <a:pt x="150" y="737"/>
                </a:cubicBezTo>
                <a:lnTo>
                  <a:pt x="92" y="778"/>
                </a:lnTo>
                <a:moveTo>
                  <a:pt x="23" y="640"/>
                </a:moveTo>
                <a:cubicBezTo>
                  <a:pt x="14" y="611"/>
                  <a:pt x="7" y="580"/>
                  <a:pt x="4" y="549"/>
                </a:cubicBezTo>
                <a:lnTo>
                  <a:pt x="74" y="541"/>
                </a:lnTo>
                <a:cubicBezTo>
                  <a:pt x="77" y="567"/>
                  <a:pt x="83" y="593"/>
                  <a:pt x="91" y="619"/>
                </a:cubicBezTo>
                <a:lnTo>
                  <a:pt x="23" y="640"/>
                </a:lnTo>
                <a:moveTo>
                  <a:pt x="0" y="490"/>
                </a:moveTo>
                <a:cubicBezTo>
                  <a:pt x="0" y="460"/>
                  <a:pt x="3" y="430"/>
                  <a:pt x="9" y="400"/>
                </a:cubicBezTo>
                <a:lnTo>
                  <a:pt x="79" y="414"/>
                </a:lnTo>
                <a:cubicBezTo>
                  <a:pt x="74" y="439"/>
                  <a:pt x="71" y="465"/>
                  <a:pt x="71" y="490"/>
                </a:cubicBezTo>
                <a:lnTo>
                  <a:pt x="0" y="490"/>
                </a:lnTo>
                <a:moveTo>
                  <a:pt x="24" y="339"/>
                </a:moveTo>
                <a:cubicBezTo>
                  <a:pt x="34" y="310"/>
                  <a:pt x="46" y="281"/>
                  <a:pt x="61" y="254"/>
                </a:cubicBezTo>
                <a:lnTo>
                  <a:pt x="124" y="289"/>
                </a:lnTo>
                <a:cubicBezTo>
                  <a:pt x="111" y="312"/>
                  <a:pt x="100" y="336"/>
                  <a:pt x="92" y="361"/>
                </a:cubicBezTo>
                <a:lnTo>
                  <a:pt x="24" y="339"/>
                </a:lnTo>
                <a:moveTo>
                  <a:pt x="95" y="202"/>
                </a:moveTo>
                <a:cubicBezTo>
                  <a:pt x="113" y="177"/>
                  <a:pt x="134" y="153"/>
                  <a:pt x="157" y="132"/>
                </a:cubicBezTo>
                <a:lnTo>
                  <a:pt x="205" y="184"/>
                </a:lnTo>
                <a:cubicBezTo>
                  <a:pt x="186" y="202"/>
                  <a:pt x="168" y="222"/>
                  <a:pt x="152" y="244"/>
                </a:cubicBezTo>
                <a:lnTo>
                  <a:pt x="95" y="202"/>
                </a:lnTo>
                <a:moveTo>
                  <a:pt x="205" y="92"/>
                </a:moveTo>
                <a:cubicBezTo>
                  <a:pt x="230" y="74"/>
                  <a:pt x="257" y="58"/>
                  <a:pt x="285" y="45"/>
                </a:cubicBezTo>
                <a:lnTo>
                  <a:pt x="316" y="111"/>
                </a:lnTo>
                <a:cubicBezTo>
                  <a:pt x="291" y="122"/>
                  <a:pt x="268" y="135"/>
                  <a:pt x="247" y="150"/>
                </a:cubicBezTo>
                <a:lnTo>
                  <a:pt x="205" y="92"/>
                </a:lnTo>
                <a:moveTo>
                  <a:pt x="344" y="22"/>
                </a:moveTo>
                <a:cubicBezTo>
                  <a:pt x="374" y="13"/>
                  <a:pt x="404" y="6"/>
                  <a:pt x="435" y="3"/>
                </a:cubicBezTo>
                <a:lnTo>
                  <a:pt x="444" y="75"/>
                </a:lnTo>
                <a:cubicBezTo>
                  <a:pt x="417" y="78"/>
                  <a:pt x="391" y="83"/>
                  <a:pt x="366" y="91"/>
                </a:cubicBezTo>
                <a:lnTo>
                  <a:pt x="344" y="22"/>
                </a:lnTo>
                <a:moveTo>
                  <a:pt x="494" y="0"/>
                </a:moveTo>
                <a:cubicBezTo>
                  <a:pt x="524" y="0"/>
                  <a:pt x="554" y="3"/>
                  <a:pt x="584" y="8"/>
                </a:cubicBezTo>
                <a:lnTo>
                  <a:pt x="570" y="79"/>
                </a:lnTo>
                <a:cubicBezTo>
                  <a:pt x="545" y="74"/>
                  <a:pt x="520" y="72"/>
                  <a:pt x="494" y="72"/>
                </a:cubicBezTo>
                <a:lnTo>
                  <a:pt x="494" y="0"/>
                </a:lnTo>
                <a:moveTo>
                  <a:pt x="645" y="24"/>
                </a:moveTo>
                <a:cubicBezTo>
                  <a:pt x="674" y="34"/>
                  <a:pt x="703" y="46"/>
                  <a:pt x="730" y="61"/>
                </a:cubicBezTo>
                <a:lnTo>
                  <a:pt x="695" y="125"/>
                </a:lnTo>
                <a:cubicBezTo>
                  <a:pt x="672" y="112"/>
                  <a:pt x="648" y="101"/>
                  <a:pt x="623" y="93"/>
                </a:cubicBezTo>
                <a:lnTo>
                  <a:pt x="645" y="24"/>
                </a:lnTo>
                <a:moveTo>
                  <a:pt x="782" y="96"/>
                </a:moveTo>
                <a:cubicBezTo>
                  <a:pt x="807" y="114"/>
                  <a:pt x="830" y="135"/>
                  <a:pt x="852" y="158"/>
                </a:cubicBezTo>
                <a:lnTo>
                  <a:pt x="800" y="206"/>
                </a:lnTo>
                <a:cubicBezTo>
                  <a:pt x="781" y="187"/>
                  <a:pt x="761" y="169"/>
                  <a:pt x="740" y="153"/>
                </a:cubicBezTo>
                <a:lnTo>
                  <a:pt x="782" y="96"/>
                </a:lnTo>
                <a:moveTo>
                  <a:pt x="891" y="206"/>
                </a:moveTo>
                <a:cubicBezTo>
                  <a:pt x="909" y="232"/>
                  <a:pt x="925" y="258"/>
                  <a:pt x="937" y="286"/>
                </a:cubicBezTo>
                <a:lnTo>
                  <a:pt x="873" y="316"/>
                </a:lnTo>
                <a:cubicBezTo>
                  <a:pt x="862" y="292"/>
                  <a:pt x="849" y="269"/>
                  <a:pt x="833" y="248"/>
                </a:cubicBezTo>
                <a:lnTo>
                  <a:pt x="891" y="206"/>
                </a:lnTo>
                <a:moveTo>
                  <a:pt x="960" y="345"/>
                </a:moveTo>
                <a:cubicBezTo>
                  <a:pt x="969" y="375"/>
                  <a:pt x="976" y="405"/>
                  <a:pt x="979" y="436"/>
                </a:cubicBezTo>
                <a:lnTo>
                  <a:pt x="909" y="444"/>
                </a:lnTo>
                <a:cubicBezTo>
                  <a:pt x="906" y="418"/>
                  <a:pt x="900" y="392"/>
                  <a:pt x="892" y="366"/>
                </a:cubicBezTo>
                <a:lnTo>
                  <a:pt x="960" y="345"/>
                </a:lnTo>
                <a:moveTo>
                  <a:pt x="982" y="492"/>
                </a:moveTo>
                <a:cubicBezTo>
                  <a:pt x="982" y="522"/>
                  <a:pt x="980" y="552"/>
                  <a:pt x="974" y="581"/>
                </a:cubicBezTo>
                <a:lnTo>
                  <a:pt x="904" y="568"/>
                </a:lnTo>
                <a:cubicBezTo>
                  <a:pt x="909" y="543"/>
                  <a:pt x="911" y="517"/>
                  <a:pt x="911" y="492"/>
                </a:cubicBezTo>
                <a:lnTo>
                  <a:pt x="982" y="492"/>
                </a:ln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10023840" y="2337480"/>
            <a:ext cx="225720" cy="225720"/>
          </a:xfrm>
          <a:custGeom>
            <a:avLst/>
            <a:gdLst/>
            <a:ahLst/>
            <a:rect l="0" t="0" r="r" b="b"/>
            <a:pathLst>
              <a:path w="627" h="627">
                <a:moveTo>
                  <a:pt x="627" y="314"/>
                </a:moveTo>
                <a:cubicBezTo>
                  <a:pt x="627" y="334"/>
                  <a:pt x="625" y="355"/>
                  <a:pt x="621" y="375"/>
                </a:cubicBezTo>
                <a:cubicBezTo>
                  <a:pt x="617" y="395"/>
                  <a:pt x="611" y="415"/>
                  <a:pt x="603" y="434"/>
                </a:cubicBezTo>
                <a:cubicBezTo>
                  <a:pt x="595" y="453"/>
                  <a:pt x="584" y="471"/>
                  <a:pt x="573" y="488"/>
                </a:cubicBezTo>
                <a:cubicBezTo>
                  <a:pt x="562" y="505"/>
                  <a:pt x="549" y="521"/>
                  <a:pt x="534" y="535"/>
                </a:cubicBezTo>
                <a:cubicBezTo>
                  <a:pt x="519" y="550"/>
                  <a:pt x="504" y="563"/>
                  <a:pt x="487" y="574"/>
                </a:cubicBezTo>
                <a:cubicBezTo>
                  <a:pt x="470" y="586"/>
                  <a:pt x="451" y="595"/>
                  <a:pt x="433" y="603"/>
                </a:cubicBezTo>
                <a:cubicBezTo>
                  <a:pt x="414" y="611"/>
                  <a:pt x="394" y="617"/>
                  <a:pt x="374" y="621"/>
                </a:cubicBezTo>
                <a:cubicBezTo>
                  <a:pt x="354" y="625"/>
                  <a:pt x="333" y="627"/>
                  <a:pt x="313" y="627"/>
                </a:cubicBezTo>
                <a:cubicBezTo>
                  <a:pt x="292" y="627"/>
                  <a:pt x="272" y="625"/>
                  <a:pt x="252" y="621"/>
                </a:cubicBezTo>
                <a:cubicBezTo>
                  <a:pt x="232" y="617"/>
                  <a:pt x="212" y="611"/>
                  <a:pt x="193" y="603"/>
                </a:cubicBezTo>
                <a:cubicBezTo>
                  <a:pt x="174" y="595"/>
                  <a:pt x="156" y="586"/>
                  <a:pt x="139" y="574"/>
                </a:cubicBezTo>
                <a:cubicBezTo>
                  <a:pt x="122" y="563"/>
                  <a:pt x="106" y="550"/>
                  <a:pt x="92" y="535"/>
                </a:cubicBezTo>
                <a:cubicBezTo>
                  <a:pt x="77" y="521"/>
                  <a:pt x="64" y="505"/>
                  <a:pt x="53" y="488"/>
                </a:cubicBezTo>
                <a:cubicBezTo>
                  <a:pt x="41" y="471"/>
                  <a:pt x="32" y="453"/>
                  <a:pt x="24" y="434"/>
                </a:cubicBezTo>
                <a:cubicBezTo>
                  <a:pt x="16" y="415"/>
                  <a:pt x="10" y="395"/>
                  <a:pt x="6" y="375"/>
                </a:cubicBezTo>
                <a:cubicBezTo>
                  <a:pt x="2" y="355"/>
                  <a:pt x="0" y="334"/>
                  <a:pt x="0" y="314"/>
                </a:cubicBezTo>
                <a:cubicBezTo>
                  <a:pt x="0" y="293"/>
                  <a:pt x="2" y="273"/>
                  <a:pt x="6" y="253"/>
                </a:cubicBezTo>
                <a:cubicBezTo>
                  <a:pt x="10" y="232"/>
                  <a:pt x="16" y="213"/>
                  <a:pt x="24" y="194"/>
                </a:cubicBezTo>
                <a:cubicBezTo>
                  <a:pt x="32" y="175"/>
                  <a:pt x="41" y="157"/>
                  <a:pt x="53" y="140"/>
                </a:cubicBezTo>
                <a:cubicBezTo>
                  <a:pt x="64" y="123"/>
                  <a:pt x="77" y="107"/>
                  <a:pt x="92" y="92"/>
                </a:cubicBezTo>
                <a:cubicBezTo>
                  <a:pt x="106" y="77"/>
                  <a:pt x="122" y="64"/>
                  <a:pt x="139" y="52"/>
                </a:cubicBezTo>
                <a:cubicBezTo>
                  <a:pt x="156" y="41"/>
                  <a:pt x="174" y="31"/>
                  <a:pt x="193" y="23"/>
                </a:cubicBezTo>
                <a:cubicBezTo>
                  <a:pt x="212" y="16"/>
                  <a:pt x="232" y="10"/>
                  <a:pt x="252" y="6"/>
                </a:cubicBezTo>
                <a:cubicBezTo>
                  <a:pt x="272" y="2"/>
                  <a:pt x="292" y="0"/>
                  <a:pt x="313" y="0"/>
                </a:cubicBezTo>
                <a:cubicBezTo>
                  <a:pt x="333" y="0"/>
                  <a:pt x="354" y="2"/>
                  <a:pt x="374" y="6"/>
                </a:cubicBezTo>
                <a:cubicBezTo>
                  <a:pt x="394" y="10"/>
                  <a:pt x="414" y="16"/>
                  <a:pt x="433" y="23"/>
                </a:cubicBezTo>
                <a:cubicBezTo>
                  <a:pt x="451" y="31"/>
                  <a:pt x="470" y="41"/>
                  <a:pt x="487" y="52"/>
                </a:cubicBezTo>
                <a:cubicBezTo>
                  <a:pt x="504" y="64"/>
                  <a:pt x="519" y="77"/>
                  <a:pt x="534" y="92"/>
                </a:cubicBezTo>
                <a:cubicBezTo>
                  <a:pt x="549" y="107"/>
                  <a:pt x="562" y="123"/>
                  <a:pt x="573" y="140"/>
                </a:cubicBezTo>
                <a:cubicBezTo>
                  <a:pt x="584" y="157"/>
                  <a:pt x="595" y="175"/>
                  <a:pt x="603" y="194"/>
                </a:cubicBezTo>
                <a:cubicBezTo>
                  <a:pt x="611" y="213"/>
                  <a:pt x="617" y="232"/>
                  <a:pt x="621" y="253"/>
                </a:cubicBezTo>
                <a:cubicBezTo>
                  <a:pt x="625" y="273"/>
                  <a:pt x="627" y="293"/>
                  <a:pt x="627" y="314"/>
                </a:cubicBez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0272600" y="2550240"/>
            <a:ext cx="432720" cy="1270080"/>
          </a:xfrm>
          <a:custGeom>
            <a:avLst/>
            <a:gdLst/>
            <a:ahLst/>
            <a:rect l="0" t="0" r="r" b="b"/>
            <a:pathLst>
              <a:path w="1202" h="3528">
                <a:moveTo>
                  <a:pt x="40" y="0"/>
                </a:moveTo>
                <a:lnTo>
                  <a:pt x="76" y="108"/>
                </a:lnTo>
                <a:lnTo>
                  <a:pt x="35" y="121"/>
                </a:lnTo>
                <a:lnTo>
                  <a:pt x="0" y="13"/>
                </a:lnTo>
                <a:lnTo>
                  <a:pt x="40" y="0"/>
                </a:lnTo>
                <a:moveTo>
                  <a:pt x="103" y="189"/>
                </a:moveTo>
                <a:lnTo>
                  <a:pt x="138" y="297"/>
                </a:lnTo>
                <a:lnTo>
                  <a:pt x="98" y="310"/>
                </a:lnTo>
                <a:lnTo>
                  <a:pt x="62" y="202"/>
                </a:lnTo>
                <a:lnTo>
                  <a:pt x="103" y="189"/>
                </a:lnTo>
                <a:moveTo>
                  <a:pt x="165" y="378"/>
                </a:moveTo>
                <a:lnTo>
                  <a:pt x="201" y="486"/>
                </a:lnTo>
                <a:lnTo>
                  <a:pt x="160" y="500"/>
                </a:lnTo>
                <a:lnTo>
                  <a:pt x="125" y="392"/>
                </a:lnTo>
                <a:lnTo>
                  <a:pt x="165" y="378"/>
                </a:lnTo>
                <a:moveTo>
                  <a:pt x="228" y="567"/>
                </a:moveTo>
                <a:lnTo>
                  <a:pt x="263" y="675"/>
                </a:lnTo>
                <a:lnTo>
                  <a:pt x="223" y="689"/>
                </a:lnTo>
                <a:lnTo>
                  <a:pt x="187" y="581"/>
                </a:lnTo>
                <a:lnTo>
                  <a:pt x="228" y="567"/>
                </a:lnTo>
                <a:moveTo>
                  <a:pt x="290" y="757"/>
                </a:moveTo>
                <a:lnTo>
                  <a:pt x="326" y="865"/>
                </a:lnTo>
                <a:lnTo>
                  <a:pt x="285" y="878"/>
                </a:lnTo>
                <a:lnTo>
                  <a:pt x="250" y="770"/>
                </a:lnTo>
                <a:lnTo>
                  <a:pt x="290" y="757"/>
                </a:lnTo>
                <a:moveTo>
                  <a:pt x="353" y="946"/>
                </a:moveTo>
                <a:lnTo>
                  <a:pt x="389" y="1054"/>
                </a:lnTo>
                <a:lnTo>
                  <a:pt x="348" y="1067"/>
                </a:lnTo>
                <a:lnTo>
                  <a:pt x="312" y="959"/>
                </a:lnTo>
                <a:lnTo>
                  <a:pt x="353" y="946"/>
                </a:lnTo>
                <a:moveTo>
                  <a:pt x="415" y="1135"/>
                </a:moveTo>
                <a:lnTo>
                  <a:pt x="451" y="1243"/>
                </a:lnTo>
                <a:lnTo>
                  <a:pt x="411" y="1256"/>
                </a:lnTo>
                <a:lnTo>
                  <a:pt x="375" y="1148"/>
                </a:lnTo>
                <a:lnTo>
                  <a:pt x="415" y="1135"/>
                </a:lnTo>
                <a:moveTo>
                  <a:pt x="478" y="1324"/>
                </a:moveTo>
                <a:lnTo>
                  <a:pt x="514" y="1432"/>
                </a:lnTo>
                <a:lnTo>
                  <a:pt x="473" y="1446"/>
                </a:lnTo>
                <a:lnTo>
                  <a:pt x="437" y="1338"/>
                </a:lnTo>
                <a:lnTo>
                  <a:pt x="478" y="1324"/>
                </a:lnTo>
                <a:moveTo>
                  <a:pt x="540" y="1513"/>
                </a:moveTo>
                <a:lnTo>
                  <a:pt x="576" y="1621"/>
                </a:lnTo>
                <a:lnTo>
                  <a:pt x="536" y="1635"/>
                </a:lnTo>
                <a:lnTo>
                  <a:pt x="500" y="1527"/>
                </a:lnTo>
                <a:lnTo>
                  <a:pt x="540" y="1513"/>
                </a:lnTo>
                <a:moveTo>
                  <a:pt x="603" y="1703"/>
                </a:moveTo>
                <a:lnTo>
                  <a:pt x="639" y="1812"/>
                </a:lnTo>
                <a:lnTo>
                  <a:pt x="598" y="1825"/>
                </a:lnTo>
                <a:lnTo>
                  <a:pt x="562" y="1716"/>
                </a:lnTo>
                <a:lnTo>
                  <a:pt x="603" y="1703"/>
                </a:lnTo>
                <a:moveTo>
                  <a:pt x="665" y="1893"/>
                </a:moveTo>
                <a:lnTo>
                  <a:pt x="701" y="2001"/>
                </a:lnTo>
                <a:lnTo>
                  <a:pt x="661" y="2014"/>
                </a:lnTo>
                <a:lnTo>
                  <a:pt x="625" y="1906"/>
                </a:lnTo>
                <a:lnTo>
                  <a:pt x="665" y="1893"/>
                </a:lnTo>
                <a:moveTo>
                  <a:pt x="728" y="2082"/>
                </a:moveTo>
                <a:lnTo>
                  <a:pt x="764" y="2190"/>
                </a:lnTo>
                <a:lnTo>
                  <a:pt x="723" y="2203"/>
                </a:lnTo>
                <a:lnTo>
                  <a:pt x="687" y="2095"/>
                </a:lnTo>
                <a:lnTo>
                  <a:pt x="728" y="2082"/>
                </a:lnTo>
                <a:moveTo>
                  <a:pt x="790" y="2271"/>
                </a:moveTo>
                <a:lnTo>
                  <a:pt x="826" y="2379"/>
                </a:lnTo>
                <a:lnTo>
                  <a:pt x="786" y="2393"/>
                </a:lnTo>
                <a:lnTo>
                  <a:pt x="750" y="2285"/>
                </a:lnTo>
                <a:lnTo>
                  <a:pt x="790" y="2271"/>
                </a:lnTo>
                <a:moveTo>
                  <a:pt x="853" y="2460"/>
                </a:moveTo>
                <a:lnTo>
                  <a:pt x="889" y="2569"/>
                </a:lnTo>
                <a:lnTo>
                  <a:pt x="848" y="2582"/>
                </a:lnTo>
                <a:lnTo>
                  <a:pt x="812" y="2474"/>
                </a:lnTo>
                <a:lnTo>
                  <a:pt x="853" y="2460"/>
                </a:lnTo>
                <a:moveTo>
                  <a:pt x="916" y="2650"/>
                </a:moveTo>
                <a:lnTo>
                  <a:pt x="952" y="2758"/>
                </a:lnTo>
                <a:lnTo>
                  <a:pt x="912" y="2771"/>
                </a:lnTo>
                <a:lnTo>
                  <a:pt x="875" y="2663"/>
                </a:lnTo>
                <a:lnTo>
                  <a:pt x="916" y="2650"/>
                </a:lnTo>
                <a:moveTo>
                  <a:pt x="979" y="2839"/>
                </a:moveTo>
                <a:lnTo>
                  <a:pt x="1015" y="2947"/>
                </a:lnTo>
                <a:lnTo>
                  <a:pt x="974" y="2960"/>
                </a:lnTo>
                <a:lnTo>
                  <a:pt x="938" y="2852"/>
                </a:lnTo>
                <a:lnTo>
                  <a:pt x="979" y="2839"/>
                </a:lnTo>
                <a:moveTo>
                  <a:pt x="1041" y="3028"/>
                </a:moveTo>
                <a:lnTo>
                  <a:pt x="1077" y="3136"/>
                </a:lnTo>
                <a:lnTo>
                  <a:pt x="1037" y="3150"/>
                </a:lnTo>
                <a:lnTo>
                  <a:pt x="1001" y="3041"/>
                </a:lnTo>
                <a:lnTo>
                  <a:pt x="1041" y="3028"/>
                </a:lnTo>
                <a:moveTo>
                  <a:pt x="1104" y="3217"/>
                </a:moveTo>
                <a:lnTo>
                  <a:pt x="1140" y="3325"/>
                </a:lnTo>
                <a:lnTo>
                  <a:pt x="1099" y="3339"/>
                </a:lnTo>
                <a:lnTo>
                  <a:pt x="1063" y="3231"/>
                </a:lnTo>
                <a:lnTo>
                  <a:pt x="1104" y="3217"/>
                </a:lnTo>
                <a:moveTo>
                  <a:pt x="1166" y="3406"/>
                </a:moveTo>
                <a:lnTo>
                  <a:pt x="1202" y="3515"/>
                </a:lnTo>
                <a:lnTo>
                  <a:pt x="1162" y="3528"/>
                </a:lnTo>
                <a:lnTo>
                  <a:pt x="1126" y="3420"/>
                </a:lnTo>
                <a:lnTo>
                  <a:pt x="1166" y="3406"/>
                </a:ln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8549640" y="2607840"/>
            <a:ext cx="1550880" cy="1237320"/>
          </a:xfrm>
          <a:custGeom>
            <a:avLst/>
            <a:gdLst/>
            <a:ahLst/>
            <a:rect l="0" t="0" r="r" b="b"/>
            <a:pathLst>
              <a:path w="4308" h="3437">
                <a:moveTo>
                  <a:pt x="4308" y="34"/>
                </a:moveTo>
                <a:lnTo>
                  <a:pt x="4218" y="105"/>
                </a:lnTo>
                <a:lnTo>
                  <a:pt x="4192" y="71"/>
                </a:lnTo>
                <a:lnTo>
                  <a:pt x="4282" y="0"/>
                </a:lnTo>
                <a:lnTo>
                  <a:pt x="4308" y="34"/>
                </a:lnTo>
                <a:moveTo>
                  <a:pt x="4151" y="158"/>
                </a:moveTo>
                <a:lnTo>
                  <a:pt x="4062" y="229"/>
                </a:lnTo>
                <a:lnTo>
                  <a:pt x="4036" y="195"/>
                </a:lnTo>
                <a:lnTo>
                  <a:pt x="4125" y="124"/>
                </a:lnTo>
                <a:lnTo>
                  <a:pt x="4151" y="158"/>
                </a:lnTo>
                <a:moveTo>
                  <a:pt x="3995" y="282"/>
                </a:moveTo>
                <a:lnTo>
                  <a:pt x="3906" y="353"/>
                </a:lnTo>
                <a:lnTo>
                  <a:pt x="3880" y="319"/>
                </a:lnTo>
                <a:lnTo>
                  <a:pt x="3969" y="248"/>
                </a:lnTo>
                <a:lnTo>
                  <a:pt x="3995" y="282"/>
                </a:lnTo>
                <a:moveTo>
                  <a:pt x="3840" y="406"/>
                </a:moveTo>
                <a:lnTo>
                  <a:pt x="3750" y="477"/>
                </a:lnTo>
                <a:lnTo>
                  <a:pt x="3724" y="443"/>
                </a:lnTo>
                <a:lnTo>
                  <a:pt x="3813" y="372"/>
                </a:lnTo>
                <a:lnTo>
                  <a:pt x="3840" y="406"/>
                </a:lnTo>
                <a:moveTo>
                  <a:pt x="3684" y="530"/>
                </a:moveTo>
                <a:lnTo>
                  <a:pt x="3594" y="600"/>
                </a:lnTo>
                <a:lnTo>
                  <a:pt x="3568" y="567"/>
                </a:lnTo>
                <a:lnTo>
                  <a:pt x="3657" y="496"/>
                </a:lnTo>
                <a:lnTo>
                  <a:pt x="3684" y="530"/>
                </a:lnTo>
                <a:moveTo>
                  <a:pt x="3528" y="654"/>
                </a:moveTo>
                <a:lnTo>
                  <a:pt x="3439" y="724"/>
                </a:lnTo>
                <a:lnTo>
                  <a:pt x="3412" y="691"/>
                </a:lnTo>
                <a:lnTo>
                  <a:pt x="3501" y="620"/>
                </a:lnTo>
                <a:lnTo>
                  <a:pt x="3528" y="654"/>
                </a:lnTo>
                <a:moveTo>
                  <a:pt x="3372" y="777"/>
                </a:moveTo>
                <a:lnTo>
                  <a:pt x="3283" y="848"/>
                </a:lnTo>
                <a:lnTo>
                  <a:pt x="3256" y="815"/>
                </a:lnTo>
                <a:lnTo>
                  <a:pt x="3345" y="744"/>
                </a:lnTo>
                <a:lnTo>
                  <a:pt x="3372" y="777"/>
                </a:lnTo>
                <a:moveTo>
                  <a:pt x="3216" y="901"/>
                </a:moveTo>
                <a:lnTo>
                  <a:pt x="3127" y="972"/>
                </a:lnTo>
                <a:lnTo>
                  <a:pt x="3100" y="939"/>
                </a:lnTo>
                <a:lnTo>
                  <a:pt x="3189" y="868"/>
                </a:lnTo>
                <a:lnTo>
                  <a:pt x="3216" y="901"/>
                </a:lnTo>
                <a:moveTo>
                  <a:pt x="3060" y="1025"/>
                </a:moveTo>
                <a:lnTo>
                  <a:pt x="2971" y="1096"/>
                </a:lnTo>
                <a:lnTo>
                  <a:pt x="2944" y="1063"/>
                </a:lnTo>
                <a:lnTo>
                  <a:pt x="3033" y="992"/>
                </a:lnTo>
                <a:lnTo>
                  <a:pt x="3060" y="1025"/>
                </a:lnTo>
                <a:moveTo>
                  <a:pt x="2904" y="1149"/>
                </a:moveTo>
                <a:lnTo>
                  <a:pt x="2815" y="1220"/>
                </a:lnTo>
                <a:lnTo>
                  <a:pt x="2788" y="1187"/>
                </a:lnTo>
                <a:lnTo>
                  <a:pt x="2877" y="1116"/>
                </a:lnTo>
                <a:lnTo>
                  <a:pt x="2904" y="1149"/>
                </a:lnTo>
                <a:moveTo>
                  <a:pt x="2748" y="1273"/>
                </a:moveTo>
                <a:lnTo>
                  <a:pt x="2659" y="1345"/>
                </a:lnTo>
                <a:lnTo>
                  <a:pt x="2632" y="1311"/>
                </a:lnTo>
                <a:lnTo>
                  <a:pt x="2722" y="1240"/>
                </a:lnTo>
                <a:lnTo>
                  <a:pt x="2748" y="1273"/>
                </a:lnTo>
                <a:moveTo>
                  <a:pt x="2592" y="1398"/>
                </a:moveTo>
                <a:lnTo>
                  <a:pt x="2503" y="1469"/>
                </a:lnTo>
                <a:lnTo>
                  <a:pt x="2476" y="1435"/>
                </a:lnTo>
                <a:lnTo>
                  <a:pt x="2566" y="1365"/>
                </a:lnTo>
                <a:lnTo>
                  <a:pt x="2592" y="1398"/>
                </a:lnTo>
                <a:moveTo>
                  <a:pt x="2436" y="1522"/>
                </a:moveTo>
                <a:lnTo>
                  <a:pt x="2347" y="1593"/>
                </a:lnTo>
                <a:lnTo>
                  <a:pt x="2321" y="1559"/>
                </a:lnTo>
                <a:lnTo>
                  <a:pt x="2410" y="1489"/>
                </a:lnTo>
                <a:lnTo>
                  <a:pt x="2436" y="1522"/>
                </a:lnTo>
                <a:moveTo>
                  <a:pt x="2280" y="1646"/>
                </a:moveTo>
                <a:lnTo>
                  <a:pt x="2191" y="1717"/>
                </a:lnTo>
                <a:lnTo>
                  <a:pt x="2165" y="1683"/>
                </a:lnTo>
                <a:lnTo>
                  <a:pt x="2254" y="1612"/>
                </a:lnTo>
                <a:lnTo>
                  <a:pt x="2280" y="1646"/>
                </a:lnTo>
                <a:moveTo>
                  <a:pt x="2124" y="1770"/>
                </a:moveTo>
                <a:lnTo>
                  <a:pt x="2035" y="1841"/>
                </a:lnTo>
                <a:lnTo>
                  <a:pt x="2009" y="1807"/>
                </a:lnTo>
                <a:lnTo>
                  <a:pt x="2098" y="1736"/>
                </a:lnTo>
                <a:lnTo>
                  <a:pt x="2124" y="1770"/>
                </a:lnTo>
                <a:moveTo>
                  <a:pt x="1968" y="1894"/>
                </a:moveTo>
                <a:lnTo>
                  <a:pt x="1879" y="1965"/>
                </a:lnTo>
                <a:lnTo>
                  <a:pt x="1853" y="1931"/>
                </a:lnTo>
                <a:lnTo>
                  <a:pt x="1942" y="1860"/>
                </a:lnTo>
                <a:lnTo>
                  <a:pt x="1968" y="1894"/>
                </a:lnTo>
                <a:moveTo>
                  <a:pt x="1812" y="2018"/>
                </a:moveTo>
                <a:lnTo>
                  <a:pt x="1723" y="2088"/>
                </a:lnTo>
                <a:lnTo>
                  <a:pt x="1697" y="2055"/>
                </a:lnTo>
                <a:lnTo>
                  <a:pt x="1786" y="1984"/>
                </a:lnTo>
                <a:lnTo>
                  <a:pt x="1812" y="2018"/>
                </a:lnTo>
                <a:moveTo>
                  <a:pt x="1657" y="2142"/>
                </a:moveTo>
                <a:lnTo>
                  <a:pt x="1567" y="2212"/>
                </a:lnTo>
                <a:lnTo>
                  <a:pt x="1541" y="2179"/>
                </a:lnTo>
                <a:lnTo>
                  <a:pt x="1630" y="2108"/>
                </a:lnTo>
                <a:lnTo>
                  <a:pt x="1657" y="2142"/>
                </a:lnTo>
                <a:moveTo>
                  <a:pt x="1501" y="2266"/>
                </a:moveTo>
                <a:lnTo>
                  <a:pt x="1412" y="2336"/>
                </a:lnTo>
                <a:lnTo>
                  <a:pt x="1385" y="2303"/>
                </a:lnTo>
                <a:lnTo>
                  <a:pt x="1474" y="2232"/>
                </a:lnTo>
                <a:lnTo>
                  <a:pt x="1501" y="2266"/>
                </a:lnTo>
                <a:moveTo>
                  <a:pt x="1345" y="2389"/>
                </a:moveTo>
                <a:lnTo>
                  <a:pt x="1256" y="2460"/>
                </a:lnTo>
                <a:lnTo>
                  <a:pt x="1229" y="2427"/>
                </a:lnTo>
                <a:lnTo>
                  <a:pt x="1318" y="2356"/>
                </a:lnTo>
                <a:lnTo>
                  <a:pt x="1345" y="2389"/>
                </a:lnTo>
                <a:moveTo>
                  <a:pt x="1189" y="2513"/>
                </a:moveTo>
                <a:lnTo>
                  <a:pt x="1100" y="2584"/>
                </a:lnTo>
                <a:lnTo>
                  <a:pt x="1073" y="2551"/>
                </a:lnTo>
                <a:lnTo>
                  <a:pt x="1162" y="2480"/>
                </a:lnTo>
                <a:lnTo>
                  <a:pt x="1189" y="2513"/>
                </a:lnTo>
                <a:moveTo>
                  <a:pt x="1033" y="2637"/>
                </a:moveTo>
                <a:lnTo>
                  <a:pt x="944" y="2708"/>
                </a:lnTo>
                <a:lnTo>
                  <a:pt x="917" y="2675"/>
                </a:lnTo>
                <a:lnTo>
                  <a:pt x="1006" y="2604"/>
                </a:lnTo>
                <a:lnTo>
                  <a:pt x="1033" y="2637"/>
                </a:lnTo>
                <a:moveTo>
                  <a:pt x="877" y="2761"/>
                </a:moveTo>
                <a:lnTo>
                  <a:pt x="788" y="2832"/>
                </a:lnTo>
                <a:lnTo>
                  <a:pt x="761" y="2799"/>
                </a:lnTo>
                <a:lnTo>
                  <a:pt x="850" y="2728"/>
                </a:lnTo>
                <a:lnTo>
                  <a:pt x="877" y="2761"/>
                </a:lnTo>
                <a:moveTo>
                  <a:pt x="721" y="2885"/>
                </a:moveTo>
                <a:lnTo>
                  <a:pt x="632" y="2956"/>
                </a:lnTo>
                <a:lnTo>
                  <a:pt x="605" y="2922"/>
                </a:lnTo>
                <a:lnTo>
                  <a:pt x="695" y="2852"/>
                </a:lnTo>
                <a:lnTo>
                  <a:pt x="721" y="2885"/>
                </a:lnTo>
                <a:moveTo>
                  <a:pt x="565" y="3009"/>
                </a:moveTo>
                <a:lnTo>
                  <a:pt x="476" y="3080"/>
                </a:lnTo>
                <a:lnTo>
                  <a:pt x="449" y="3046"/>
                </a:lnTo>
                <a:lnTo>
                  <a:pt x="539" y="2976"/>
                </a:lnTo>
                <a:lnTo>
                  <a:pt x="565" y="3009"/>
                </a:lnTo>
                <a:moveTo>
                  <a:pt x="409" y="3133"/>
                </a:moveTo>
                <a:lnTo>
                  <a:pt x="320" y="3204"/>
                </a:lnTo>
                <a:lnTo>
                  <a:pt x="294" y="3170"/>
                </a:lnTo>
                <a:lnTo>
                  <a:pt x="383" y="3100"/>
                </a:lnTo>
                <a:lnTo>
                  <a:pt x="409" y="3133"/>
                </a:lnTo>
                <a:moveTo>
                  <a:pt x="253" y="3257"/>
                </a:moveTo>
                <a:lnTo>
                  <a:pt x="164" y="3328"/>
                </a:lnTo>
                <a:lnTo>
                  <a:pt x="138" y="3294"/>
                </a:lnTo>
                <a:lnTo>
                  <a:pt x="227" y="3223"/>
                </a:lnTo>
                <a:lnTo>
                  <a:pt x="253" y="3257"/>
                </a:lnTo>
                <a:moveTo>
                  <a:pt x="97" y="3381"/>
                </a:moveTo>
                <a:lnTo>
                  <a:pt x="27" y="3437"/>
                </a:lnTo>
                <a:lnTo>
                  <a:pt x="0" y="3404"/>
                </a:lnTo>
                <a:lnTo>
                  <a:pt x="71" y="3347"/>
                </a:lnTo>
                <a:lnTo>
                  <a:pt x="97" y="3381"/>
                </a:ln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432280" y="2856240"/>
            <a:ext cx="2163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.SFNS-Regular_wdth_opsz_GRAD_wght1F40000"/>
                <a:ea typeface=".SFNS-Regular_wdth_opsz_GRAD_wght1F40000"/>
              </a:rPr>
              <a:t>N = 8 cortical units, all-to-all coupling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8196120" y="3838680"/>
            <a:ext cx="2867400" cy="1845360"/>
          </a:xfrm>
          <a:custGeom>
            <a:avLst/>
            <a:gdLst/>
            <a:ahLst/>
            <a:rect l="0" t="0" r="r" b="b"/>
            <a:pathLst>
              <a:path w="7965" h="5126">
                <a:moveTo>
                  <a:pt x="284" y="0"/>
                </a:moveTo>
                <a:lnTo>
                  <a:pt x="7680" y="0"/>
                </a:lnTo>
                <a:cubicBezTo>
                  <a:pt x="7699" y="0"/>
                  <a:pt x="7718" y="2"/>
                  <a:pt x="7736" y="6"/>
                </a:cubicBezTo>
                <a:cubicBezTo>
                  <a:pt x="7754" y="9"/>
                  <a:pt x="7772" y="15"/>
                  <a:pt x="7789" y="22"/>
                </a:cubicBezTo>
                <a:cubicBezTo>
                  <a:pt x="7807" y="29"/>
                  <a:pt x="7823" y="38"/>
                  <a:pt x="7838" y="48"/>
                </a:cubicBezTo>
                <a:cubicBezTo>
                  <a:pt x="7854" y="59"/>
                  <a:pt x="7868" y="70"/>
                  <a:pt x="7882" y="84"/>
                </a:cubicBezTo>
                <a:cubicBezTo>
                  <a:pt x="7895" y="97"/>
                  <a:pt x="7907" y="111"/>
                  <a:pt x="7917" y="127"/>
                </a:cubicBezTo>
                <a:cubicBezTo>
                  <a:pt x="7927" y="142"/>
                  <a:pt x="7936" y="159"/>
                  <a:pt x="7943" y="176"/>
                </a:cubicBezTo>
                <a:cubicBezTo>
                  <a:pt x="7950" y="193"/>
                  <a:pt x="7956" y="211"/>
                  <a:pt x="7959" y="229"/>
                </a:cubicBezTo>
                <a:cubicBezTo>
                  <a:pt x="7963" y="248"/>
                  <a:pt x="7965" y="266"/>
                  <a:pt x="7965" y="285"/>
                </a:cubicBezTo>
                <a:lnTo>
                  <a:pt x="7965" y="4841"/>
                </a:lnTo>
                <a:cubicBezTo>
                  <a:pt x="7965" y="4860"/>
                  <a:pt x="7963" y="4878"/>
                  <a:pt x="7959" y="4897"/>
                </a:cubicBezTo>
                <a:cubicBezTo>
                  <a:pt x="7956" y="4915"/>
                  <a:pt x="7950" y="4933"/>
                  <a:pt x="7943" y="4950"/>
                </a:cubicBezTo>
                <a:cubicBezTo>
                  <a:pt x="7936" y="4967"/>
                  <a:pt x="7927" y="4984"/>
                  <a:pt x="7917" y="4999"/>
                </a:cubicBezTo>
                <a:cubicBezTo>
                  <a:pt x="7907" y="5015"/>
                  <a:pt x="7895" y="5029"/>
                  <a:pt x="7882" y="5042"/>
                </a:cubicBezTo>
                <a:cubicBezTo>
                  <a:pt x="7868" y="5056"/>
                  <a:pt x="7854" y="5067"/>
                  <a:pt x="7838" y="5078"/>
                </a:cubicBezTo>
                <a:cubicBezTo>
                  <a:pt x="7823" y="5088"/>
                  <a:pt x="7807" y="5097"/>
                  <a:pt x="7789" y="5104"/>
                </a:cubicBezTo>
                <a:cubicBezTo>
                  <a:pt x="7772" y="5111"/>
                  <a:pt x="7754" y="5117"/>
                  <a:pt x="7736" y="5120"/>
                </a:cubicBezTo>
                <a:cubicBezTo>
                  <a:pt x="7718" y="5124"/>
                  <a:pt x="7699" y="5126"/>
                  <a:pt x="7680" y="5126"/>
                </a:cubicBezTo>
                <a:lnTo>
                  <a:pt x="284" y="5126"/>
                </a:lnTo>
                <a:cubicBezTo>
                  <a:pt x="266" y="5126"/>
                  <a:pt x="247" y="5124"/>
                  <a:pt x="229" y="5120"/>
                </a:cubicBezTo>
                <a:cubicBezTo>
                  <a:pt x="211" y="5117"/>
                  <a:pt x="193" y="5111"/>
                  <a:pt x="175" y="5104"/>
                </a:cubicBezTo>
                <a:cubicBezTo>
                  <a:pt x="158" y="5097"/>
                  <a:pt x="142" y="5088"/>
                  <a:pt x="126" y="5078"/>
                </a:cubicBezTo>
                <a:cubicBezTo>
                  <a:pt x="111" y="5067"/>
                  <a:pt x="96" y="5056"/>
                  <a:pt x="83" y="5042"/>
                </a:cubicBezTo>
                <a:cubicBezTo>
                  <a:pt x="70" y="5029"/>
                  <a:pt x="58" y="5015"/>
                  <a:pt x="48" y="4999"/>
                </a:cubicBezTo>
                <a:cubicBezTo>
                  <a:pt x="37" y="4984"/>
                  <a:pt x="29" y="4967"/>
                  <a:pt x="22" y="4950"/>
                </a:cubicBezTo>
                <a:cubicBezTo>
                  <a:pt x="14" y="4933"/>
                  <a:pt x="9" y="4915"/>
                  <a:pt x="5" y="4897"/>
                </a:cubicBezTo>
                <a:cubicBezTo>
                  <a:pt x="2" y="4878"/>
                  <a:pt x="0" y="4860"/>
                  <a:pt x="0" y="4841"/>
                </a:cubicBezTo>
                <a:lnTo>
                  <a:pt x="0" y="285"/>
                </a:lnTo>
                <a:cubicBezTo>
                  <a:pt x="0" y="266"/>
                  <a:pt x="2" y="248"/>
                  <a:pt x="5" y="229"/>
                </a:cubicBezTo>
                <a:cubicBezTo>
                  <a:pt x="9" y="211"/>
                  <a:pt x="14" y="193"/>
                  <a:pt x="22" y="176"/>
                </a:cubicBezTo>
                <a:cubicBezTo>
                  <a:pt x="29" y="159"/>
                  <a:pt x="37" y="142"/>
                  <a:pt x="48" y="127"/>
                </a:cubicBezTo>
                <a:cubicBezTo>
                  <a:pt x="58" y="111"/>
                  <a:pt x="70" y="97"/>
                  <a:pt x="83" y="84"/>
                </a:cubicBezTo>
                <a:cubicBezTo>
                  <a:pt x="96" y="70"/>
                  <a:pt x="111" y="59"/>
                  <a:pt x="126" y="48"/>
                </a:cubicBezTo>
                <a:cubicBezTo>
                  <a:pt x="142" y="38"/>
                  <a:pt x="158" y="29"/>
                  <a:pt x="175" y="22"/>
                </a:cubicBezTo>
                <a:cubicBezTo>
                  <a:pt x="193" y="15"/>
                  <a:pt x="211" y="9"/>
                  <a:pt x="229" y="6"/>
                </a:cubicBezTo>
                <a:cubicBezTo>
                  <a:pt x="247" y="2"/>
                  <a:pt x="266" y="0"/>
                  <a:pt x="284" y="0"/>
                </a:cubicBezTo>
                <a:close/>
              </a:path>
            </a:pathLst>
          </a:custGeom>
          <a:solidFill>
            <a:srgbClr val="FFFB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8196120" y="3838680"/>
            <a:ext cx="2867400" cy="1845360"/>
          </a:xfrm>
          <a:custGeom>
            <a:avLst/>
            <a:gdLst/>
            <a:ahLst/>
            <a:rect l="0" t="0" r="r" b="b"/>
            <a:pathLst>
              <a:path w="7965" h="5126">
                <a:moveTo>
                  <a:pt x="284" y="0"/>
                </a:moveTo>
                <a:lnTo>
                  <a:pt x="7680" y="0"/>
                </a:lnTo>
                <a:cubicBezTo>
                  <a:pt x="7699" y="0"/>
                  <a:pt x="7718" y="2"/>
                  <a:pt x="7736" y="6"/>
                </a:cubicBezTo>
                <a:cubicBezTo>
                  <a:pt x="7754" y="9"/>
                  <a:pt x="7772" y="15"/>
                  <a:pt x="7789" y="22"/>
                </a:cubicBezTo>
                <a:cubicBezTo>
                  <a:pt x="7807" y="29"/>
                  <a:pt x="7823" y="38"/>
                  <a:pt x="7838" y="48"/>
                </a:cubicBezTo>
                <a:cubicBezTo>
                  <a:pt x="7854" y="59"/>
                  <a:pt x="7868" y="70"/>
                  <a:pt x="7882" y="84"/>
                </a:cubicBezTo>
                <a:cubicBezTo>
                  <a:pt x="7895" y="97"/>
                  <a:pt x="7907" y="111"/>
                  <a:pt x="7917" y="127"/>
                </a:cubicBezTo>
                <a:cubicBezTo>
                  <a:pt x="7927" y="142"/>
                  <a:pt x="7936" y="159"/>
                  <a:pt x="7943" y="176"/>
                </a:cubicBezTo>
                <a:cubicBezTo>
                  <a:pt x="7950" y="193"/>
                  <a:pt x="7956" y="211"/>
                  <a:pt x="7959" y="229"/>
                </a:cubicBezTo>
                <a:cubicBezTo>
                  <a:pt x="7963" y="248"/>
                  <a:pt x="7965" y="266"/>
                  <a:pt x="7965" y="285"/>
                </a:cubicBezTo>
                <a:lnTo>
                  <a:pt x="7965" y="4841"/>
                </a:lnTo>
                <a:cubicBezTo>
                  <a:pt x="7965" y="4860"/>
                  <a:pt x="7963" y="4878"/>
                  <a:pt x="7959" y="4897"/>
                </a:cubicBezTo>
                <a:cubicBezTo>
                  <a:pt x="7956" y="4915"/>
                  <a:pt x="7950" y="4933"/>
                  <a:pt x="7943" y="4950"/>
                </a:cubicBezTo>
                <a:cubicBezTo>
                  <a:pt x="7936" y="4967"/>
                  <a:pt x="7927" y="4984"/>
                  <a:pt x="7917" y="4999"/>
                </a:cubicBezTo>
                <a:cubicBezTo>
                  <a:pt x="7907" y="5015"/>
                  <a:pt x="7895" y="5029"/>
                  <a:pt x="7882" y="5042"/>
                </a:cubicBezTo>
                <a:cubicBezTo>
                  <a:pt x="7868" y="5056"/>
                  <a:pt x="7854" y="5067"/>
                  <a:pt x="7838" y="5078"/>
                </a:cubicBezTo>
                <a:cubicBezTo>
                  <a:pt x="7823" y="5088"/>
                  <a:pt x="7807" y="5097"/>
                  <a:pt x="7789" y="5104"/>
                </a:cubicBezTo>
                <a:cubicBezTo>
                  <a:pt x="7772" y="5111"/>
                  <a:pt x="7754" y="5117"/>
                  <a:pt x="7736" y="5120"/>
                </a:cubicBezTo>
                <a:cubicBezTo>
                  <a:pt x="7718" y="5124"/>
                  <a:pt x="7699" y="5126"/>
                  <a:pt x="7680" y="5126"/>
                </a:cubicBezTo>
                <a:lnTo>
                  <a:pt x="284" y="5126"/>
                </a:lnTo>
                <a:cubicBezTo>
                  <a:pt x="266" y="5126"/>
                  <a:pt x="247" y="5124"/>
                  <a:pt x="229" y="5120"/>
                </a:cubicBezTo>
                <a:cubicBezTo>
                  <a:pt x="211" y="5117"/>
                  <a:pt x="193" y="5111"/>
                  <a:pt x="175" y="5104"/>
                </a:cubicBezTo>
                <a:cubicBezTo>
                  <a:pt x="158" y="5097"/>
                  <a:pt x="142" y="5088"/>
                  <a:pt x="126" y="5078"/>
                </a:cubicBezTo>
                <a:cubicBezTo>
                  <a:pt x="111" y="5067"/>
                  <a:pt x="96" y="5056"/>
                  <a:pt x="83" y="5042"/>
                </a:cubicBezTo>
                <a:cubicBezTo>
                  <a:pt x="70" y="5029"/>
                  <a:pt x="58" y="5015"/>
                  <a:pt x="48" y="4999"/>
                </a:cubicBezTo>
                <a:cubicBezTo>
                  <a:pt x="37" y="4984"/>
                  <a:pt x="29" y="4967"/>
                  <a:pt x="22" y="4950"/>
                </a:cubicBezTo>
                <a:cubicBezTo>
                  <a:pt x="14" y="4933"/>
                  <a:pt x="9" y="4915"/>
                  <a:pt x="5" y="4897"/>
                </a:cubicBezTo>
                <a:cubicBezTo>
                  <a:pt x="2" y="4878"/>
                  <a:pt x="0" y="4860"/>
                  <a:pt x="0" y="4841"/>
                </a:cubicBezTo>
                <a:lnTo>
                  <a:pt x="0" y="285"/>
                </a:lnTo>
                <a:cubicBezTo>
                  <a:pt x="0" y="266"/>
                  <a:pt x="2" y="248"/>
                  <a:pt x="5" y="229"/>
                </a:cubicBezTo>
                <a:cubicBezTo>
                  <a:pt x="9" y="211"/>
                  <a:pt x="14" y="193"/>
                  <a:pt x="22" y="176"/>
                </a:cubicBezTo>
                <a:cubicBezTo>
                  <a:pt x="29" y="159"/>
                  <a:pt x="37" y="142"/>
                  <a:pt x="48" y="127"/>
                </a:cubicBezTo>
                <a:cubicBezTo>
                  <a:pt x="58" y="111"/>
                  <a:pt x="70" y="97"/>
                  <a:pt x="83" y="84"/>
                </a:cubicBezTo>
                <a:cubicBezTo>
                  <a:pt x="96" y="70"/>
                  <a:pt x="111" y="59"/>
                  <a:pt x="126" y="48"/>
                </a:cubicBezTo>
                <a:cubicBezTo>
                  <a:pt x="142" y="38"/>
                  <a:pt x="158" y="29"/>
                  <a:pt x="175" y="22"/>
                </a:cubicBezTo>
                <a:cubicBezTo>
                  <a:pt x="193" y="15"/>
                  <a:pt x="211" y="9"/>
                  <a:pt x="229" y="6"/>
                </a:cubicBezTo>
                <a:cubicBezTo>
                  <a:pt x="247" y="2"/>
                  <a:pt x="266" y="0"/>
                  <a:pt x="284" y="0"/>
                </a:cubicBezTo>
                <a:close/>
              </a:path>
            </a:pathLst>
          </a:custGeom>
          <a:noFill/>
          <a:ln w="10080">
            <a:solidFill>
              <a:srgbClr val="FBBF24"/>
            </a:solidFill>
            <a:miter/>
          </a:ln>
        </p:spPr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8964000" y="4376880"/>
            <a:ext cx="1331640" cy="230760"/>
          </a:xfrm>
          <a:custGeom>
            <a:avLst/>
            <a:gdLst/>
            <a:ahLst/>
            <a:rect l="0" t="0" r="r" b="b"/>
            <a:pathLst>
              <a:path fill="none" w="3699" h="641">
                <a:moveTo>
                  <a:pt x="0" y="641"/>
                </a:moveTo>
                <a:cubicBezTo>
                  <a:pt x="1233" y="-214"/>
                  <a:pt x="2465" y="-214"/>
                  <a:pt x="3699" y="641"/>
                </a:cubicBezTo>
              </a:path>
            </a:pathLst>
          </a:custGeom>
          <a:ln w="25560">
            <a:solidFill>
              <a:srgbClr val="0F766E"/>
            </a:solidFill>
            <a:miter/>
          </a:ln>
        </p:spPr>
        <p:txBody>
          <a:bodyPr lIns="12600" tIns="12600" rIns="12600" bIns="12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0190160" y="4512960"/>
            <a:ext cx="113760" cy="100800"/>
          </a:xfrm>
          <a:custGeom>
            <a:avLst/>
            <a:gdLst/>
            <a:ahLst/>
            <a:rect l="0" t="0" r="r" b="b"/>
            <a:pathLst>
              <a:path w="316" h="280">
                <a:moveTo>
                  <a:pt x="163" y="0"/>
                </a:moveTo>
                <a:lnTo>
                  <a:pt x="316" y="280"/>
                </a:lnTo>
                <a:lnTo>
                  <a:pt x="0" y="235"/>
                </a:lnTo>
                <a:lnTo>
                  <a:pt x="163" y="0"/>
                </a:ln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9078120" y="3542760"/>
            <a:ext cx="1150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92400E"/>
                </a:solidFill>
                <a:effectLst/>
                <a:uFillTx/>
                <a:latin typeface=".SFNS"/>
                <a:ea typeface=".SFNS"/>
              </a:rPr>
              <a:t>Inside one node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8964000" y="4812480"/>
            <a:ext cx="1331640" cy="241200"/>
          </a:xfrm>
          <a:custGeom>
            <a:avLst/>
            <a:gdLst/>
            <a:ahLst/>
            <a:rect l="0" t="0" r="r" b="b"/>
            <a:pathLst>
              <a:path fill="none" w="3699" h="670">
                <a:moveTo>
                  <a:pt x="3699" y="0"/>
                </a:moveTo>
                <a:cubicBezTo>
                  <a:pt x="2465" y="893"/>
                  <a:pt x="1233" y="893"/>
                  <a:pt x="0" y="0"/>
                </a:cubicBezTo>
              </a:path>
            </a:pathLst>
          </a:custGeom>
          <a:ln w="25560">
            <a:solidFill>
              <a:srgbClr val="92400E"/>
            </a:solidFill>
            <a:miter/>
          </a:ln>
        </p:spPr>
        <p:txBody>
          <a:bodyPr lIns="12600" tIns="12600" rIns="12600" bIns="12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8903520" y="4734720"/>
            <a:ext cx="120960" cy="155520"/>
          </a:xfrm>
          <a:custGeom>
            <a:avLst/>
            <a:gdLst/>
            <a:ahLst/>
            <a:rect l="0" t="0" r="r" b="b"/>
            <a:pathLst>
              <a:path w="336" h="432">
                <a:moveTo>
                  <a:pt x="18" y="423"/>
                </a:moveTo>
                <a:cubicBezTo>
                  <a:pt x="14" y="420"/>
                  <a:pt x="10" y="416"/>
                  <a:pt x="7" y="411"/>
                </a:cubicBezTo>
                <a:cubicBezTo>
                  <a:pt x="4" y="406"/>
                  <a:pt x="2" y="401"/>
                  <a:pt x="1" y="396"/>
                </a:cubicBezTo>
                <a:cubicBezTo>
                  <a:pt x="0" y="390"/>
                  <a:pt x="0" y="384"/>
                  <a:pt x="2" y="379"/>
                </a:cubicBezTo>
                <a:cubicBezTo>
                  <a:pt x="3" y="373"/>
                  <a:pt x="5" y="368"/>
                  <a:pt x="9" y="364"/>
                </a:cubicBezTo>
                <a:lnTo>
                  <a:pt x="260" y="18"/>
                </a:lnTo>
                <a:cubicBezTo>
                  <a:pt x="263" y="13"/>
                  <a:pt x="267" y="9"/>
                  <a:pt x="272" y="6"/>
                </a:cubicBezTo>
                <a:cubicBezTo>
                  <a:pt x="277" y="3"/>
                  <a:pt x="282" y="2"/>
                  <a:pt x="287" y="1"/>
                </a:cubicBezTo>
                <a:cubicBezTo>
                  <a:pt x="293" y="0"/>
                  <a:pt x="298" y="0"/>
                  <a:pt x="304" y="1"/>
                </a:cubicBezTo>
                <a:cubicBezTo>
                  <a:pt x="309" y="3"/>
                  <a:pt x="315" y="5"/>
                  <a:pt x="319" y="8"/>
                </a:cubicBezTo>
                <a:cubicBezTo>
                  <a:pt x="324" y="12"/>
                  <a:pt x="327" y="16"/>
                  <a:pt x="330" y="20"/>
                </a:cubicBezTo>
                <a:cubicBezTo>
                  <a:pt x="333" y="25"/>
                  <a:pt x="335" y="30"/>
                  <a:pt x="336" y="36"/>
                </a:cubicBezTo>
                <a:cubicBezTo>
                  <a:pt x="337" y="42"/>
                  <a:pt x="337" y="47"/>
                  <a:pt x="336" y="53"/>
                </a:cubicBezTo>
                <a:cubicBezTo>
                  <a:pt x="334" y="58"/>
                  <a:pt x="332" y="63"/>
                  <a:pt x="329" y="68"/>
                </a:cubicBezTo>
                <a:lnTo>
                  <a:pt x="78" y="414"/>
                </a:lnTo>
                <a:cubicBezTo>
                  <a:pt x="74" y="418"/>
                  <a:pt x="70" y="422"/>
                  <a:pt x="65" y="426"/>
                </a:cubicBezTo>
                <a:cubicBezTo>
                  <a:pt x="61" y="429"/>
                  <a:pt x="55" y="431"/>
                  <a:pt x="50" y="432"/>
                </a:cubicBezTo>
                <a:cubicBezTo>
                  <a:pt x="44" y="433"/>
                  <a:pt x="39" y="433"/>
                  <a:pt x="33" y="431"/>
                </a:cubicBezTo>
                <a:cubicBezTo>
                  <a:pt x="28" y="430"/>
                  <a:pt x="23" y="428"/>
                  <a:pt x="18" y="423"/>
                </a:cubicBezTo>
                <a:close/>
              </a:path>
            </a:pathLst>
          </a:custGeom>
          <a:solidFill>
            <a:srgbClr val="9240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420840" y="3973680"/>
            <a:ext cx="3848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70" b="0" u="none" strike="noStrike">
                <a:solidFill>
                  <a:srgbClr val="0F766E"/>
                </a:solidFill>
                <a:effectLst/>
                <a:uFillTx/>
                <a:latin typeface=".SFNS-Regular_wdth_opsz_GRAD_wght1F40000"/>
                <a:ea typeface=".SFNS-Regular_wdth_opsz_GRAD_wght1F40000"/>
              </a:rPr>
              <a:t>excites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8277840" y="4381920"/>
            <a:ext cx="655920" cy="656280"/>
          </a:xfrm>
          <a:custGeom>
            <a:avLst/>
            <a:gdLst/>
            <a:ahLst/>
            <a:rect l="0" t="0" r="r" b="b"/>
            <a:pathLst>
              <a:path w="1822" h="1823">
                <a:moveTo>
                  <a:pt x="1822" y="911"/>
                </a:moveTo>
                <a:cubicBezTo>
                  <a:pt x="1822" y="941"/>
                  <a:pt x="1820" y="971"/>
                  <a:pt x="1817" y="1000"/>
                </a:cubicBezTo>
                <a:cubicBezTo>
                  <a:pt x="1814" y="1030"/>
                  <a:pt x="1810" y="1060"/>
                  <a:pt x="1804" y="1089"/>
                </a:cubicBezTo>
                <a:cubicBezTo>
                  <a:pt x="1798" y="1118"/>
                  <a:pt x="1791" y="1147"/>
                  <a:pt x="1783" y="1176"/>
                </a:cubicBezTo>
                <a:cubicBezTo>
                  <a:pt x="1774" y="1204"/>
                  <a:pt x="1764" y="1232"/>
                  <a:pt x="1752" y="1260"/>
                </a:cubicBezTo>
                <a:cubicBezTo>
                  <a:pt x="1741" y="1287"/>
                  <a:pt x="1728" y="1314"/>
                  <a:pt x="1714" y="1341"/>
                </a:cubicBezTo>
                <a:cubicBezTo>
                  <a:pt x="1700" y="1367"/>
                  <a:pt x="1685" y="1392"/>
                  <a:pt x="1668" y="1417"/>
                </a:cubicBezTo>
                <a:cubicBezTo>
                  <a:pt x="1652" y="1442"/>
                  <a:pt x="1634" y="1466"/>
                  <a:pt x="1615" y="1489"/>
                </a:cubicBezTo>
                <a:cubicBezTo>
                  <a:pt x="1596" y="1513"/>
                  <a:pt x="1575" y="1535"/>
                  <a:pt x="1554" y="1556"/>
                </a:cubicBezTo>
                <a:cubicBezTo>
                  <a:pt x="1533" y="1577"/>
                  <a:pt x="1511" y="1597"/>
                  <a:pt x="1488" y="1616"/>
                </a:cubicBezTo>
                <a:cubicBezTo>
                  <a:pt x="1465" y="1635"/>
                  <a:pt x="1441" y="1653"/>
                  <a:pt x="1416" y="1670"/>
                </a:cubicBezTo>
                <a:cubicBezTo>
                  <a:pt x="1391" y="1686"/>
                  <a:pt x="1366" y="1702"/>
                  <a:pt x="1340" y="1716"/>
                </a:cubicBezTo>
                <a:cubicBezTo>
                  <a:pt x="1313" y="1730"/>
                  <a:pt x="1286" y="1742"/>
                  <a:pt x="1259" y="1754"/>
                </a:cubicBezTo>
                <a:cubicBezTo>
                  <a:pt x="1231" y="1765"/>
                  <a:pt x="1203" y="1775"/>
                  <a:pt x="1175" y="1784"/>
                </a:cubicBezTo>
                <a:cubicBezTo>
                  <a:pt x="1146" y="1793"/>
                  <a:pt x="1117" y="1800"/>
                  <a:pt x="1088" y="1806"/>
                </a:cubicBezTo>
                <a:cubicBezTo>
                  <a:pt x="1059" y="1811"/>
                  <a:pt x="1029" y="1816"/>
                  <a:pt x="1000" y="1819"/>
                </a:cubicBezTo>
                <a:cubicBezTo>
                  <a:pt x="970" y="1822"/>
                  <a:pt x="940" y="1823"/>
                  <a:pt x="911" y="1823"/>
                </a:cubicBezTo>
                <a:cubicBezTo>
                  <a:pt x="881" y="1823"/>
                  <a:pt x="851" y="1822"/>
                  <a:pt x="821" y="1819"/>
                </a:cubicBezTo>
                <a:cubicBezTo>
                  <a:pt x="792" y="1816"/>
                  <a:pt x="762" y="1811"/>
                  <a:pt x="733" y="1806"/>
                </a:cubicBezTo>
                <a:cubicBezTo>
                  <a:pt x="704" y="1800"/>
                  <a:pt x="675" y="1793"/>
                  <a:pt x="646" y="1784"/>
                </a:cubicBezTo>
                <a:cubicBezTo>
                  <a:pt x="618" y="1775"/>
                  <a:pt x="590" y="1765"/>
                  <a:pt x="562" y="1754"/>
                </a:cubicBezTo>
                <a:cubicBezTo>
                  <a:pt x="535" y="1742"/>
                  <a:pt x="508" y="1730"/>
                  <a:pt x="482" y="1716"/>
                </a:cubicBezTo>
                <a:cubicBezTo>
                  <a:pt x="455" y="1702"/>
                  <a:pt x="430" y="1686"/>
                  <a:pt x="405" y="1670"/>
                </a:cubicBezTo>
                <a:cubicBezTo>
                  <a:pt x="380" y="1653"/>
                  <a:pt x="356" y="1635"/>
                  <a:pt x="333" y="1616"/>
                </a:cubicBezTo>
                <a:cubicBezTo>
                  <a:pt x="310" y="1597"/>
                  <a:pt x="288" y="1577"/>
                  <a:pt x="267" y="1556"/>
                </a:cubicBezTo>
                <a:cubicBezTo>
                  <a:pt x="246" y="1535"/>
                  <a:pt x="226" y="1513"/>
                  <a:pt x="207" y="1489"/>
                </a:cubicBezTo>
                <a:cubicBezTo>
                  <a:pt x="188" y="1466"/>
                  <a:pt x="170" y="1442"/>
                  <a:pt x="154" y="1417"/>
                </a:cubicBezTo>
                <a:cubicBezTo>
                  <a:pt x="137" y="1392"/>
                  <a:pt x="122" y="1367"/>
                  <a:pt x="108" y="1341"/>
                </a:cubicBezTo>
                <a:cubicBezTo>
                  <a:pt x="94" y="1314"/>
                  <a:pt x="81" y="1287"/>
                  <a:pt x="70" y="1260"/>
                </a:cubicBezTo>
                <a:cubicBezTo>
                  <a:pt x="58" y="1232"/>
                  <a:pt x="48" y="1204"/>
                  <a:pt x="40" y="1176"/>
                </a:cubicBezTo>
                <a:cubicBezTo>
                  <a:pt x="31" y="1147"/>
                  <a:pt x="24" y="1118"/>
                  <a:pt x="18" y="1089"/>
                </a:cubicBezTo>
                <a:cubicBezTo>
                  <a:pt x="12" y="1060"/>
                  <a:pt x="8" y="1030"/>
                  <a:pt x="5" y="1000"/>
                </a:cubicBezTo>
                <a:cubicBezTo>
                  <a:pt x="2" y="971"/>
                  <a:pt x="0" y="941"/>
                  <a:pt x="0" y="911"/>
                </a:cubicBezTo>
                <a:cubicBezTo>
                  <a:pt x="0" y="881"/>
                  <a:pt x="2" y="852"/>
                  <a:pt x="5" y="822"/>
                </a:cubicBezTo>
                <a:cubicBezTo>
                  <a:pt x="8" y="792"/>
                  <a:pt x="12" y="763"/>
                  <a:pt x="18" y="733"/>
                </a:cubicBezTo>
                <a:cubicBezTo>
                  <a:pt x="24" y="704"/>
                  <a:pt x="31" y="675"/>
                  <a:pt x="40" y="647"/>
                </a:cubicBezTo>
                <a:cubicBezTo>
                  <a:pt x="48" y="618"/>
                  <a:pt x="58" y="590"/>
                  <a:pt x="70" y="563"/>
                </a:cubicBezTo>
                <a:cubicBezTo>
                  <a:pt x="81" y="535"/>
                  <a:pt x="94" y="508"/>
                  <a:pt x="108" y="482"/>
                </a:cubicBezTo>
                <a:cubicBezTo>
                  <a:pt x="122" y="455"/>
                  <a:pt x="137" y="430"/>
                  <a:pt x="154" y="405"/>
                </a:cubicBezTo>
                <a:cubicBezTo>
                  <a:pt x="170" y="380"/>
                  <a:pt x="188" y="356"/>
                  <a:pt x="207" y="333"/>
                </a:cubicBezTo>
                <a:cubicBezTo>
                  <a:pt x="226" y="310"/>
                  <a:pt x="246" y="288"/>
                  <a:pt x="267" y="267"/>
                </a:cubicBezTo>
                <a:cubicBezTo>
                  <a:pt x="288" y="246"/>
                  <a:pt x="310" y="226"/>
                  <a:pt x="333" y="207"/>
                </a:cubicBezTo>
                <a:cubicBezTo>
                  <a:pt x="356" y="188"/>
                  <a:pt x="380" y="170"/>
                  <a:pt x="405" y="154"/>
                </a:cubicBezTo>
                <a:cubicBezTo>
                  <a:pt x="430" y="137"/>
                  <a:pt x="455" y="122"/>
                  <a:pt x="482" y="108"/>
                </a:cubicBezTo>
                <a:cubicBezTo>
                  <a:pt x="508" y="94"/>
                  <a:pt x="535" y="81"/>
                  <a:pt x="562" y="69"/>
                </a:cubicBezTo>
                <a:cubicBezTo>
                  <a:pt x="590" y="58"/>
                  <a:pt x="618" y="48"/>
                  <a:pt x="646" y="39"/>
                </a:cubicBezTo>
                <a:cubicBezTo>
                  <a:pt x="675" y="31"/>
                  <a:pt x="704" y="23"/>
                  <a:pt x="733" y="18"/>
                </a:cubicBezTo>
                <a:cubicBezTo>
                  <a:pt x="762" y="12"/>
                  <a:pt x="792" y="7"/>
                  <a:pt x="821" y="5"/>
                </a:cubicBezTo>
                <a:cubicBezTo>
                  <a:pt x="851" y="2"/>
                  <a:pt x="881" y="0"/>
                  <a:pt x="911" y="0"/>
                </a:cubicBezTo>
                <a:cubicBezTo>
                  <a:pt x="940" y="0"/>
                  <a:pt x="970" y="2"/>
                  <a:pt x="1000" y="5"/>
                </a:cubicBezTo>
                <a:cubicBezTo>
                  <a:pt x="1029" y="7"/>
                  <a:pt x="1059" y="12"/>
                  <a:pt x="1088" y="18"/>
                </a:cubicBezTo>
                <a:cubicBezTo>
                  <a:pt x="1117" y="23"/>
                  <a:pt x="1146" y="31"/>
                  <a:pt x="1175" y="39"/>
                </a:cubicBezTo>
                <a:cubicBezTo>
                  <a:pt x="1203" y="48"/>
                  <a:pt x="1231" y="58"/>
                  <a:pt x="1259" y="69"/>
                </a:cubicBezTo>
                <a:cubicBezTo>
                  <a:pt x="1286" y="81"/>
                  <a:pt x="1313" y="94"/>
                  <a:pt x="1340" y="108"/>
                </a:cubicBezTo>
                <a:cubicBezTo>
                  <a:pt x="1366" y="122"/>
                  <a:pt x="1391" y="137"/>
                  <a:pt x="1416" y="154"/>
                </a:cubicBezTo>
                <a:cubicBezTo>
                  <a:pt x="1441" y="170"/>
                  <a:pt x="1465" y="188"/>
                  <a:pt x="1488" y="207"/>
                </a:cubicBezTo>
                <a:cubicBezTo>
                  <a:pt x="1511" y="226"/>
                  <a:pt x="1533" y="246"/>
                  <a:pt x="1554" y="267"/>
                </a:cubicBezTo>
                <a:cubicBezTo>
                  <a:pt x="1575" y="288"/>
                  <a:pt x="1596" y="310"/>
                  <a:pt x="1615" y="333"/>
                </a:cubicBezTo>
                <a:cubicBezTo>
                  <a:pt x="1634" y="356"/>
                  <a:pt x="1652" y="380"/>
                  <a:pt x="1668" y="405"/>
                </a:cubicBezTo>
                <a:cubicBezTo>
                  <a:pt x="1685" y="430"/>
                  <a:pt x="1700" y="455"/>
                  <a:pt x="1714" y="482"/>
                </a:cubicBezTo>
                <a:cubicBezTo>
                  <a:pt x="1728" y="508"/>
                  <a:pt x="1741" y="535"/>
                  <a:pt x="1752" y="563"/>
                </a:cubicBezTo>
                <a:cubicBezTo>
                  <a:pt x="1764" y="590"/>
                  <a:pt x="1774" y="618"/>
                  <a:pt x="1783" y="647"/>
                </a:cubicBezTo>
                <a:cubicBezTo>
                  <a:pt x="1791" y="675"/>
                  <a:pt x="1798" y="704"/>
                  <a:pt x="1804" y="733"/>
                </a:cubicBezTo>
                <a:cubicBezTo>
                  <a:pt x="1810" y="763"/>
                  <a:pt x="1814" y="792"/>
                  <a:pt x="1817" y="822"/>
                </a:cubicBezTo>
                <a:cubicBezTo>
                  <a:pt x="1820" y="852"/>
                  <a:pt x="1822" y="881"/>
                  <a:pt x="1822" y="911"/>
                </a:cubicBez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9413640" y="5295960"/>
            <a:ext cx="3848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70" b="0" u="none" strike="noStrike">
                <a:solidFill>
                  <a:srgbClr val="92400E"/>
                </a:solidFill>
                <a:effectLst/>
                <a:uFillTx/>
                <a:latin typeface=".SFNS-Regular_wdth_opsz_GRAD_wght1F40000"/>
                <a:ea typeface=".SFNS-Regular_wdth_opsz_GRAD_wght1F40000"/>
              </a:rPr>
              <a:t>inhibits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539920" y="4551120"/>
            <a:ext cx="2250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70" b="1" u="none" strike="noStrike">
                <a:solidFill>
                  <a:srgbClr val="FFFFFF"/>
                </a:solidFill>
                <a:effectLst/>
                <a:uFillTx/>
                <a:latin typeface=".SFNS-Regular_wdth_opsz160000_GRAD_wght2BC0000"/>
                <a:ea typeface=".SFNS-Regular_wdth_opsz160000_GRAD_wght2BC0000"/>
              </a:rPr>
              <a:t>E</a:t>
            </a:r>
            <a:endParaRPr lang="en-US" sz="17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0325880" y="4381920"/>
            <a:ext cx="655560" cy="656280"/>
          </a:xfrm>
          <a:custGeom>
            <a:avLst/>
            <a:gdLst/>
            <a:ahLst/>
            <a:rect l="0" t="0" r="r" b="b"/>
            <a:pathLst>
              <a:path w="1821" h="1823">
                <a:moveTo>
                  <a:pt x="1821" y="911"/>
                </a:moveTo>
                <a:cubicBezTo>
                  <a:pt x="1821" y="941"/>
                  <a:pt x="1820" y="971"/>
                  <a:pt x="1817" y="1000"/>
                </a:cubicBezTo>
                <a:cubicBezTo>
                  <a:pt x="1814" y="1030"/>
                  <a:pt x="1810" y="1060"/>
                  <a:pt x="1804" y="1089"/>
                </a:cubicBezTo>
                <a:cubicBezTo>
                  <a:pt x="1798" y="1118"/>
                  <a:pt x="1791" y="1147"/>
                  <a:pt x="1782" y="1176"/>
                </a:cubicBezTo>
                <a:cubicBezTo>
                  <a:pt x="1773" y="1204"/>
                  <a:pt x="1763" y="1232"/>
                  <a:pt x="1752" y="1260"/>
                </a:cubicBezTo>
                <a:cubicBezTo>
                  <a:pt x="1741" y="1287"/>
                  <a:pt x="1728" y="1314"/>
                  <a:pt x="1714" y="1341"/>
                </a:cubicBezTo>
                <a:cubicBezTo>
                  <a:pt x="1700" y="1367"/>
                  <a:pt x="1684" y="1392"/>
                  <a:pt x="1668" y="1417"/>
                </a:cubicBezTo>
                <a:cubicBezTo>
                  <a:pt x="1651" y="1442"/>
                  <a:pt x="1634" y="1466"/>
                  <a:pt x="1615" y="1489"/>
                </a:cubicBezTo>
                <a:cubicBezTo>
                  <a:pt x="1596" y="1513"/>
                  <a:pt x="1576" y="1535"/>
                  <a:pt x="1555" y="1556"/>
                </a:cubicBezTo>
                <a:cubicBezTo>
                  <a:pt x="1534" y="1577"/>
                  <a:pt x="1512" y="1597"/>
                  <a:pt x="1489" y="1616"/>
                </a:cubicBezTo>
                <a:cubicBezTo>
                  <a:pt x="1466" y="1635"/>
                  <a:pt x="1442" y="1653"/>
                  <a:pt x="1417" y="1670"/>
                </a:cubicBezTo>
                <a:cubicBezTo>
                  <a:pt x="1392" y="1686"/>
                  <a:pt x="1366" y="1702"/>
                  <a:pt x="1339" y="1716"/>
                </a:cubicBezTo>
                <a:cubicBezTo>
                  <a:pt x="1313" y="1730"/>
                  <a:pt x="1286" y="1742"/>
                  <a:pt x="1258" y="1754"/>
                </a:cubicBezTo>
                <a:cubicBezTo>
                  <a:pt x="1231" y="1765"/>
                  <a:pt x="1203" y="1775"/>
                  <a:pt x="1174" y="1784"/>
                </a:cubicBezTo>
                <a:cubicBezTo>
                  <a:pt x="1146" y="1793"/>
                  <a:pt x="1117" y="1800"/>
                  <a:pt x="1088" y="1806"/>
                </a:cubicBezTo>
                <a:cubicBezTo>
                  <a:pt x="1058" y="1811"/>
                  <a:pt x="1029" y="1816"/>
                  <a:pt x="999" y="1819"/>
                </a:cubicBezTo>
                <a:cubicBezTo>
                  <a:pt x="970" y="1822"/>
                  <a:pt x="940" y="1823"/>
                  <a:pt x="910" y="1823"/>
                </a:cubicBezTo>
                <a:cubicBezTo>
                  <a:pt x="880" y="1823"/>
                  <a:pt x="851" y="1822"/>
                  <a:pt x="821" y="1819"/>
                </a:cubicBezTo>
                <a:cubicBezTo>
                  <a:pt x="791" y="1816"/>
                  <a:pt x="762" y="1811"/>
                  <a:pt x="733" y="1806"/>
                </a:cubicBezTo>
                <a:cubicBezTo>
                  <a:pt x="703" y="1800"/>
                  <a:pt x="674" y="1793"/>
                  <a:pt x="646" y="1784"/>
                </a:cubicBezTo>
                <a:cubicBezTo>
                  <a:pt x="617" y="1775"/>
                  <a:pt x="589" y="1765"/>
                  <a:pt x="562" y="1754"/>
                </a:cubicBezTo>
                <a:cubicBezTo>
                  <a:pt x="534" y="1742"/>
                  <a:pt x="507" y="1730"/>
                  <a:pt x="481" y="1716"/>
                </a:cubicBezTo>
                <a:cubicBezTo>
                  <a:pt x="455" y="1702"/>
                  <a:pt x="429" y="1686"/>
                  <a:pt x="404" y="1670"/>
                </a:cubicBezTo>
                <a:cubicBezTo>
                  <a:pt x="380" y="1653"/>
                  <a:pt x="356" y="1635"/>
                  <a:pt x="333" y="1616"/>
                </a:cubicBezTo>
                <a:cubicBezTo>
                  <a:pt x="310" y="1597"/>
                  <a:pt x="288" y="1577"/>
                  <a:pt x="267" y="1556"/>
                </a:cubicBezTo>
                <a:cubicBezTo>
                  <a:pt x="245" y="1535"/>
                  <a:pt x="225" y="1513"/>
                  <a:pt x="207" y="1489"/>
                </a:cubicBezTo>
                <a:cubicBezTo>
                  <a:pt x="188" y="1466"/>
                  <a:pt x="170" y="1442"/>
                  <a:pt x="153" y="1417"/>
                </a:cubicBezTo>
                <a:cubicBezTo>
                  <a:pt x="137" y="1392"/>
                  <a:pt x="122" y="1367"/>
                  <a:pt x="107" y="1341"/>
                </a:cubicBezTo>
                <a:cubicBezTo>
                  <a:pt x="93" y="1314"/>
                  <a:pt x="81" y="1287"/>
                  <a:pt x="69" y="1260"/>
                </a:cubicBezTo>
                <a:cubicBezTo>
                  <a:pt x="58" y="1232"/>
                  <a:pt x="48" y="1204"/>
                  <a:pt x="39" y="1176"/>
                </a:cubicBezTo>
                <a:cubicBezTo>
                  <a:pt x="31" y="1147"/>
                  <a:pt x="23" y="1118"/>
                  <a:pt x="17" y="1089"/>
                </a:cubicBezTo>
                <a:cubicBezTo>
                  <a:pt x="12" y="1060"/>
                  <a:pt x="7" y="1030"/>
                  <a:pt x="4" y="1000"/>
                </a:cubicBezTo>
                <a:cubicBezTo>
                  <a:pt x="1" y="971"/>
                  <a:pt x="0" y="941"/>
                  <a:pt x="0" y="911"/>
                </a:cubicBezTo>
                <a:cubicBezTo>
                  <a:pt x="0" y="881"/>
                  <a:pt x="1" y="852"/>
                  <a:pt x="4" y="822"/>
                </a:cubicBezTo>
                <a:cubicBezTo>
                  <a:pt x="7" y="792"/>
                  <a:pt x="12" y="763"/>
                  <a:pt x="17" y="733"/>
                </a:cubicBezTo>
                <a:cubicBezTo>
                  <a:pt x="23" y="704"/>
                  <a:pt x="31" y="675"/>
                  <a:pt x="39" y="647"/>
                </a:cubicBezTo>
                <a:cubicBezTo>
                  <a:pt x="48" y="618"/>
                  <a:pt x="58" y="590"/>
                  <a:pt x="69" y="563"/>
                </a:cubicBezTo>
                <a:cubicBezTo>
                  <a:pt x="81" y="535"/>
                  <a:pt x="93" y="508"/>
                  <a:pt x="107" y="482"/>
                </a:cubicBezTo>
                <a:cubicBezTo>
                  <a:pt x="122" y="455"/>
                  <a:pt x="137" y="430"/>
                  <a:pt x="153" y="405"/>
                </a:cubicBezTo>
                <a:cubicBezTo>
                  <a:pt x="170" y="380"/>
                  <a:pt x="188" y="356"/>
                  <a:pt x="207" y="333"/>
                </a:cubicBezTo>
                <a:cubicBezTo>
                  <a:pt x="225" y="310"/>
                  <a:pt x="245" y="288"/>
                  <a:pt x="267" y="267"/>
                </a:cubicBezTo>
                <a:cubicBezTo>
                  <a:pt x="288" y="246"/>
                  <a:pt x="310" y="226"/>
                  <a:pt x="333" y="207"/>
                </a:cubicBezTo>
                <a:cubicBezTo>
                  <a:pt x="356" y="188"/>
                  <a:pt x="380" y="170"/>
                  <a:pt x="404" y="154"/>
                </a:cubicBezTo>
                <a:cubicBezTo>
                  <a:pt x="429" y="137"/>
                  <a:pt x="455" y="122"/>
                  <a:pt x="481" y="108"/>
                </a:cubicBezTo>
                <a:cubicBezTo>
                  <a:pt x="507" y="94"/>
                  <a:pt x="534" y="81"/>
                  <a:pt x="562" y="69"/>
                </a:cubicBezTo>
                <a:cubicBezTo>
                  <a:pt x="589" y="58"/>
                  <a:pt x="617" y="48"/>
                  <a:pt x="646" y="39"/>
                </a:cubicBezTo>
                <a:cubicBezTo>
                  <a:pt x="674" y="31"/>
                  <a:pt x="703" y="23"/>
                  <a:pt x="733" y="18"/>
                </a:cubicBezTo>
                <a:cubicBezTo>
                  <a:pt x="762" y="12"/>
                  <a:pt x="791" y="7"/>
                  <a:pt x="821" y="5"/>
                </a:cubicBezTo>
                <a:cubicBezTo>
                  <a:pt x="851" y="2"/>
                  <a:pt x="880" y="0"/>
                  <a:pt x="910" y="0"/>
                </a:cubicBezTo>
                <a:cubicBezTo>
                  <a:pt x="940" y="0"/>
                  <a:pt x="970" y="2"/>
                  <a:pt x="999" y="5"/>
                </a:cubicBezTo>
                <a:cubicBezTo>
                  <a:pt x="1029" y="7"/>
                  <a:pt x="1058" y="12"/>
                  <a:pt x="1088" y="18"/>
                </a:cubicBezTo>
                <a:cubicBezTo>
                  <a:pt x="1117" y="23"/>
                  <a:pt x="1146" y="31"/>
                  <a:pt x="1174" y="39"/>
                </a:cubicBezTo>
                <a:cubicBezTo>
                  <a:pt x="1203" y="48"/>
                  <a:pt x="1231" y="58"/>
                  <a:pt x="1258" y="69"/>
                </a:cubicBezTo>
                <a:cubicBezTo>
                  <a:pt x="1286" y="81"/>
                  <a:pt x="1313" y="94"/>
                  <a:pt x="1339" y="108"/>
                </a:cubicBezTo>
                <a:cubicBezTo>
                  <a:pt x="1366" y="122"/>
                  <a:pt x="1392" y="137"/>
                  <a:pt x="1417" y="154"/>
                </a:cubicBezTo>
                <a:cubicBezTo>
                  <a:pt x="1442" y="170"/>
                  <a:pt x="1466" y="188"/>
                  <a:pt x="1489" y="207"/>
                </a:cubicBezTo>
                <a:cubicBezTo>
                  <a:pt x="1512" y="226"/>
                  <a:pt x="1534" y="246"/>
                  <a:pt x="1555" y="267"/>
                </a:cubicBezTo>
                <a:cubicBezTo>
                  <a:pt x="1576" y="288"/>
                  <a:pt x="1596" y="310"/>
                  <a:pt x="1615" y="333"/>
                </a:cubicBezTo>
                <a:cubicBezTo>
                  <a:pt x="1634" y="356"/>
                  <a:pt x="1651" y="380"/>
                  <a:pt x="1668" y="405"/>
                </a:cubicBezTo>
                <a:cubicBezTo>
                  <a:pt x="1684" y="430"/>
                  <a:pt x="1700" y="455"/>
                  <a:pt x="1714" y="482"/>
                </a:cubicBezTo>
                <a:cubicBezTo>
                  <a:pt x="1728" y="508"/>
                  <a:pt x="1741" y="535"/>
                  <a:pt x="1752" y="563"/>
                </a:cubicBezTo>
                <a:cubicBezTo>
                  <a:pt x="1763" y="590"/>
                  <a:pt x="1773" y="618"/>
                  <a:pt x="1782" y="647"/>
                </a:cubicBezTo>
                <a:cubicBezTo>
                  <a:pt x="1791" y="675"/>
                  <a:pt x="1798" y="704"/>
                  <a:pt x="1804" y="733"/>
                </a:cubicBezTo>
                <a:cubicBezTo>
                  <a:pt x="1810" y="763"/>
                  <a:pt x="1814" y="792"/>
                  <a:pt x="1817" y="822"/>
                </a:cubicBezTo>
                <a:cubicBezTo>
                  <a:pt x="1820" y="852"/>
                  <a:pt x="1821" y="881"/>
                  <a:pt x="1821" y="911"/>
                </a:cubicBezTo>
                <a:close/>
              </a:path>
            </a:pathLst>
          </a:custGeom>
          <a:solidFill>
            <a:srgbClr val="92400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195400" y="5091840"/>
            <a:ext cx="75204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80" b="0" u="none" strike="noStrike">
                <a:solidFill>
                  <a:srgbClr val="374151"/>
                </a:solidFill>
                <a:effectLst/>
                <a:uFillTx/>
                <a:latin typeface=".SFNS"/>
                <a:ea typeface=".SFNS"/>
              </a:rPr>
              <a:t>excitatory · τ_E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0622160" y="4551120"/>
            <a:ext cx="2250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70" b="1" u="none" strike="noStrike">
                <a:solidFill>
                  <a:srgbClr val="FFFFFF"/>
                </a:solidFill>
                <a:effectLst/>
                <a:uFillTx/>
                <a:latin typeface=".SFNS-Regular_wdth_opsz160000_GRAD_wght2BC0000"/>
                <a:ea typeface=".SFNS-Regular_wdth_opsz160000_GRAD_wght2BC0000"/>
              </a:rPr>
              <a:t>I</a:t>
            </a:r>
            <a:endParaRPr lang="en-US" sz="17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8994600" y="5765400"/>
            <a:ext cx="1270080" cy="205560"/>
          </a:xfrm>
          <a:custGeom>
            <a:avLst/>
            <a:gdLst/>
            <a:ahLst/>
            <a:rect l="0" t="0" r="r" b="b"/>
            <a:pathLst>
              <a:path w="3528" h="571">
                <a:moveTo>
                  <a:pt x="86" y="0"/>
                </a:moveTo>
                <a:lnTo>
                  <a:pt x="3443" y="0"/>
                </a:lnTo>
                <a:cubicBezTo>
                  <a:pt x="3454" y="0"/>
                  <a:pt x="3465" y="3"/>
                  <a:pt x="3476" y="7"/>
                </a:cubicBezTo>
                <a:cubicBezTo>
                  <a:pt x="3486" y="11"/>
                  <a:pt x="3495" y="17"/>
                  <a:pt x="3503" y="25"/>
                </a:cubicBezTo>
                <a:cubicBezTo>
                  <a:pt x="3511" y="33"/>
                  <a:pt x="3517" y="43"/>
                  <a:pt x="3522" y="53"/>
                </a:cubicBezTo>
                <a:cubicBezTo>
                  <a:pt x="3526" y="64"/>
                  <a:pt x="3528" y="75"/>
                  <a:pt x="3528" y="86"/>
                </a:cubicBezTo>
                <a:lnTo>
                  <a:pt x="3528" y="485"/>
                </a:lnTo>
                <a:cubicBezTo>
                  <a:pt x="3528" y="497"/>
                  <a:pt x="3526" y="508"/>
                  <a:pt x="3522" y="518"/>
                </a:cubicBezTo>
                <a:cubicBezTo>
                  <a:pt x="3517" y="529"/>
                  <a:pt x="3511" y="538"/>
                  <a:pt x="3503" y="546"/>
                </a:cubicBezTo>
                <a:cubicBezTo>
                  <a:pt x="3495" y="554"/>
                  <a:pt x="3486" y="560"/>
                  <a:pt x="3476" y="564"/>
                </a:cubicBezTo>
                <a:cubicBezTo>
                  <a:pt x="3465" y="569"/>
                  <a:pt x="3454" y="571"/>
                  <a:pt x="3443" y="571"/>
                </a:cubicBezTo>
                <a:lnTo>
                  <a:pt x="86" y="571"/>
                </a:lnTo>
                <a:cubicBezTo>
                  <a:pt x="74" y="571"/>
                  <a:pt x="64" y="569"/>
                  <a:pt x="53" y="564"/>
                </a:cubicBezTo>
                <a:cubicBezTo>
                  <a:pt x="43" y="560"/>
                  <a:pt x="33" y="554"/>
                  <a:pt x="25" y="546"/>
                </a:cubicBezTo>
                <a:cubicBezTo>
                  <a:pt x="17" y="538"/>
                  <a:pt x="11" y="529"/>
                  <a:pt x="7" y="518"/>
                </a:cubicBezTo>
                <a:cubicBezTo>
                  <a:pt x="3" y="508"/>
                  <a:pt x="0" y="497"/>
                  <a:pt x="0" y="485"/>
                </a:cubicBezTo>
                <a:lnTo>
                  <a:pt x="0" y="86"/>
                </a:lnTo>
                <a:cubicBezTo>
                  <a:pt x="0" y="75"/>
                  <a:pt x="3" y="64"/>
                  <a:pt x="7" y="53"/>
                </a:cubicBezTo>
                <a:cubicBezTo>
                  <a:pt x="11" y="43"/>
                  <a:pt x="17" y="33"/>
                  <a:pt x="25" y="25"/>
                </a:cubicBezTo>
                <a:cubicBezTo>
                  <a:pt x="33" y="17"/>
                  <a:pt x="43" y="11"/>
                  <a:pt x="53" y="7"/>
                </a:cubicBezTo>
                <a:cubicBezTo>
                  <a:pt x="64" y="3"/>
                  <a:pt x="74" y="0"/>
                  <a:pt x="86" y="0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8994600" y="5765400"/>
            <a:ext cx="1270080" cy="205560"/>
          </a:xfrm>
          <a:custGeom>
            <a:avLst/>
            <a:gdLst/>
            <a:ahLst/>
            <a:rect l="0" t="0" r="r" b="b"/>
            <a:pathLst>
              <a:path w="3528" h="571">
                <a:moveTo>
                  <a:pt x="86" y="0"/>
                </a:moveTo>
                <a:lnTo>
                  <a:pt x="3443" y="0"/>
                </a:lnTo>
                <a:cubicBezTo>
                  <a:pt x="3454" y="0"/>
                  <a:pt x="3465" y="3"/>
                  <a:pt x="3476" y="7"/>
                </a:cubicBezTo>
                <a:cubicBezTo>
                  <a:pt x="3486" y="11"/>
                  <a:pt x="3495" y="17"/>
                  <a:pt x="3503" y="25"/>
                </a:cubicBezTo>
                <a:cubicBezTo>
                  <a:pt x="3511" y="33"/>
                  <a:pt x="3517" y="43"/>
                  <a:pt x="3522" y="53"/>
                </a:cubicBezTo>
                <a:cubicBezTo>
                  <a:pt x="3526" y="64"/>
                  <a:pt x="3528" y="75"/>
                  <a:pt x="3528" y="86"/>
                </a:cubicBezTo>
                <a:lnTo>
                  <a:pt x="3528" y="485"/>
                </a:lnTo>
                <a:cubicBezTo>
                  <a:pt x="3528" y="497"/>
                  <a:pt x="3526" y="508"/>
                  <a:pt x="3522" y="518"/>
                </a:cubicBezTo>
                <a:cubicBezTo>
                  <a:pt x="3517" y="529"/>
                  <a:pt x="3511" y="538"/>
                  <a:pt x="3503" y="546"/>
                </a:cubicBezTo>
                <a:cubicBezTo>
                  <a:pt x="3495" y="554"/>
                  <a:pt x="3486" y="560"/>
                  <a:pt x="3476" y="564"/>
                </a:cubicBezTo>
                <a:cubicBezTo>
                  <a:pt x="3465" y="569"/>
                  <a:pt x="3454" y="571"/>
                  <a:pt x="3443" y="571"/>
                </a:cubicBezTo>
                <a:lnTo>
                  <a:pt x="86" y="571"/>
                </a:lnTo>
                <a:cubicBezTo>
                  <a:pt x="74" y="571"/>
                  <a:pt x="64" y="569"/>
                  <a:pt x="53" y="564"/>
                </a:cubicBezTo>
                <a:cubicBezTo>
                  <a:pt x="43" y="560"/>
                  <a:pt x="33" y="554"/>
                  <a:pt x="25" y="546"/>
                </a:cubicBezTo>
                <a:cubicBezTo>
                  <a:pt x="17" y="538"/>
                  <a:pt x="11" y="529"/>
                  <a:pt x="7" y="518"/>
                </a:cubicBezTo>
                <a:cubicBezTo>
                  <a:pt x="3" y="508"/>
                  <a:pt x="0" y="497"/>
                  <a:pt x="0" y="485"/>
                </a:cubicBezTo>
                <a:lnTo>
                  <a:pt x="0" y="86"/>
                </a:lnTo>
                <a:cubicBezTo>
                  <a:pt x="0" y="75"/>
                  <a:pt x="3" y="64"/>
                  <a:pt x="7" y="53"/>
                </a:cubicBezTo>
                <a:cubicBezTo>
                  <a:pt x="11" y="43"/>
                  <a:pt x="17" y="33"/>
                  <a:pt x="25" y="25"/>
                </a:cubicBezTo>
                <a:cubicBezTo>
                  <a:pt x="33" y="17"/>
                  <a:pt x="43" y="11"/>
                  <a:pt x="53" y="7"/>
                </a:cubicBezTo>
                <a:cubicBezTo>
                  <a:pt x="64" y="3"/>
                  <a:pt x="74" y="0"/>
                  <a:pt x="86" y="0"/>
                </a:cubicBezTo>
                <a:close/>
              </a:path>
            </a:pathLst>
          </a:custGeom>
          <a:noFill/>
          <a:ln w="10080">
            <a:solidFill>
              <a:srgbClr val="92400E"/>
            </a:solidFill>
            <a:miter/>
          </a:ln>
        </p:spPr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0209960" y="5091840"/>
            <a:ext cx="7959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80" b="0" u="none" strike="noStrike">
                <a:solidFill>
                  <a:srgbClr val="374151"/>
                </a:solidFill>
                <a:effectLst/>
                <a:uFillTx/>
                <a:latin typeface=".SFNS"/>
                <a:ea typeface=".SFNS"/>
              </a:rPr>
              <a:t>inhibitory · τ_inh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85440" y="1676160"/>
            <a:ext cx="5696640" cy="29160"/>
          </a:xfrm>
          <a:custGeom>
            <a:avLst/>
            <a:gdLst/>
            <a:ahLst/>
            <a:rect l="0" t="0" r="r" b="b"/>
            <a:pathLst>
              <a:path w="15824" h="81">
                <a:moveTo>
                  <a:pt x="0" y="0"/>
                </a:moveTo>
                <a:lnTo>
                  <a:pt x="15824" y="0"/>
                </a:lnTo>
                <a:lnTo>
                  <a:pt x="15824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9028080" y="5788800"/>
            <a:ext cx="129852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80" b="1" u="none" strike="noStrike">
                <a:solidFill>
                  <a:srgbClr val="92400E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τ_inh: free parameter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85800" y="1248480"/>
            <a:ext cx="4386240" cy="37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Model: Wilson-Cowan network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33320" y="22478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4" y="125"/>
                  <a:pt x="26" y="120"/>
                  <a:pt x="20" y="114"/>
                </a:cubicBezTo>
                <a:cubicBezTo>
                  <a:pt x="14" y="107"/>
                  <a:pt x="8" y="100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1"/>
                </a:cubicBezTo>
                <a:cubicBezTo>
                  <a:pt x="8" y="33"/>
                  <a:pt x="14" y="25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3"/>
                  <a:pt x="128" y="41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85800" y="1847520"/>
            <a:ext cx="820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0F766E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NETWORK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733320" y="25430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1"/>
                </a:cubicBezTo>
                <a:cubicBezTo>
                  <a:pt x="125" y="99"/>
                  <a:pt x="120" y="107"/>
                  <a:pt x="114" y="113"/>
                </a:cubicBezTo>
                <a:cubicBezTo>
                  <a:pt x="108" y="119"/>
                  <a:pt x="100" y="124"/>
                  <a:pt x="92" y="127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7"/>
                </a:cubicBezTo>
                <a:cubicBezTo>
                  <a:pt x="34" y="124"/>
                  <a:pt x="26" y="119"/>
                  <a:pt x="20" y="113"/>
                </a:cubicBezTo>
                <a:cubicBezTo>
                  <a:pt x="14" y="107"/>
                  <a:pt x="8" y="99"/>
                  <a:pt x="5" y="91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4" y="25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3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95320" y="2141640"/>
            <a:ext cx="31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8 cortical nodes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connected in a network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33320" y="28479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4"/>
                  <a:pt x="131" y="84"/>
                  <a:pt x="128" y="92"/>
                </a:cubicBezTo>
                <a:cubicBezTo>
                  <a:pt x="125" y="100"/>
                  <a:pt x="120" y="107"/>
                  <a:pt x="114" y="113"/>
                </a:cubicBezTo>
                <a:cubicBezTo>
                  <a:pt x="108" y="120"/>
                  <a:pt x="100" y="124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4" y="124"/>
                  <a:pt x="26" y="120"/>
                  <a:pt x="20" y="113"/>
                </a:cubicBezTo>
                <a:cubicBezTo>
                  <a:pt x="14" y="107"/>
                  <a:pt x="8" y="100"/>
                  <a:pt x="5" y="92"/>
                </a:cubicBezTo>
                <a:cubicBezTo>
                  <a:pt x="1" y="84"/>
                  <a:pt x="0" y="74"/>
                  <a:pt x="0" y="66"/>
                </a:cubicBezTo>
                <a:cubicBezTo>
                  <a:pt x="0" y="57"/>
                  <a:pt x="1" y="48"/>
                  <a:pt x="5" y="40"/>
                </a:cubicBezTo>
                <a:cubicBezTo>
                  <a:pt x="8" y="32"/>
                  <a:pt x="14" y="25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2"/>
                  <a:pt x="128" y="40"/>
                </a:cubicBezTo>
                <a:cubicBezTo>
                  <a:pt x="131" y="48"/>
                  <a:pt x="133" y="57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95320" y="2436840"/>
            <a:ext cx="42886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Each node: one excitatory (</a:t>
            </a: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E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) + one inhibitory (</a:t>
            </a: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I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) population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95320" y="2741400"/>
            <a:ext cx="37814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E and I interact to produce an alpha-range oscillation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733320" y="35240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2"/>
                  <a:pt x="76" y="133"/>
                  <a:pt x="67" y="133"/>
                </a:cubicBezTo>
                <a:cubicBezTo>
                  <a:pt x="58" y="133"/>
                  <a:pt x="50" y="132"/>
                  <a:pt x="42" y="128"/>
                </a:cubicBezTo>
                <a:cubicBezTo>
                  <a:pt x="34" y="125"/>
                  <a:pt x="26" y="120"/>
                  <a:pt x="20" y="114"/>
                </a:cubicBezTo>
                <a:cubicBezTo>
                  <a:pt x="14" y="108"/>
                  <a:pt x="8" y="101"/>
                  <a:pt x="5" y="93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1"/>
                </a:cubicBezTo>
                <a:cubicBezTo>
                  <a:pt x="8" y="33"/>
                  <a:pt x="14" y="26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895320" y="3438360"/>
            <a:ext cx="571680" cy="200520"/>
          </a:xfrm>
          <a:custGeom>
            <a:avLst/>
            <a:gdLst/>
            <a:ahLst/>
            <a:rect l="0" t="0" r="r" b="b"/>
            <a:pathLst>
              <a:path w="1588" h="557">
                <a:moveTo>
                  <a:pt x="0" y="477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509" y="0"/>
                </a:lnTo>
                <a:cubicBezTo>
                  <a:pt x="1519" y="0"/>
                  <a:pt x="1529" y="2"/>
                  <a:pt x="1539" y="6"/>
                </a:cubicBezTo>
                <a:cubicBezTo>
                  <a:pt x="1549" y="10"/>
                  <a:pt x="1557" y="16"/>
                  <a:pt x="1565" y="23"/>
                </a:cubicBezTo>
                <a:cubicBezTo>
                  <a:pt x="1572" y="31"/>
                  <a:pt x="1578" y="39"/>
                  <a:pt x="1582" y="49"/>
                </a:cubicBezTo>
                <a:cubicBezTo>
                  <a:pt x="1586" y="59"/>
                  <a:pt x="1588" y="69"/>
                  <a:pt x="1588" y="79"/>
                </a:cubicBezTo>
                <a:lnTo>
                  <a:pt x="1588" y="477"/>
                </a:lnTo>
                <a:cubicBezTo>
                  <a:pt x="1588" y="488"/>
                  <a:pt x="1586" y="498"/>
                  <a:pt x="1582" y="508"/>
                </a:cubicBezTo>
                <a:cubicBezTo>
                  <a:pt x="1578" y="517"/>
                  <a:pt x="1572" y="526"/>
                  <a:pt x="1565" y="533"/>
                </a:cubicBezTo>
                <a:cubicBezTo>
                  <a:pt x="1557" y="541"/>
                  <a:pt x="1549" y="547"/>
                  <a:pt x="1539" y="551"/>
                </a:cubicBezTo>
                <a:cubicBezTo>
                  <a:pt x="1529" y="555"/>
                  <a:pt x="1519" y="557"/>
                  <a:pt x="1509" y="557"/>
                </a:cubicBezTo>
                <a:lnTo>
                  <a:pt x="79" y="557"/>
                </a:lnTo>
                <a:cubicBezTo>
                  <a:pt x="68" y="557"/>
                  <a:pt x="58" y="555"/>
                  <a:pt x="49" y="551"/>
                </a:cubicBezTo>
                <a:cubicBezTo>
                  <a:pt x="39" y="547"/>
                  <a:pt x="30" y="541"/>
                  <a:pt x="23" y="533"/>
                </a:cubicBezTo>
                <a:cubicBezTo>
                  <a:pt x="15" y="526"/>
                  <a:pt x="10" y="517"/>
                  <a:pt x="6" y="508"/>
                </a:cubicBezTo>
                <a:cubicBezTo>
                  <a:pt x="2" y="498"/>
                  <a:pt x="0" y="488"/>
                  <a:pt x="0" y="477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85800" y="3123720"/>
            <a:ext cx="1457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0F766E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FREE PARAMETER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952560" y="3449520"/>
            <a:ext cx="45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Menlo"/>
                <a:ea typeface="Menlo"/>
              </a:rPr>
              <a:t>τ_inh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33320" y="38289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1"/>
                </a:cubicBezTo>
                <a:cubicBezTo>
                  <a:pt x="125" y="99"/>
                  <a:pt x="120" y="106"/>
                  <a:pt x="114" y="113"/>
                </a:cubicBezTo>
                <a:cubicBezTo>
                  <a:pt x="108" y="119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4" y="125"/>
                  <a:pt x="26" y="119"/>
                  <a:pt x="20" y="113"/>
                </a:cubicBezTo>
                <a:cubicBezTo>
                  <a:pt x="14" y="106"/>
                  <a:pt x="8" y="99"/>
                  <a:pt x="5" y="91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2"/>
                  <a:pt x="14" y="25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2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467720" y="3417840"/>
            <a:ext cx="17964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: inhibitory response time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409400" y="3743280"/>
            <a:ext cx="572040" cy="200160"/>
          </a:xfrm>
          <a:custGeom>
            <a:avLst/>
            <a:gdLst/>
            <a:ahLst/>
            <a:rect l="0" t="0" r="r" b="b"/>
            <a:pathLst>
              <a:path w="1589" h="556">
                <a:moveTo>
                  <a:pt x="0" y="47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60" y="2"/>
                  <a:pt x="70" y="0"/>
                  <a:pt x="81" y="0"/>
                </a:cubicBezTo>
                <a:lnTo>
                  <a:pt x="1509" y="0"/>
                </a:lnTo>
                <a:cubicBezTo>
                  <a:pt x="1520" y="0"/>
                  <a:pt x="1530" y="2"/>
                  <a:pt x="1540" y="6"/>
                </a:cubicBezTo>
                <a:cubicBezTo>
                  <a:pt x="1550" y="10"/>
                  <a:pt x="1558" y="15"/>
                  <a:pt x="1566" y="23"/>
                </a:cubicBezTo>
                <a:cubicBezTo>
                  <a:pt x="1573" y="30"/>
                  <a:pt x="1579" y="39"/>
                  <a:pt x="1583" y="49"/>
                </a:cubicBezTo>
                <a:cubicBezTo>
                  <a:pt x="1587" y="58"/>
                  <a:pt x="1589" y="68"/>
                  <a:pt x="1589" y="79"/>
                </a:cubicBezTo>
                <a:lnTo>
                  <a:pt x="1589" y="477"/>
                </a:lnTo>
                <a:cubicBezTo>
                  <a:pt x="1589" y="487"/>
                  <a:pt x="1587" y="498"/>
                  <a:pt x="1583" y="507"/>
                </a:cubicBezTo>
                <a:cubicBezTo>
                  <a:pt x="1579" y="517"/>
                  <a:pt x="1573" y="526"/>
                  <a:pt x="1566" y="533"/>
                </a:cubicBezTo>
                <a:cubicBezTo>
                  <a:pt x="1558" y="540"/>
                  <a:pt x="1550" y="546"/>
                  <a:pt x="1540" y="550"/>
                </a:cubicBezTo>
                <a:cubicBezTo>
                  <a:pt x="1530" y="554"/>
                  <a:pt x="1520" y="556"/>
                  <a:pt x="1509" y="556"/>
                </a:cubicBezTo>
                <a:lnTo>
                  <a:pt x="81" y="556"/>
                </a:lnTo>
                <a:cubicBezTo>
                  <a:pt x="70" y="556"/>
                  <a:pt x="60" y="554"/>
                  <a:pt x="49" y="550"/>
                </a:cubicBezTo>
                <a:cubicBezTo>
                  <a:pt x="40" y="546"/>
                  <a:pt x="31" y="540"/>
                  <a:pt x="24" y="533"/>
                </a:cubicBezTo>
                <a:cubicBezTo>
                  <a:pt x="16" y="526"/>
                  <a:pt x="10" y="517"/>
                  <a:pt x="6" y="507"/>
                </a:cubicBezTo>
                <a:cubicBezTo>
                  <a:pt x="2" y="498"/>
                  <a:pt x="0" y="487"/>
                  <a:pt x="0" y="477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895320" y="3722760"/>
            <a:ext cx="512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Larger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462680" y="3754440"/>
            <a:ext cx="45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F766E"/>
                </a:solidFill>
                <a:effectLst/>
                <a:uFillTx/>
                <a:latin typeface="Menlo"/>
                <a:ea typeface="Menlo"/>
              </a:rPr>
              <a:t>τ_inh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733320" y="413352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133" y="67"/>
                </a:moveTo>
                <a:cubicBezTo>
                  <a:pt x="133" y="76"/>
                  <a:pt x="131" y="85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1"/>
                  <a:pt x="100" y="125"/>
                  <a:pt x="92" y="129"/>
                </a:cubicBezTo>
                <a:cubicBezTo>
                  <a:pt x="84" y="132"/>
                  <a:pt x="76" y="134"/>
                  <a:pt x="67" y="134"/>
                </a:cubicBezTo>
                <a:cubicBezTo>
                  <a:pt x="58" y="134"/>
                  <a:pt x="50" y="132"/>
                  <a:pt x="42" y="129"/>
                </a:cubicBezTo>
                <a:cubicBezTo>
                  <a:pt x="34" y="125"/>
                  <a:pt x="26" y="121"/>
                  <a:pt x="20" y="114"/>
                </a:cubicBezTo>
                <a:cubicBezTo>
                  <a:pt x="14" y="108"/>
                  <a:pt x="8" y="101"/>
                  <a:pt x="5" y="93"/>
                </a:cubicBezTo>
                <a:cubicBezTo>
                  <a:pt x="1" y="85"/>
                  <a:pt x="0" y="76"/>
                  <a:pt x="0" y="67"/>
                </a:cubicBezTo>
                <a:cubicBezTo>
                  <a:pt x="0" y="58"/>
                  <a:pt x="1" y="49"/>
                  <a:pt x="5" y="41"/>
                </a:cubicBezTo>
                <a:cubicBezTo>
                  <a:pt x="8" y="33"/>
                  <a:pt x="14" y="26"/>
                  <a:pt x="20" y="20"/>
                </a:cubicBezTo>
                <a:cubicBezTo>
                  <a:pt x="26" y="14"/>
                  <a:pt x="34" y="9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9"/>
                  <a:pt x="108" y="14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8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978200" y="3722760"/>
            <a:ext cx="14266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→ slower oscillation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895320" y="4027320"/>
            <a:ext cx="38260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This is the knob we turn to simulate the alpha slowing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733320" y="48099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2"/>
                  <a:pt x="76" y="133"/>
                  <a:pt x="67" y="133"/>
                </a:cubicBezTo>
                <a:cubicBezTo>
                  <a:pt x="58" y="133"/>
                  <a:pt x="50" y="132"/>
                  <a:pt x="42" y="128"/>
                </a:cubicBezTo>
                <a:cubicBezTo>
                  <a:pt x="34" y="125"/>
                  <a:pt x="26" y="120"/>
                  <a:pt x="20" y="114"/>
                </a:cubicBezTo>
                <a:cubicBezTo>
                  <a:pt x="14" y="108"/>
                  <a:pt x="8" y="101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2"/>
                </a:cubicBezTo>
                <a:cubicBezTo>
                  <a:pt x="8" y="33"/>
                  <a:pt x="14" y="26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6"/>
                  <a:pt x="125" y="33"/>
                  <a:pt x="128" y="42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85800" y="4409640"/>
            <a:ext cx="14252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0F766E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SIMPLIFICATIONS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733320" y="51148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1"/>
                </a:cubicBezTo>
                <a:cubicBezTo>
                  <a:pt x="125" y="99"/>
                  <a:pt x="120" y="106"/>
                  <a:pt x="114" y="113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4" y="125"/>
                  <a:pt x="26" y="120"/>
                  <a:pt x="20" y="113"/>
                </a:cubicBezTo>
                <a:cubicBezTo>
                  <a:pt x="14" y="106"/>
                  <a:pt x="8" y="99"/>
                  <a:pt x="5" y="91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0"/>
                </a:cubicBezTo>
                <a:cubicBezTo>
                  <a:pt x="8" y="32"/>
                  <a:pt x="14" y="25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2"/>
                  <a:pt x="128" y="40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895320" y="4703760"/>
            <a:ext cx="28112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Identical parameters across all 8 nodes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733320" y="54100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2"/>
                </a:cubicBezTo>
                <a:cubicBezTo>
                  <a:pt x="125" y="100"/>
                  <a:pt x="120" y="108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4" y="125"/>
                  <a:pt x="26" y="120"/>
                  <a:pt x="20" y="114"/>
                </a:cubicBezTo>
                <a:cubicBezTo>
                  <a:pt x="14" y="108"/>
                  <a:pt x="8" y="100"/>
                  <a:pt x="5" y="92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4" y="25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3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895320" y="5008680"/>
            <a:ext cx="23716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All-to-all coupling between nodes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895320" y="5303880"/>
            <a:ext cx="6382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No noise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1834640" y="6488280"/>
            <a:ext cx="1137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.SFNS"/>
                <a:ea typeface=".SFN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7548480" y="2046240"/>
            <a:ext cx="1379160" cy="413640"/>
          </a:xfrm>
          <a:custGeom>
            <a:avLst/>
            <a:gdLst/>
            <a:ahLst/>
            <a:rect l="0" t="0" r="r" b="b"/>
            <a:pathLst>
              <a:path w="3831" h="1149">
                <a:moveTo>
                  <a:pt x="155" y="0"/>
                </a:moveTo>
                <a:lnTo>
                  <a:pt x="3678" y="0"/>
                </a:lnTo>
                <a:cubicBezTo>
                  <a:pt x="3688" y="0"/>
                  <a:pt x="3698" y="1"/>
                  <a:pt x="3708" y="3"/>
                </a:cubicBezTo>
                <a:cubicBezTo>
                  <a:pt x="3718" y="5"/>
                  <a:pt x="3728" y="8"/>
                  <a:pt x="3737" y="12"/>
                </a:cubicBezTo>
                <a:cubicBezTo>
                  <a:pt x="3746" y="16"/>
                  <a:pt x="3755" y="20"/>
                  <a:pt x="3763" y="26"/>
                </a:cubicBezTo>
                <a:cubicBezTo>
                  <a:pt x="3772" y="32"/>
                  <a:pt x="3780" y="38"/>
                  <a:pt x="3787" y="45"/>
                </a:cubicBezTo>
                <a:cubicBezTo>
                  <a:pt x="3794" y="52"/>
                  <a:pt x="3800" y="60"/>
                  <a:pt x="3806" y="68"/>
                </a:cubicBezTo>
                <a:cubicBezTo>
                  <a:pt x="3811" y="77"/>
                  <a:pt x="3816" y="85"/>
                  <a:pt x="3820" y="95"/>
                </a:cubicBezTo>
                <a:cubicBezTo>
                  <a:pt x="3824" y="104"/>
                  <a:pt x="3827" y="114"/>
                  <a:pt x="3829" y="123"/>
                </a:cubicBezTo>
                <a:cubicBezTo>
                  <a:pt x="3831" y="133"/>
                  <a:pt x="3831" y="143"/>
                  <a:pt x="3831" y="153"/>
                </a:cubicBezTo>
                <a:lnTo>
                  <a:pt x="3831" y="996"/>
                </a:lnTo>
                <a:cubicBezTo>
                  <a:pt x="3831" y="1006"/>
                  <a:pt x="3831" y="1016"/>
                  <a:pt x="3829" y="1026"/>
                </a:cubicBezTo>
                <a:cubicBezTo>
                  <a:pt x="3827" y="1036"/>
                  <a:pt x="3824" y="1046"/>
                  <a:pt x="3820" y="1055"/>
                </a:cubicBezTo>
                <a:cubicBezTo>
                  <a:pt x="3816" y="1064"/>
                  <a:pt x="3811" y="1073"/>
                  <a:pt x="3806" y="1081"/>
                </a:cubicBezTo>
                <a:cubicBezTo>
                  <a:pt x="3800" y="1090"/>
                  <a:pt x="3794" y="1097"/>
                  <a:pt x="3787" y="1105"/>
                </a:cubicBezTo>
                <a:cubicBezTo>
                  <a:pt x="3780" y="1112"/>
                  <a:pt x="3772" y="1118"/>
                  <a:pt x="3763" y="1124"/>
                </a:cubicBezTo>
                <a:cubicBezTo>
                  <a:pt x="3755" y="1129"/>
                  <a:pt x="3746" y="1134"/>
                  <a:pt x="3737" y="1138"/>
                </a:cubicBezTo>
                <a:cubicBezTo>
                  <a:pt x="3728" y="1142"/>
                  <a:pt x="3718" y="1144"/>
                  <a:pt x="3708" y="1146"/>
                </a:cubicBezTo>
                <a:cubicBezTo>
                  <a:pt x="3698" y="1148"/>
                  <a:pt x="3688" y="1149"/>
                  <a:pt x="3678" y="1149"/>
                </a:cubicBezTo>
                <a:lnTo>
                  <a:pt x="155" y="1149"/>
                </a:lnTo>
                <a:cubicBezTo>
                  <a:pt x="145" y="1149"/>
                  <a:pt x="135" y="1148"/>
                  <a:pt x="125" y="1146"/>
                </a:cubicBezTo>
                <a:cubicBezTo>
                  <a:pt x="115" y="1144"/>
                  <a:pt x="105" y="1142"/>
                  <a:pt x="95" y="1138"/>
                </a:cubicBezTo>
                <a:cubicBezTo>
                  <a:pt x="86" y="1134"/>
                  <a:pt x="77" y="1129"/>
                  <a:pt x="68" y="1124"/>
                </a:cubicBezTo>
                <a:cubicBezTo>
                  <a:pt x="60" y="1118"/>
                  <a:pt x="52" y="1112"/>
                  <a:pt x="45" y="1105"/>
                </a:cubicBezTo>
                <a:cubicBezTo>
                  <a:pt x="38" y="1097"/>
                  <a:pt x="32" y="1090"/>
                  <a:pt x="26" y="1081"/>
                </a:cubicBezTo>
                <a:cubicBezTo>
                  <a:pt x="21" y="1073"/>
                  <a:pt x="16" y="1064"/>
                  <a:pt x="12" y="1055"/>
                </a:cubicBezTo>
                <a:cubicBezTo>
                  <a:pt x="8" y="1046"/>
                  <a:pt x="5" y="1036"/>
                  <a:pt x="3" y="1026"/>
                </a:cubicBezTo>
                <a:cubicBezTo>
                  <a:pt x="1" y="1016"/>
                  <a:pt x="0" y="1006"/>
                  <a:pt x="0" y="996"/>
                </a:cubicBezTo>
                <a:lnTo>
                  <a:pt x="0" y="153"/>
                </a:lnTo>
                <a:cubicBezTo>
                  <a:pt x="0" y="143"/>
                  <a:pt x="1" y="133"/>
                  <a:pt x="3" y="123"/>
                </a:cubicBezTo>
                <a:cubicBezTo>
                  <a:pt x="5" y="114"/>
                  <a:pt x="8" y="104"/>
                  <a:pt x="12" y="95"/>
                </a:cubicBezTo>
                <a:cubicBezTo>
                  <a:pt x="16" y="85"/>
                  <a:pt x="21" y="77"/>
                  <a:pt x="26" y="68"/>
                </a:cubicBezTo>
                <a:cubicBezTo>
                  <a:pt x="32" y="60"/>
                  <a:pt x="38" y="52"/>
                  <a:pt x="45" y="45"/>
                </a:cubicBezTo>
                <a:cubicBezTo>
                  <a:pt x="52" y="38"/>
                  <a:pt x="60" y="32"/>
                  <a:pt x="68" y="26"/>
                </a:cubicBezTo>
                <a:cubicBezTo>
                  <a:pt x="77" y="20"/>
                  <a:pt x="86" y="16"/>
                  <a:pt x="95" y="12"/>
                </a:cubicBezTo>
                <a:cubicBezTo>
                  <a:pt x="105" y="8"/>
                  <a:pt x="115" y="5"/>
                  <a:pt x="125" y="3"/>
                </a:cubicBezTo>
                <a:cubicBezTo>
                  <a:pt x="135" y="1"/>
                  <a:pt x="145" y="0"/>
                  <a:pt x="155" y="0"/>
                </a:cubicBezTo>
                <a:close/>
              </a:path>
            </a:pathLst>
          </a:custGeom>
          <a:solidFill>
            <a:srgbClr val="0F766E"/>
          </a:solidFill>
          <a:ln w="6840">
            <a:solidFill>
              <a:srgbClr val="0F766E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963200" y="1596960"/>
            <a:ext cx="100872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11827"/>
                </a:solidFill>
                <a:effectLst/>
                <a:uFillTx/>
                <a:latin typeface=".SFNS-Regular_wdth_opsz120000_GRAD_wght2BC0000"/>
                <a:ea typeface=".SFNS-Regular_wdth_opsz120000_GRAD_wght2BC0000"/>
              </a:rPr>
              <a:t>Pipeline status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660080" y="2122560"/>
            <a:ext cx="1264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60" b="1" u="none" strike="noStrike">
                <a:solidFill>
                  <a:srgbClr val="FFFFFF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02_simulate_network.py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8817120" y="2004840"/>
            <a:ext cx="151920" cy="151920"/>
          </a:xfrm>
          <a:custGeom>
            <a:avLst/>
            <a:gdLst/>
            <a:ahLst/>
            <a:rect l="0" t="0" r="r" b="b"/>
            <a:pathLst>
              <a:path w="422" h="422">
                <a:moveTo>
                  <a:pt x="422" y="212"/>
                </a:moveTo>
                <a:cubicBezTo>
                  <a:pt x="422" y="226"/>
                  <a:pt x="421" y="239"/>
                  <a:pt x="418" y="253"/>
                </a:cubicBezTo>
                <a:cubicBezTo>
                  <a:pt x="416" y="267"/>
                  <a:pt x="412" y="280"/>
                  <a:pt x="406" y="292"/>
                </a:cubicBezTo>
                <a:cubicBezTo>
                  <a:pt x="401" y="305"/>
                  <a:pt x="395" y="317"/>
                  <a:pt x="387" y="329"/>
                </a:cubicBezTo>
                <a:cubicBezTo>
                  <a:pt x="379" y="340"/>
                  <a:pt x="370" y="351"/>
                  <a:pt x="361" y="361"/>
                </a:cubicBezTo>
                <a:cubicBezTo>
                  <a:pt x="351" y="371"/>
                  <a:pt x="340" y="379"/>
                  <a:pt x="329" y="387"/>
                </a:cubicBezTo>
                <a:cubicBezTo>
                  <a:pt x="317" y="395"/>
                  <a:pt x="305" y="401"/>
                  <a:pt x="292" y="406"/>
                </a:cubicBezTo>
                <a:cubicBezTo>
                  <a:pt x="280" y="412"/>
                  <a:pt x="266" y="416"/>
                  <a:pt x="253" y="418"/>
                </a:cubicBezTo>
                <a:cubicBezTo>
                  <a:pt x="239" y="421"/>
                  <a:pt x="226" y="422"/>
                  <a:pt x="212" y="422"/>
                </a:cubicBezTo>
                <a:cubicBezTo>
                  <a:pt x="198" y="422"/>
                  <a:pt x="184" y="421"/>
                  <a:pt x="171" y="418"/>
                </a:cubicBezTo>
                <a:cubicBezTo>
                  <a:pt x="157" y="416"/>
                  <a:pt x="144" y="412"/>
                  <a:pt x="130" y="406"/>
                </a:cubicBezTo>
                <a:cubicBezTo>
                  <a:pt x="117" y="401"/>
                  <a:pt x="105" y="395"/>
                  <a:pt x="94" y="387"/>
                </a:cubicBezTo>
                <a:cubicBezTo>
                  <a:pt x="82" y="379"/>
                  <a:pt x="72" y="371"/>
                  <a:pt x="62" y="361"/>
                </a:cubicBezTo>
                <a:cubicBezTo>
                  <a:pt x="52" y="351"/>
                  <a:pt x="43" y="340"/>
                  <a:pt x="36" y="329"/>
                </a:cubicBezTo>
                <a:cubicBezTo>
                  <a:pt x="28" y="317"/>
                  <a:pt x="21" y="305"/>
                  <a:pt x="16" y="292"/>
                </a:cubicBezTo>
                <a:cubicBezTo>
                  <a:pt x="11" y="280"/>
                  <a:pt x="7" y="267"/>
                  <a:pt x="4" y="253"/>
                </a:cubicBezTo>
                <a:cubicBezTo>
                  <a:pt x="1" y="239"/>
                  <a:pt x="0" y="226"/>
                  <a:pt x="0" y="212"/>
                </a:cubicBez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9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2" y="44"/>
                  <a:pt x="94" y="36"/>
                </a:cubicBezTo>
                <a:cubicBezTo>
                  <a:pt x="105" y="28"/>
                  <a:pt x="117" y="22"/>
                  <a:pt x="130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cubicBezTo>
                  <a:pt x="226" y="0"/>
                  <a:pt x="239" y="2"/>
                  <a:pt x="253" y="4"/>
                </a:cubicBezTo>
                <a:cubicBezTo>
                  <a:pt x="266" y="7"/>
                  <a:pt x="280" y="11"/>
                  <a:pt x="292" y="16"/>
                </a:cubicBezTo>
                <a:cubicBezTo>
                  <a:pt x="305" y="22"/>
                  <a:pt x="317" y="28"/>
                  <a:pt x="329" y="36"/>
                </a:cubicBezTo>
                <a:cubicBezTo>
                  <a:pt x="340" y="44"/>
                  <a:pt x="351" y="52"/>
                  <a:pt x="361" y="62"/>
                </a:cubicBezTo>
                <a:cubicBezTo>
                  <a:pt x="370" y="72"/>
                  <a:pt x="379" y="83"/>
                  <a:pt x="387" y="94"/>
                </a:cubicBezTo>
                <a:cubicBezTo>
                  <a:pt x="395" y="106"/>
                  <a:pt x="401" y="119"/>
                  <a:pt x="406" y="131"/>
                </a:cubicBezTo>
                <a:cubicBezTo>
                  <a:pt x="412" y="144"/>
                  <a:pt x="416" y="157"/>
                  <a:pt x="418" y="171"/>
                </a:cubicBezTo>
                <a:cubicBezTo>
                  <a:pt x="421" y="184"/>
                  <a:pt x="422" y="198"/>
                  <a:pt x="422" y="212"/>
                </a:cubicBezTo>
                <a:close/>
              </a:path>
            </a:pathLst>
          </a:custGeom>
          <a:solidFill>
            <a:srgbClr val="1453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8817120" y="2004840"/>
            <a:ext cx="151920" cy="151920"/>
          </a:xfrm>
          <a:custGeom>
            <a:avLst/>
            <a:gdLst/>
            <a:ahLst/>
            <a:rect l="0" t="0" r="r" b="b"/>
            <a:pathLst>
              <a:path w="422" h="422">
                <a:moveTo>
                  <a:pt x="422" y="212"/>
                </a:moveTo>
                <a:cubicBezTo>
                  <a:pt x="422" y="226"/>
                  <a:pt x="421" y="239"/>
                  <a:pt x="418" y="253"/>
                </a:cubicBezTo>
                <a:cubicBezTo>
                  <a:pt x="416" y="267"/>
                  <a:pt x="412" y="280"/>
                  <a:pt x="406" y="292"/>
                </a:cubicBezTo>
                <a:cubicBezTo>
                  <a:pt x="401" y="305"/>
                  <a:pt x="395" y="317"/>
                  <a:pt x="387" y="329"/>
                </a:cubicBezTo>
                <a:cubicBezTo>
                  <a:pt x="379" y="340"/>
                  <a:pt x="370" y="351"/>
                  <a:pt x="361" y="361"/>
                </a:cubicBezTo>
                <a:cubicBezTo>
                  <a:pt x="351" y="371"/>
                  <a:pt x="340" y="379"/>
                  <a:pt x="329" y="387"/>
                </a:cubicBezTo>
                <a:cubicBezTo>
                  <a:pt x="317" y="395"/>
                  <a:pt x="305" y="401"/>
                  <a:pt x="292" y="406"/>
                </a:cubicBezTo>
                <a:cubicBezTo>
                  <a:pt x="280" y="412"/>
                  <a:pt x="266" y="416"/>
                  <a:pt x="253" y="418"/>
                </a:cubicBezTo>
                <a:cubicBezTo>
                  <a:pt x="239" y="421"/>
                  <a:pt x="226" y="422"/>
                  <a:pt x="212" y="422"/>
                </a:cubicBezTo>
                <a:cubicBezTo>
                  <a:pt x="198" y="422"/>
                  <a:pt x="184" y="421"/>
                  <a:pt x="171" y="418"/>
                </a:cubicBezTo>
                <a:cubicBezTo>
                  <a:pt x="157" y="416"/>
                  <a:pt x="144" y="412"/>
                  <a:pt x="130" y="406"/>
                </a:cubicBezTo>
                <a:cubicBezTo>
                  <a:pt x="117" y="401"/>
                  <a:pt x="105" y="395"/>
                  <a:pt x="94" y="387"/>
                </a:cubicBezTo>
                <a:cubicBezTo>
                  <a:pt x="82" y="379"/>
                  <a:pt x="72" y="371"/>
                  <a:pt x="62" y="361"/>
                </a:cubicBezTo>
                <a:cubicBezTo>
                  <a:pt x="52" y="351"/>
                  <a:pt x="43" y="340"/>
                  <a:pt x="36" y="329"/>
                </a:cubicBezTo>
                <a:cubicBezTo>
                  <a:pt x="28" y="317"/>
                  <a:pt x="21" y="305"/>
                  <a:pt x="16" y="292"/>
                </a:cubicBezTo>
                <a:cubicBezTo>
                  <a:pt x="11" y="280"/>
                  <a:pt x="7" y="267"/>
                  <a:pt x="4" y="253"/>
                </a:cubicBezTo>
                <a:cubicBezTo>
                  <a:pt x="1" y="239"/>
                  <a:pt x="0" y="226"/>
                  <a:pt x="0" y="212"/>
                </a:cubicBez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9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2" y="44"/>
                  <a:pt x="94" y="36"/>
                </a:cubicBezTo>
                <a:cubicBezTo>
                  <a:pt x="105" y="28"/>
                  <a:pt x="117" y="22"/>
                  <a:pt x="130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cubicBezTo>
                  <a:pt x="226" y="0"/>
                  <a:pt x="239" y="2"/>
                  <a:pt x="253" y="4"/>
                </a:cubicBezTo>
                <a:cubicBezTo>
                  <a:pt x="266" y="7"/>
                  <a:pt x="280" y="11"/>
                  <a:pt x="292" y="16"/>
                </a:cubicBezTo>
                <a:cubicBezTo>
                  <a:pt x="305" y="22"/>
                  <a:pt x="317" y="28"/>
                  <a:pt x="329" y="36"/>
                </a:cubicBezTo>
                <a:cubicBezTo>
                  <a:pt x="340" y="44"/>
                  <a:pt x="351" y="52"/>
                  <a:pt x="361" y="62"/>
                </a:cubicBezTo>
                <a:cubicBezTo>
                  <a:pt x="370" y="72"/>
                  <a:pt x="379" y="83"/>
                  <a:pt x="387" y="94"/>
                </a:cubicBezTo>
                <a:cubicBezTo>
                  <a:pt x="395" y="106"/>
                  <a:pt x="401" y="119"/>
                  <a:pt x="406" y="131"/>
                </a:cubicBezTo>
                <a:cubicBezTo>
                  <a:pt x="412" y="144"/>
                  <a:pt x="416" y="157"/>
                  <a:pt x="418" y="171"/>
                </a:cubicBezTo>
                <a:cubicBezTo>
                  <a:pt x="421" y="184"/>
                  <a:pt x="422" y="198"/>
                  <a:pt x="422" y="212"/>
                </a:cubicBezTo>
                <a:close/>
              </a:path>
            </a:pathLst>
          </a:custGeom>
          <a:noFill/>
          <a:ln w="13680">
            <a:solidFill>
              <a:srgbClr val="FFFFFF"/>
            </a:solidFill>
            <a:miter/>
          </a:ln>
        </p:spPr>
        <p:txBody>
          <a:bodyPr lIns="6840" tIns="6840" rIns="6840" bIns="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8858520" y="2053080"/>
            <a:ext cx="76320" cy="55440"/>
          </a:xfrm>
          <a:custGeom>
            <a:avLst/>
            <a:gdLst/>
            <a:ahLst/>
            <a:rect l="0" t="0" r="r" b="b"/>
            <a:pathLst>
              <a:path fill="none" w="212" h="154">
                <a:moveTo>
                  <a:pt x="0" y="78"/>
                </a:moveTo>
                <a:lnTo>
                  <a:pt x="78" y="154"/>
                </a:lnTo>
                <a:lnTo>
                  <a:pt x="212" y="0"/>
                </a:lnTo>
              </a:path>
            </a:pathLst>
          </a:custGeom>
          <a:ln cap="rnd" w="15120">
            <a:solidFill>
              <a:srgbClr val="FFFFFF"/>
            </a:solidFill>
            <a:round/>
          </a:ln>
        </p:spPr>
        <p:txBody>
          <a:bodyPr lIns="7560" tIns="7560" rIns="7560" bIns="75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9134280" y="2046240"/>
            <a:ext cx="965520" cy="413640"/>
          </a:xfrm>
          <a:custGeom>
            <a:avLst/>
            <a:gdLst/>
            <a:ahLst/>
            <a:rect l="0" t="0" r="r" b="b"/>
            <a:pathLst>
              <a:path w="2682" h="1149">
                <a:moveTo>
                  <a:pt x="0" y="0"/>
                </a:moveTo>
                <a:lnTo>
                  <a:pt x="2682" y="0"/>
                </a:lnTo>
                <a:lnTo>
                  <a:pt x="2682" y="1149"/>
                </a:lnTo>
                <a:lnTo>
                  <a:pt x="0" y="114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9134280" y="2046240"/>
            <a:ext cx="965520" cy="413640"/>
          </a:xfrm>
          <a:custGeom>
            <a:avLst/>
            <a:gdLst/>
            <a:ahLst/>
            <a:rect l="0" t="0" r="r" b="b"/>
            <a:pathLst>
              <a:path w="2682" h="1149">
                <a:moveTo>
                  <a:pt x="0" y="0"/>
                </a:moveTo>
                <a:lnTo>
                  <a:pt x="2682" y="0"/>
                </a:lnTo>
                <a:lnTo>
                  <a:pt x="2682" y="1149"/>
                </a:lnTo>
                <a:lnTo>
                  <a:pt x="0" y="1149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6B7280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909560" y="2275560"/>
            <a:ext cx="614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A7F3D0"/>
                </a:solidFill>
                <a:effectLst/>
                <a:uFillTx/>
                <a:latin typeface=".SFNS"/>
                <a:ea typeface=".SFNS"/>
              </a:rPr>
              <a:t>uses src/model.py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9345960" y="2122560"/>
            <a:ext cx="598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60" b="1" u="none" strike="noStrike">
                <a:solidFill>
                  <a:srgbClr val="1F293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peak_curve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8927280" y="2252880"/>
            <a:ext cx="207000" cy="0"/>
          </a:xfrm>
          <a:prstGeom prst="line">
            <a:avLst/>
          </a:prstGeom>
          <a:ln w="1368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tIns="-6840" rIns="6840" bIns="-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9072360" y="2218680"/>
            <a:ext cx="69120" cy="69120"/>
          </a:xfrm>
          <a:custGeom>
            <a:avLst/>
            <a:gdLst/>
            <a:ahLst/>
            <a:rect l="0" t="0" r="r" b="b"/>
            <a:pathLst>
              <a:path w="192" h="192">
                <a:moveTo>
                  <a:pt x="0" y="192"/>
                </a:moveTo>
                <a:lnTo>
                  <a:pt x="192" y="96"/>
                </a:lnTo>
                <a:lnTo>
                  <a:pt x="0" y="0"/>
                </a:lnTo>
                <a:lnTo>
                  <a:pt x="0" y="192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9617040" y="2459520"/>
            <a:ext cx="0" cy="551160"/>
          </a:xfrm>
          <a:prstGeom prst="line">
            <a:avLst/>
          </a:prstGeom>
          <a:ln w="1368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tIns="6840" rIns="6840" bIns="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9582480" y="2948760"/>
            <a:ext cx="69120" cy="69120"/>
          </a:xfrm>
          <a:custGeom>
            <a:avLst/>
            <a:gdLst/>
            <a:ahLst/>
            <a:rect l="0" t="0" r="r" b="b"/>
            <a:pathLst>
              <a:path w="192" h="192">
                <a:moveTo>
                  <a:pt x="192" y="0"/>
                </a:moveTo>
                <a:lnTo>
                  <a:pt x="0" y="0"/>
                </a:lnTo>
                <a:lnTo>
                  <a:pt x="97" y="192"/>
                </a:lnTo>
                <a:lnTo>
                  <a:pt x="192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5135760" y="3010680"/>
            <a:ext cx="758520" cy="413640"/>
          </a:xfrm>
          <a:custGeom>
            <a:avLst/>
            <a:gdLst/>
            <a:ahLst/>
            <a:rect l="0" t="0" r="r" b="b"/>
            <a:pathLst>
              <a:path w="2107" h="1149">
                <a:moveTo>
                  <a:pt x="0" y="0"/>
                </a:moveTo>
                <a:lnTo>
                  <a:pt x="2107" y="0"/>
                </a:lnTo>
                <a:lnTo>
                  <a:pt x="2107" y="1149"/>
                </a:lnTo>
                <a:lnTo>
                  <a:pt x="0" y="114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5135760" y="3010680"/>
            <a:ext cx="758520" cy="413640"/>
          </a:xfrm>
          <a:custGeom>
            <a:avLst/>
            <a:gdLst/>
            <a:ahLst/>
            <a:rect l="0" t="0" r="r" b="b"/>
            <a:pathLst>
              <a:path w="2107" h="1149">
                <a:moveTo>
                  <a:pt x="0" y="0"/>
                </a:moveTo>
                <a:lnTo>
                  <a:pt x="2107" y="0"/>
                </a:lnTo>
                <a:lnTo>
                  <a:pt x="2107" y="1149"/>
                </a:lnTo>
                <a:lnTo>
                  <a:pt x="0" y="1149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6B7280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9538920" y="2268000"/>
            <a:ext cx="1468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6B7280"/>
                </a:solidFill>
                <a:effectLst/>
                <a:uFillTx/>
                <a:latin typeface=".SFNS"/>
                <a:ea typeface=".SFNS"/>
              </a:rPr>
              <a:t>.csv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341320" y="3087000"/>
            <a:ext cx="395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60" b="1" u="none" strike="noStrike">
                <a:solidFill>
                  <a:srgbClr val="1F293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.fif files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100920" y="3010680"/>
            <a:ext cx="1379160" cy="413640"/>
          </a:xfrm>
          <a:custGeom>
            <a:avLst/>
            <a:gdLst/>
            <a:ahLst/>
            <a:rect l="0" t="0" r="r" b="b"/>
            <a:pathLst>
              <a:path w="3831" h="1149">
                <a:moveTo>
                  <a:pt x="153" y="0"/>
                </a:moveTo>
                <a:lnTo>
                  <a:pt x="3678" y="0"/>
                </a:lnTo>
                <a:cubicBezTo>
                  <a:pt x="3688" y="0"/>
                  <a:pt x="3698" y="1"/>
                  <a:pt x="3708" y="3"/>
                </a:cubicBezTo>
                <a:cubicBezTo>
                  <a:pt x="3717" y="5"/>
                  <a:pt x="3727" y="8"/>
                  <a:pt x="3736" y="12"/>
                </a:cubicBezTo>
                <a:cubicBezTo>
                  <a:pt x="3746" y="16"/>
                  <a:pt x="3754" y="20"/>
                  <a:pt x="3763" y="26"/>
                </a:cubicBezTo>
                <a:cubicBezTo>
                  <a:pt x="3771" y="32"/>
                  <a:pt x="3779" y="38"/>
                  <a:pt x="3786" y="45"/>
                </a:cubicBezTo>
                <a:cubicBezTo>
                  <a:pt x="3793" y="52"/>
                  <a:pt x="3799" y="60"/>
                  <a:pt x="3805" y="68"/>
                </a:cubicBezTo>
                <a:cubicBezTo>
                  <a:pt x="3811" y="77"/>
                  <a:pt x="3815" y="85"/>
                  <a:pt x="3819" y="95"/>
                </a:cubicBezTo>
                <a:cubicBezTo>
                  <a:pt x="3823" y="104"/>
                  <a:pt x="3826" y="114"/>
                  <a:pt x="3828" y="123"/>
                </a:cubicBezTo>
                <a:cubicBezTo>
                  <a:pt x="3830" y="133"/>
                  <a:pt x="3831" y="143"/>
                  <a:pt x="3831" y="153"/>
                </a:cubicBezTo>
                <a:lnTo>
                  <a:pt x="3831" y="996"/>
                </a:lnTo>
                <a:cubicBezTo>
                  <a:pt x="3831" y="1006"/>
                  <a:pt x="3830" y="1016"/>
                  <a:pt x="3828" y="1026"/>
                </a:cubicBezTo>
                <a:cubicBezTo>
                  <a:pt x="3826" y="1036"/>
                  <a:pt x="3823" y="1045"/>
                  <a:pt x="3819" y="1055"/>
                </a:cubicBezTo>
                <a:cubicBezTo>
                  <a:pt x="3815" y="1064"/>
                  <a:pt x="3811" y="1073"/>
                  <a:pt x="3805" y="1081"/>
                </a:cubicBezTo>
                <a:cubicBezTo>
                  <a:pt x="3799" y="1090"/>
                  <a:pt x="3793" y="1097"/>
                  <a:pt x="3786" y="1104"/>
                </a:cubicBezTo>
                <a:cubicBezTo>
                  <a:pt x="3779" y="1112"/>
                  <a:pt x="3771" y="1118"/>
                  <a:pt x="3763" y="1123"/>
                </a:cubicBezTo>
                <a:cubicBezTo>
                  <a:pt x="3754" y="1129"/>
                  <a:pt x="3746" y="1134"/>
                  <a:pt x="3736" y="1138"/>
                </a:cubicBezTo>
                <a:cubicBezTo>
                  <a:pt x="3727" y="1141"/>
                  <a:pt x="3717" y="1144"/>
                  <a:pt x="3708" y="1146"/>
                </a:cubicBezTo>
                <a:cubicBezTo>
                  <a:pt x="3698" y="1148"/>
                  <a:pt x="3688" y="1149"/>
                  <a:pt x="3678" y="1149"/>
                </a:cubicBezTo>
                <a:lnTo>
                  <a:pt x="153" y="1149"/>
                </a:lnTo>
                <a:cubicBezTo>
                  <a:pt x="143" y="1149"/>
                  <a:pt x="133" y="1148"/>
                  <a:pt x="123" y="1146"/>
                </a:cubicBezTo>
                <a:cubicBezTo>
                  <a:pt x="113" y="1144"/>
                  <a:pt x="104" y="1141"/>
                  <a:pt x="94" y="1138"/>
                </a:cubicBezTo>
                <a:cubicBezTo>
                  <a:pt x="85" y="1134"/>
                  <a:pt x="76" y="1129"/>
                  <a:pt x="68" y="1123"/>
                </a:cubicBezTo>
                <a:cubicBezTo>
                  <a:pt x="59" y="1118"/>
                  <a:pt x="52" y="1112"/>
                  <a:pt x="45" y="1104"/>
                </a:cubicBezTo>
                <a:cubicBezTo>
                  <a:pt x="38" y="1097"/>
                  <a:pt x="31" y="1090"/>
                  <a:pt x="26" y="1081"/>
                </a:cubicBezTo>
                <a:cubicBezTo>
                  <a:pt x="20" y="1073"/>
                  <a:pt x="15" y="1064"/>
                  <a:pt x="11" y="1055"/>
                </a:cubicBezTo>
                <a:cubicBezTo>
                  <a:pt x="8" y="1045"/>
                  <a:pt x="5" y="1036"/>
                  <a:pt x="3" y="1026"/>
                </a:cubicBezTo>
                <a:cubicBezTo>
                  <a:pt x="1" y="1016"/>
                  <a:pt x="0" y="1006"/>
                  <a:pt x="0" y="996"/>
                </a:cubicBezTo>
                <a:lnTo>
                  <a:pt x="0" y="153"/>
                </a:lnTo>
                <a:cubicBezTo>
                  <a:pt x="0" y="143"/>
                  <a:pt x="1" y="133"/>
                  <a:pt x="3" y="123"/>
                </a:cubicBezTo>
                <a:cubicBezTo>
                  <a:pt x="5" y="114"/>
                  <a:pt x="8" y="104"/>
                  <a:pt x="11" y="95"/>
                </a:cubicBezTo>
                <a:cubicBezTo>
                  <a:pt x="15" y="85"/>
                  <a:pt x="20" y="77"/>
                  <a:pt x="26" y="68"/>
                </a:cubicBezTo>
                <a:cubicBezTo>
                  <a:pt x="31" y="60"/>
                  <a:pt x="38" y="52"/>
                  <a:pt x="45" y="45"/>
                </a:cubicBezTo>
                <a:cubicBezTo>
                  <a:pt x="52" y="38"/>
                  <a:pt x="59" y="32"/>
                  <a:pt x="68" y="26"/>
                </a:cubicBezTo>
                <a:cubicBezTo>
                  <a:pt x="76" y="20"/>
                  <a:pt x="85" y="16"/>
                  <a:pt x="94" y="12"/>
                </a:cubicBezTo>
                <a:cubicBezTo>
                  <a:pt x="104" y="8"/>
                  <a:pt x="113" y="5"/>
                  <a:pt x="123" y="3"/>
                </a:cubicBezTo>
                <a:cubicBezTo>
                  <a:pt x="133" y="1"/>
                  <a:pt x="143" y="0"/>
                  <a:pt x="153" y="0"/>
                </a:cubicBez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6100920" y="3010680"/>
            <a:ext cx="1379160" cy="413640"/>
          </a:xfrm>
          <a:custGeom>
            <a:avLst/>
            <a:gdLst/>
            <a:ahLst/>
            <a:rect l="0" t="0" r="r" b="b"/>
            <a:pathLst>
              <a:path w="3831" h="1149">
                <a:moveTo>
                  <a:pt x="153" y="0"/>
                </a:moveTo>
                <a:lnTo>
                  <a:pt x="3678" y="0"/>
                </a:lnTo>
                <a:cubicBezTo>
                  <a:pt x="3688" y="0"/>
                  <a:pt x="3698" y="1"/>
                  <a:pt x="3708" y="3"/>
                </a:cubicBezTo>
                <a:cubicBezTo>
                  <a:pt x="3717" y="5"/>
                  <a:pt x="3727" y="8"/>
                  <a:pt x="3736" y="12"/>
                </a:cubicBezTo>
                <a:cubicBezTo>
                  <a:pt x="3746" y="16"/>
                  <a:pt x="3754" y="20"/>
                  <a:pt x="3763" y="26"/>
                </a:cubicBezTo>
                <a:cubicBezTo>
                  <a:pt x="3771" y="32"/>
                  <a:pt x="3779" y="38"/>
                  <a:pt x="3786" y="45"/>
                </a:cubicBezTo>
                <a:cubicBezTo>
                  <a:pt x="3793" y="52"/>
                  <a:pt x="3799" y="60"/>
                  <a:pt x="3805" y="68"/>
                </a:cubicBezTo>
                <a:cubicBezTo>
                  <a:pt x="3811" y="77"/>
                  <a:pt x="3815" y="85"/>
                  <a:pt x="3819" y="95"/>
                </a:cubicBezTo>
                <a:cubicBezTo>
                  <a:pt x="3823" y="104"/>
                  <a:pt x="3826" y="114"/>
                  <a:pt x="3828" y="123"/>
                </a:cubicBezTo>
                <a:cubicBezTo>
                  <a:pt x="3830" y="133"/>
                  <a:pt x="3831" y="143"/>
                  <a:pt x="3831" y="153"/>
                </a:cubicBezTo>
                <a:lnTo>
                  <a:pt x="3831" y="996"/>
                </a:lnTo>
                <a:cubicBezTo>
                  <a:pt x="3831" y="1006"/>
                  <a:pt x="3830" y="1016"/>
                  <a:pt x="3828" y="1026"/>
                </a:cubicBezTo>
                <a:cubicBezTo>
                  <a:pt x="3826" y="1036"/>
                  <a:pt x="3823" y="1045"/>
                  <a:pt x="3819" y="1055"/>
                </a:cubicBezTo>
                <a:cubicBezTo>
                  <a:pt x="3815" y="1064"/>
                  <a:pt x="3811" y="1073"/>
                  <a:pt x="3805" y="1081"/>
                </a:cubicBezTo>
                <a:cubicBezTo>
                  <a:pt x="3799" y="1090"/>
                  <a:pt x="3793" y="1097"/>
                  <a:pt x="3786" y="1104"/>
                </a:cubicBezTo>
                <a:cubicBezTo>
                  <a:pt x="3779" y="1112"/>
                  <a:pt x="3771" y="1118"/>
                  <a:pt x="3763" y="1123"/>
                </a:cubicBezTo>
                <a:cubicBezTo>
                  <a:pt x="3754" y="1129"/>
                  <a:pt x="3746" y="1134"/>
                  <a:pt x="3736" y="1138"/>
                </a:cubicBezTo>
                <a:cubicBezTo>
                  <a:pt x="3727" y="1141"/>
                  <a:pt x="3717" y="1144"/>
                  <a:pt x="3708" y="1146"/>
                </a:cubicBezTo>
                <a:cubicBezTo>
                  <a:pt x="3698" y="1148"/>
                  <a:pt x="3688" y="1149"/>
                  <a:pt x="3678" y="1149"/>
                </a:cubicBezTo>
                <a:lnTo>
                  <a:pt x="153" y="1149"/>
                </a:lnTo>
                <a:cubicBezTo>
                  <a:pt x="143" y="1149"/>
                  <a:pt x="133" y="1148"/>
                  <a:pt x="123" y="1146"/>
                </a:cubicBezTo>
                <a:cubicBezTo>
                  <a:pt x="113" y="1144"/>
                  <a:pt x="104" y="1141"/>
                  <a:pt x="94" y="1138"/>
                </a:cubicBezTo>
                <a:cubicBezTo>
                  <a:pt x="85" y="1134"/>
                  <a:pt x="76" y="1129"/>
                  <a:pt x="68" y="1123"/>
                </a:cubicBezTo>
                <a:cubicBezTo>
                  <a:pt x="59" y="1118"/>
                  <a:pt x="52" y="1112"/>
                  <a:pt x="45" y="1104"/>
                </a:cubicBezTo>
                <a:cubicBezTo>
                  <a:pt x="38" y="1097"/>
                  <a:pt x="31" y="1090"/>
                  <a:pt x="26" y="1081"/>
                </a:cubicBezTo>
                <a:cubicBezTo>
                  <a:pt x="20" y="1073"/>
                  <a:pt x="15" y="1064"/>
                  <a:pt x="11" y="1055"/>
                </a:cubicBezTo>
                <a:cubicBezTo>
                  <a:pt x="8" y="1045"/>
                  <a:pt x="5" y="1036"/>
                  <a:pt x="3" y="1026"/>
                </a:cubicBezTo>
                <a:cubicBezTo>
                  <a:pt x="1" y="1016"/>
                  <a:pt x="0" y="1006"/>
                  <a:pt x="0" y="996"/>
                </a:cubicBezTo>
                <a:lnTo>
                  <a:pt x="0" y="153"/>
                </a:lnTo>
                <a:cubicBezTo>
                  <a:pt x="0" y="143"/>
                  <a:pt x="1" y="133"/>
                  <a:pt x="3" y="123"/>
                </a:cubicBezTo>
                <a:cubicBezTo>
                  <a:pt x="5" y="114"/>
                  <a:pt x="8" y="104"/>
                  <a:pt x="11" y="95"/>
                </a:cubicBezTo>
                <a:cubicBezTo>
                  <a:pt x="15" y="85"/>
                  <a:pt x="20" y="77"/>
                  <a:pt x="26" y="68"/>
                </a:cubicBezTo>
                <a:cubicBezTo>
                  <a:pt x="31" y="60"/>
                  <a:pt x="38" y="52"/>
                  <a:pt x="45" y="45"/>
                </a:cubicBezTo>
                <a:cubicBezTo>
                  <a:pt x="52" y="38"/>
                  <a:pt x="59" y="32"/>
                  <a:pt x="68" y="26"/>
                </a:cubicBezTo>
                <a:cubicBezTo>
                  <a:pt x="76" y="20"/>
                  <a:pt x="85" y="16"/>
                  <a:pt x="94" y="12"/>
                </a:cubicBezTo>
                <a:cubicBezTo>
                  <a:pt x="104" y="8"/>
                  <a:pt x="113" y="5"/>
                  <a:pt x="123" y="3"/>
                </a:cubicBezTo>
                <a:cubicBezTo>
                  <a:pt x="133" y="1"/>
                  <a:pt x="143" y="0"/>
                  <a:pt x="153" y="0"/>
                </a:cubicBezTo>
                <a:close/>
              </a:path>
            </a:pathLst>
          </a:custGeom>
          <a:noFill/>
          <a:ln w="6840">
            <a:solidFill>
              <a:srgbClr val="0F766E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369400" y="3232440"/>
            <a:ext cx="27756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6B7280"/>
                </a:solidFill>
                <a:effectLst/>
                <a:uFillTx/>
                <a:latin typeface=".SFNS"/>
                <a:ea typeface=".SFNS"/>
              </a:rPr>
              <a:t>n = 149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248520" y="3087000"/>
            <a:ext cx="1200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60" b="1" u="none" strike="noStrike">
                <a:solidFill>
                  <a:srgbClr val="FFFFFF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01_extract_features.py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7369200" y="2969280"/>
            <a:ext cx="152280" cy="151920"/>
          </a:xfrm>
          <a:custGeom>
            <a:avLst/>
            <a:gdLst/>
            <a:ahLst/>
            <a:rect l="0" t="0" r="r" b="b"/>
            <a:pathLst>
              <a:path w="423" h="422">
                <a:moveTo>
                  <a:pt x="423" y="211"/>
                </a:moveTo>
                <a:cubicBezTo>
                  <a:pt x="423" y="225"/>
                  <a:pt x="421" y="238"/>
                  <a:pt x="419" y="252"/>
                </a:cubicBezTo>
                <a:cubicBezTo>
                  <a:pt x="416" y="265"/>
                  <a:pt x="412" y="279"/>
                  <a:pt x="407" y="291"/>
                </a:cubicBezTo>
                <a:cubicBezTo>
                  <a:pt x="401" y="304"/>
                  <a:pt x="395" y="316"/>
                  <a:pt x="387" y="328"/>
                </a:cubicBezTo>
                <a:cubicBezTo>
                  <a:pt x="380" y="339"/>
                  <a:pt x="371" y="350"/>
                  <a:pt x="360" y="360"/>
                </a:cubicBezTo>
                <a:cubicBezTo>
                  <a:pt x="350" y="370"/>
                  <a:pt x="340" y="379"/>
                  <a:pt x="328" y="387"/>
                </a:cubicBezTo>
                <a:cubicBezTo>
                  <a:pt x="317" y="395"/>
                  <a:pt x="305" y="401"/>
                  <a:pt x="292" y="406"/>
                </a:cubicBezTo>
                <a:cubicBezTo>
                  <a:pt x="279" y="412"/>
                  <a:pt x="266" y="416"/>
                  <a:pt x="252" y="418"/>
                </a:cubicBezTo>
                <a:cubicBezTo>
                  <a:pt x="239" y="421"/>
                  <a:pt x="225" y="422"/>
                  <a:pt x="211" y="422"/>
                </a:cubicBezTo>
                <a:cubicBezTo>
                  <a:pt x="197" y="422"/>
                  <a:pt x="184" y="421"/>
                  <a:pt x="170" y="418"/>
                </a:cubicBezTo>
                <a:cubicBezTo>
                  <a:pt x="156" y="416"/>
                  <a:pt x="143" y="412"/>
                  <a:pt x="131" y="406"/>
                </a:cubicBezTo>
                <a:cubicBezTo>
                  <a:pt x="118" y="401"/>
                  <a:pt x="106" y="395"/>
                  <a:pt x="94" y="387"/>
                </a:cubicBezTo>
                <a:cubicBezTo>
                  <a:pt x="83" y="379"/>
                  <a:pt x="72" y="370"/>
                  <a:pt x="62" y="360"/>
                </a:cubicBezTo>
                <a:cubicBezTo>
                  <a:pt x="52" y="350"/>
                  <a:pt x="44" y="339"/>
                  <a:pt x="36" y="328"/>
                </a:cubicBezTo>
                <a:cubicBezTo>
                  <a:pt x="28" y="316"/>
                  <a:pt x="22" y="304"/>
                  <a:pt x="17" y="291"/>
                </a:cubicBezTo>
                <a:cubicBezTo>
                  <a:pt x="11" y="279"/>
                  <a:pt x="7" y="265"/>
                  <a:pt x="5" y="252"/>
                </a:cubicBezTo>
                <a:cubicBezTo>
                  <a:pt x="2" y="238"/>
                  <a:pt x="0" y="225"/>
                  <a:pt x="0" y="211"/>
                </a:cubicBezTo>
                <a:cubicBezTo>
                  <a:pt x="0" y="197"/>
                  <a:pt x="2" y="183"/>
                  <a:pt x="5" y="170"/>
                </a:cubicBezTo>
                <a:cubicBezTo>
                  <a:pt x="7" y="156"/>
                  <a:pt x="11" y="143"/>
                  <a:pt x="17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4" y="2"/>
                  <a:pt x="197" y="0"/>
                  <a:pt x="211" y="0"/>
                </a:cubicBezTo>
                <a:cubicBezTo>
                  <a:pt x="225" y="0"/>
                  <a:pt x="239" y="2"/>
                  <a:pt x="252" y="4"/>
                </a:cubicBezTo>
                <a:cubicBezTo>
                  <a:pt x="266" y="7"/>
                  <a:pt x="279" y="11"/>
                  <a:pt x="292" y="16"/>
                </a:cubicBezTo>
                <a:cubicBezTo>
                  <a:pt x="305" y="22"/>
                  <a:pt x="317" y="28"/>
                  <a:pt x="328" y="36"/>
                </a:cubicBezTo>
                <a:cubicBezTo>
                  <a:pt x="340" y="44"/>
                  <a:pt x="350" y="52"/>
                  <a:pt x="360" y="62"/>
                </a:cubicBezTo>
                <a:cubicBezTo>
                  <a:pt x="371" y="72"/>
                  <a:pt x="380" y="82"/>
                  <a:pt x="387" y="94"/>
                </a:cubicBezTo>
                <a:cubicBezTo>
                  <a:pt x="395" y="105"/>
                  <a:pt x="401" y="118"/>
                  <a:pt x="407" y="130"/>
                </a:cubicBezTo>
                <a:cubicBezTo>
                  <a:pt x="412" y="143"/>
                  <a:pt x="416" y="156"/>
                  <a:pt x="419" y="170"/>
                </a:cubicBezTo>
                <a:cubicBezTo>
                  <a:pt x="421" y="183"/>
                  <a:pt x="423" y="197"/>
                  <a:pt x="423" y="211"/>
                </a:cubicBezTo>
                <a:close/>
              </a:path>
            </a:pathLst>
          </a:custGeom>
          <a:solidFill>
            <a:srgbClr val="1453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7369200" y="2969280"/>
            <a:ext cx="152280" cy="151920"/>
          </a:xfrm>
          <a:custGeom>
            <a:avLst/>
            <a:gdLst/>
            <a:ahLst/>
            <a:rect l="0" t="0" r="r" b="b"/>
            <a:pathLst>
              <a:path w="423" h="422">
                <a:moveTo>
                  <a:pt x="423" y="211"/>
                </a:moveTo>
                <a:cubicBezTo>
                  <a:pt x="423" y="225"/>
                  <a:pt x="421" y="238"/>
                  <a:pt x="419" y="252"/>
                </a:cubicBezTo>
                <a:cubicBezTo>
                  <a:pt x="416" y="265"/>
                  <a:pt x="412" y="279"/>
                  <a:pt x="407" y="291"/>
                </a:cubicBezTo>
                <a:cubicBezTo>
                  <a:pt x="401" y="304"/>
                  <a:pt x="395" y="316"/>
                  <a:pt x="387" y="328"/>
                </a:cubicBezTo>
                <a:cubicBezTo>
                  <a:pt x="380" y="339"/>
                  <a:pt x="371" y="350"/>
                  <a:pt x="360" y="360"/>
                </a:cubicBezTo>
                <a:cubicBezTo>
                  <a:pt x="350" y="370"/>
                  <a:pt x="340" y="379"/>
                  <a:pt x="328" y="387"/>
                </a:cubicBezTo>
                <a:cubicBezTo>
                  <a:pt x="317" y="395"/>
                  <a:pt x="305" y="401"/>
                  <a:pt x="292" y="406"/>
                </a:cubicBezTo>
                <a:cubicBezTo>
                  <a:pt x="279" y="412"/>
                  <a:pt x="266" y="416"/>
                  <a:pt x="252" y="418"/>
                </a:cubicBezTo>
                <a:cubicBezTo>
                  <a:pt x="239" y="421"/>
                  <a:pt x="225" y="422"/>
                  <a:pt x="211" y="422"/>
                </a:cubicBezTo>
                <a:cubicBezTo>
                  <a:pt x="197" y="422"/>
                  <a:pt x="184" y="421"/>
                  <a:pt x="170" y="418"/>
                </a:cubicBezTo>
                <a:cubicBezTo>
                  <a:pt x="156" y="416"/>
                  <a:pt x="143" y="412"/>
                  <a:pt x="131" y="406"/>
                </a:cubicBezTo>
                <a:cubicBezTo>
                  <a:pt x="118" y="401"/>
                  <a:pt x="106" y="395"/>
                  <a:pt x="94" y="387"/>
                </a:cubicBezTo>
                <a:cubicBezTo>
                  <a:pt x="83" y="379"/>
                  <a:pt x="72" y="370"/>
                  <a:pt x="62" y="360"/>
                </a:cubicBezTo>
                <a:cubicBezTo>
                  <a:pt x="52" y="350"/>
                  <a:pt x="44" y="339"/>
                  <a:pt x="36" y="328"/>
                </a:cubicBezTo>
                <a:cubicBezTo>
                  <a:pt x="28" y="316"/>
                  <a:pt x="22" y="304"/>
                  <a:pt x="17" y="291"/>
                </a:cubicBezTo>
                <a:cubicBezTo>
                  <a:pt x="11" y="279"/>
                  <a:pt x="7" y="265"/>
                  <a:pt x="5" y="252"/>
                </a:cubicBezTo>
                <a:cubicBezTo>
                  <a:pt x="2" y="238"/>
                  <a:pt x="0" y="225"/>
                  <a:pt x="0" y="211"/>
                </a:cubicBezTo>
                <a:cubicBezTo>
                  <a:pt x="0" y="197"/>
                  <a:pt x="2" y="183"/>
                  <a:pt x="5" y="170"/>
                </a:cubicBezTo>
                <a:cubicBezTo>
                  <a:pt x="7" y="156"/>
                  <a:pt x="11" y="143"/>
                  <a:pt x="17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4" y="2"/>
                  <a:pt x="197" y="0"/>
                  <a:pt x="211" y="0"/>
                </a:cubicBezTo>
                <a:cubicBezTo>
                  <a:pt x="225" y="0"/>
                  <a:pt x="239" y="2"/>
                  <a:pt x="252" y="4"/>
                </a:cubicBezTo>
                <a:cubicBezTo>
                  <a:pt x="266" y="7"/>
                  <a:pt x="279" y="11"/>
                  <a:pt x="292" y="16"/>
                </a:cubicBezTo>
                <a:cubicBezTo>
                  <a:pt x="305" y="22"/>
                  <a:pt x="317" y="28"/>
                  <a:pt x="328" y="36"/>
                </a:cubicBezTo>
                <a:cubicBezTo>
                  <a:pt x="340" y="44"/>
                  <a:pt x="350" y="52"/>
                  <a:pt x="360" y="62"/>
                </a:cubicBezTo>
                <a:cubicBezTo>
                  <a:pt x="371" y="72"/>
                  <a:pt x="380" y="82"/>
                  <a:pt x="387" y="94"/>
                </a:cubicBezTo>
                <a:cubicBezTo>
                  <a:pt x="395" y="105"/>
                  <a:pt x="401" y="118"/>
                  <a:pt x="407" y="130"/>
                </a:cubicBezTo>
                <a:cubicBezTo>
                  <a:pt x="412" y="143"/>
                  <a:pt x="416" y="156"/>
                  <a:pt x="419" y="170"/>
                </a:cubicBezTo>
                <a:cubicBezTo>
                  <a:pt x="421" y="183"/>
                  <a:pt x="423" y="197"/>
                  <a:pt x="423" y="211"/>
                </a:cubicBezTo>
                <a:close/>
              </a:path>
            </a:pathLst>
          </a:custGeom>
          <a:noFill/>
          <a:ln w="13680">
            <a:solidFill>
              <a:srgbClr val="FFFFFF"/>
            </a:solidFill>
            <a:miter/>
          </a:ln>
        </p:spPr>
        <p:txBody>
          <a:bodyPr lIns="6840" tIns="6840" rIns="6840" bIns="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7410600" y="3017520"/>
            <a:ext cx="76320" cy="55440"/>
          </a:xfrm>
          <a:custGeom>
            <a:avLst/>
            <a:gdLst/>
            <a:ahLst/>
            <a:rect l="0" t="0" r="r" b="b"/>
            <a:pathLst>
              <a:path fill="none" w="212" h="154">
                <a:moveTo>
                  <a:pt x="0" y="77"/>
                </a:moveTo>
                <a:lnTo>
                  <a:pt x="77" y="154"/>
                </a:lnTo>
                <a:lnTo>
                  <a:pt x="212" y="0"/>
                </a:lnTo>
              </a:path>
            </a:pathLst>
          </a:custGeom>
          <a:ln cap="rnd" w="15120">
            <a:solidFill>
              <a:srgbClr val="FFFFFF"/>
            </a:solidFill>
            <a:round/>
          </a:ln>
        </p:spPr>
        <p:txBody>
          <a:bodyPr lIns="7560" tIns="7560" rIns="7560" bIns="75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7686360" y="3010680"/>
            <a:ext cx="965520" cy="413640"/>
          </a:xfrm>
          <a:custGeom>
            <a:avLst/>
            <a:gdLst/>
            <a:ahLst/>
            <a:rect l="0" t="0" r="r" b="b"/>
            <a:pathLst>
              <a:path w="2682" h="1149">
                <a:moveTo>
                  <a:pt x="0" y="0"/>
                </a:moveTo>
                <a:lnTo>
                  <a:pt x="2682" y="0"/>
                </a:lnTo>
                <a:lnTo>
                  <a:pt x="2682" y="1149"/>
                </a:lnTo>
                <a:lnTo>
                  <a:pt x="0" y="114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7686360" y="3010680"/>
            <a:ext cx="965520" cy="413640"/>
          </a:xfrm>
          <a:custGeom>
            <a:avLst/>
            <a:gdLst/>
            <a:ahLst/>
            <a:rect l="0" t="0" r="r" b="b"/>
            <a:pathLst>
              <a:path w="2682" h="1149">
                <a:moveTo>
                  <a:pt x="0" y="0"/>
                </a:moveTo>
                <a:lnTo>
                  <a:pt x="2682" y="0"/>
                </a:lnTo>
                <a:lnTo>
                  <a:pt x="2682" y="1149"/>
                </a:lnTo>
                <a:lnTo>
                  <a:pt x="0" y="1149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6B7280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424200" y="3240000"/>
            <a:ext cx="68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A7F3D0"/>
                </a:solidFill>
                <a:effectLst/>
                <a:uFillTx/>
                <a:latin typeface=".SFNS"/>
                <a:ea typeface=".SFNS"/>
              </a:rPr>
              <a:t>uses src/features.py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975440" y="3087000"/>
            <a:ext cx="438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60" b="1" u="none" strike="noStrike">
                <a:solidFill>
                  <a:srgbClr val="1F293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features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8927280" y="3010680"/>
            <a:ext cx="1379520" cy="413640"/>
          </a:xfrm>
          <a:custGeom>
            <a:avLst/>
            <a:gdLst/>
            <a:ahLst/>
            <a:rect l="0" t="0" r="r" b="b"/>
            <a:pathLst>
              <a:path w="3832" h="1149">
                <a:moveTo>
                  <a:pt x="155" y="0"/>
                </a:moveTo>
                <a:lnTo>
                  <a:pt x="3678" y="0"/>
                </a:lnTo>
                <a:cubicBezTo>
                  <a:pt x="3688" y="0"/>
                  <a:pt x="3698" y="1"/>
                  <a:pt x="3708" y="3"/>
                </a:cubicBezTo>
                <a:cubicBezTo>
                  <a:pt x="3718" y="5"/>
                  <a:pt x="3728" y="8"/>
                  <a:pt x="3737" y="12"/>
                </a:cubicBezTo>
                <a:cubicBezTo>
                  <a:pt x="3746" y="16"/>
                  <a:pt x="3755" y="20"/>
                  <a:pt x="3764" y="26"/>
                </a:cubicBezTo>
                <a:cubicBezTo>
                  <a:pt x="3772" y="32"/>
                  <a:pt x="3780" y="38"/>
                  <a:pt x="3787" y="45"/>
                </a:cubicBezTo>
                <a:cubicBezTo>
                  <a:pt x="3794" y="52"/>
                  <a:pt x="3800" y="60"/>
                  <a:pt x="3806" y="68"/>
                </a:cubicBezTo>
                <a:cubicBezTo>
                  <a:pt x="3811" y="77"/>
                  <a:pt x="3816" y="85"/>
                  <a:pt x="3820" y="95"/>
                </a:cubicBezTo>
                <a:cubicBezTo>
                  <a:pt x="3824" y="104"/>
                  <a:pt x="3827" y="114"/>
                  <a:pt x="3829" y="123"/>
                </a:cubicBezTo>
                <a:cubicBezTo>
                  <a:pt x="3831" y="133"/>
                  <a:pt x="3832" y="143"/>
                  <a:pt x="3832" y="153"/>
                </a:cubicBezTo>
                <a:lnTo>
                  <a:pt x="3832" y="996"/>
                </a:lnTo>
                <a:cubicBezTo>
                  <a:pt x="3832" y="1006"/>
                  <a:pt x="3831" y="1016"/>
                  <a:pt x="3829" y="1026"/>
                </a:cubicBezTo>
                <a:cubicBezTo>
                  <a:pt x="3827" y="1036"/>
                  <a:pt x="3824" y="1045"/>
                  <a:pt x="3820" y="1055"/>
                </a:cubicBezTo>
                <a:cubicBezTo>
                  <a:pt x="3816" y="1064"/>
                  <a:pt x="3811" y="1073"/>
                  <a:pt x="3806" y="1081"/>
                </a:cubicBezTo>
                <a:cubicBezTo>
                  <a:pt x="3800" y="1090"/>
                  <a:pt x="3794" y="1097"/>
                  <a:pt x="3787" y="1104"/>
                </a:cubicBezTo>
                <a:cubicBezTo>
                  <a:pt x="3780" y="1112"/>
                  <a:pt x="3772" y="1118"/>
                  <a:pt x="3764" y="1123"/>
                </a:cubicBezTo>
                <a:cubicBezTo>
                  <a:pt x="3755" y="1129"/>
                  <a:pt x="3746" y="1134"/>
                  <a:pt x="3737" y="1138"/>
                </a:cubicBezTo>
                <a:cubicBezTo>
                  <a:pt x="3728" y="1141"/>
                  <a:pt x="3718" y="1144"/>
                  <a:pt x="3708" y="1146"/>
                </a:cubicBezTo>
                <a:cubicBezTo>
                  <a:pt x="3698" y="1148"/>
                  <a:pt x="3688" y="1149"/>
                  <a:pt x="3678" y="1149"/>
                </a:cubicBezTo>
                <a:lnTo>
                  <a:pt x="155" y="1149"/>
                </a:lnTo>
                <a:cubicBezTo>
                  <a:pt x="145" y="1149"/>
                  <a:pt x="135" y="1148"/>
                  <a:pt x="125" y="1146"/>
                </a:cubicBezTo>
                <a:cubicBezTo>
                  <a:pt x="115" y="1144"/>
                  <a:pt x="105" y="1141"/>
                  <a:pt x="95" y="1138"/>
                </a:cubicBezTo>
                <a:cubicBezTo>
                  <a:pt x="86" y="1134"/>
                  <a:pt x="77" y="1129"/>
                  <a:pt x="69" y="1123"/>
                </a:cubicBezTo>
                <a:cubicBezTo>
                  <a:pt x="60" y="1118"/>
                  <a:pt x="52" y="1112"/>
                  <a:pt x="45" y="1104"/>
                </a:cubicBezTo>
                <a:cubicBezTo>
                  <a:pt x="38" y="1097"/>
                  <a:pt x="32" y="1090"/>
                  <a:pt x="26" y="1081"/>
                </a:cubicBezTo>
                <a:cubicBezTo>
                  <a:pt x="21" y="1073"/>
                  <a:pt x="16" y="1064"/>
                  <a:pt x="12" y="1055"/>
                </a:cubicBezTo>
                <a:cubicBezTo>
                  <a:pt x="8" y="1045"/>
                  <a:pt x="5" y="1036"/>
                  <a:pt x="3" y="1026"/>
                </a:cubicBezTo>
                <a:cubicBezTo>
                  <a:pt x="1" y="1016"/>
                  <a:pt x="0" y="1006"/>
                  <a:pt x="0" y="996"/>
                </a:cubicBezTo>
                <a:lnTo>
                  <a:pt x="0" y="153"/>
                </a:lnTo>
                <a:cubicBezTo>
                  <a:pt x="0" y="143"/>
                  <a:pt x="1" y="133"/>
                  <a:pt x="3" y="123"/>
                </a:cubicBezTo>
                <a:cubicBezTo>
                  <a:pt x="5" y="114"/>
                  <a:pt x="8" y="104"/>
                  <a:pt x="12" y="95"/>
                </a:cubicBezTo>
                <a:cubicBezTo>
                  <a:pt x="16" y="85"/>
                  <a:pt x="21" y="77"/>
                  <a:pt x="26" y="68"/>
                </a:cubicBezTo>
                <a:cubicBezTo>
                  <a:pt x="32" y="60"/>
                  <a:pt x="38" y="52"/>
                  <a:pt x="45" y="45"/>
                </a:cubicBezTo>
                <a:cubicBezTo>
                  <a:pt x="52" y="38"/>
                  <a:pt x="60" y="32"/>
                  <a:pt x="69" y="26"/>
                </a:cubicBezTo>
                <a:cubicBezTo>
                  <a:pt x="77" y="20"/>
                  <a:pt x="86" y="16"/>
                  <a:pt x="95" y="12"/>
                </a:cubicBezTo>
                <a:cubicBezTo>
                  <a:pt x="105" y="8"/>
                  <a:pt x="115" y="5"/>
                  <a:pt x="125" y="3"/>
                </a:cubicBezTo>
                <a:cubicBezTo>
                  <a:pt x="135" y="1"/>
                  <a:pt x="145" y="0"/>
                  <a:pt x="155" y="0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8922240" y="3005640"/>
            <a:ext cx="1389600" cy="424080"/>
          </a:xfrm>
          <a:custGeom>
            <a:avLst/>
            <a:gdLst/>
            <a:ahLst/>
            <a:rect l="0" t="0" r="r" b="b"/>
            <a:pathLst>
              <a:path w="3860" h="1178">
                <a:moveTo>
                  <a:pt x="360" y="0"/>
                </a:moveTo>
                <a:lnTo>
                  <a:pt x="475" y="0"/>
                </a:lnTo>
                <a:lnTo>
                  <a:pt x="475" y="29"/>
                </a:lnTo>
                <a:lnTo>
                  <a:pt x="360" y="29"/>
                </a:lnTo>
                <a:lnTo>
                  <a:pt x="360" y="0"/>
                </a:lnTo>
                <a:moveTo>
                  <a:pt x="552" y="0"/>
                </a:moveTo>
                <a:lnTo>
                  <a:pt x="667" y="0"/>
                </a:lnTo>
                <a:lnTo>
                  <a:pt x="667" y="29"/>
                </a:lnTo>
                <a:lnTo>
                  <a:pt x="552" y="29"/>
                </a:lnTo>
                <a:lnTo>
                  <a:pt x="552" y="0"/>
                </a:lnTo>
                <a:moveTo>
                  <a:pt x="743" y="0"/>
                </a:moveTo>
                <a:lnTo>
                  <a:pt x="858" y="0"/>
                </a:lnTo>
                <a:lnTo>
                  <a:pt x="858" y="29"/>
                </a:lnTo>
                <a:lnTo>
                  <a:pt x="743" y="29"/>
                </a:lnTo>
                <a:lnTo>
                  <a:pt x="743" y="0"/>
                </a:lnTo>
                <a:moveTo>
                  <a:pt x="935" y="0"/>
                </a:moveTo>
                <a:lnTo>
                  <a:pt x="1050" y="0"/>
                </a:lnTo>
                <a:lnTo>
                  <a:pt x="1050" y="29"/>
                </a:lnTo>
                <a:lnTo>
                  <a:pt x="935" y="29"/>
                </a:lnTo>
                <a:lnTo>
                  <a:pt x="935" y="0"/>
                </a:lnTo>
                <a:moveTo>
                  <a:pt x="1126" y="0"/>
                </a:moveTo>
                <a:lnTo>
                  <a:pt x="1241" y="0"/>
                </a:lnTo>
                <a:lnTo>
                  <a:pt x="1241" y="29"/>
                </a:lnTo>
                <a:lnTo>
                  <a:pt x="1126" y="29"/>
                </a:lnTo>
                <a:lnTo>
                  <a:pt x="1126" y="0"/>
                </a:lnTo>
                <a:moveTo>
                  <a:pt x="1318" y="0"/>
                </a:moveTo>
                <a:lnTo>
                  <a:pt x="1433" y="0"/>
                </a:lnTo>
                <a:lnTo>
                  <a:pt x="1433" y="29"/>
                </a:lnTo>
                <a:lnTo>
                  <a:pt x="1318" y="29"/>
                </a:lnTo>
                <a:lnTo>
                  <a:pt x="1318" y="0"/>
                </a:lnTo>
                <a:moveTo>
                  <a:pt x="1509" y="0"/>
                </a:moveTo>
                <a:lnTo>
                  <a:pt x="1624" y="0"/>
                </a:lnTo>
                <a:lnTo>
                  <a:pt x="1624" y="29"/>
                </a:lnTo>
                <a:lnTo>
                  <a:pt x="1509" y="29"/>
                </a:lnTo>
                <a:lnTo>
                  <a:pt x="1509" y="0"/>
                </a:lnTo>
                <a:moveTo>
                  <a:pt x="1701" y="0"/>
                </a:moveTo>
                <a:lnTo>
                  <a:pt x="1816" y="0"/>
                </a:lnTo>
                <a:lnTo>
                  <a:pt x="1816" y="29"/>
                </a:lnTo>
                <a:lnTo>
                  <a:pt x="1701" y="29"/>
                </a:lnTo>
                <a:lnTo>
                  <a:pt x="1701" y="0"/>
                </a:lnTo>
                <a:moveTo>
                  <a:pt x="1892" y="0"/>
                </a:moveTo>
                <a:lnTo>
                  <a:pt x="2007" y="0"/>
                </a:lnTo>
                <a:lnTo>
                  <a:pt x="2007" y="29"/>
                </a:lnTo>
                <a:lnTo>
                  <a:pt x="1892" y="29"/>
                </a:lnTo>
                <a:lnTo>
                  <a:pt x="1892" y="0"/>
                </a:lnTo>
                <a:moveTo>
                  <a:pt x="2084" y="0"/>
                </a:moveTo>
                <a:lnTo>
                  <a:pt x="2199" y="0"/>
                </a:lnTo>
                <a:lnTo>
                  <a:pt x="2199" y="29"/>
                </a:lnTo>
                <a:lnTo>
                  <a:pt x="2084" y="29"/>
                </a:lnTo>
                <a:lnTo>
                  <a:pt x="2084" y="0"/>
                </a:lnTo>
                <a:moveTo>
                  <a:pt x="2275" y="0"/>
                </a:moveTo>
                <a:lnTo>
                  <a:pt x="2390" y="0"/>
                </a:lnTo>
                <a:lnTo>
                  <a:pt x="2390" y="29"/>
                </a:lnTo>
                <a:lnTo>
                  <a:pt x="2275" y="29"/>
                </a:lnTo>
                <a:lnTo>
                  <a:pt x="2275" y="0"/>
                </a:lnTo>
                <a:moveTo>
                  <a:pt x="2467" y="0"/>
                </a:moveTo>
                <a:lnTo>
                  <a:pt x="2582" y="0"/>
                </a:lnTo>
                <a:lnTo>
                  <a:pt x="2582" y="29"/>
                </a:lnTo>
                <a:lnTo>
                  <a:pt x="2467" y="29"/>
                </a:lnTo>
                <a:lnTo>
                  <a:pt x="2467" y="0"/>
                </a:lnTo>
                <a:moveTo>
                  <a:pt x="2658" y="0"/>
                </a:moveTo>
                <a:lnTo>
                  <a:pt x="2773" y="0"/>
                </a:lnTo>
                <a:lnTo>
                  <a:pt x="2773" y="29"/>
                </a:lnTo>
                <a:lnTo>
                  <a:pt x="2658" y="29"/>
                </a:lnTo>
                <a:lnTo>
                  <a:pt x="2658" y="0"/>
                </a:lnTo>
                <a:moveTo>
                  <a:pt x="2850" y="0"/>
                </a:moveTo>
                <a:lnTo>
                  <a:pt x="2965" y="0"/>
                </a:lnTo>
                <a:lnTo>
                  <a:pt x="2965" y="29"/>
                </a:lnTo>
                <a:lnTo>
                  <a:pt x="2850" y="29"/>
                </a:lnTo>
                <a:lnTo>
                  <a:pt x="2850" y="0"/>
                </a:lnTo>
                <a:moveTo>
                  <a:pt x="3041" y="0"/>
                </a:moveTo>
                <a:lnTo>
                  <a:pt x="3156" y="0"/>
                </a:lnTo>
                <a:lnTo>
                  <a:pt x="3156" y="29"/>
                </a:lnTo>
                <a:lnTo>
                  <a:pt x="3041" y="29"/>
                </a:lnTo>
                <a:lnTo>
                  <a:pt x="3041" y="0"/>
                </a:lnTo>
                <a:moveTo>
                  <a:pt x="3233" y="0"/>
                </a:moveTo>
                <a:lnTo>
                  <a:pt x="3348" y="0"/>
                </a:lnTo>
                <a:lnTo>
                  <a:pt x="3348" y="29"/>
                </a:lnTo>
                <a:lnTo>
                  <a:pt x="3233" y="29"/>
                </a:lnTo>
                <a:lnTo>
                  <a:pt x="3233" y="0"/>
                </a:lnTo>
                <a:moveTo>
                  <a:pt x="3424" y="0"/>
                </a:moveTo>
                <a:lnTo>
                  <a:pt x="3539" y="0"/>
                </a:lnTo>
                <a:lnTo>
                  <a:pt x="3539" y="29"/>
                </a:lnTo>
                <a:lnTo>
                  <a:pt x="3424" y="29"/>
                </a:lnTo>
                <a:lnTo>
                  <a:pt x="3424" y="0"/>
                </a:lnTo>
                <a:moveTo>
                  <a:pt x="3616" y="0"/>
                </a:moveTo>
                <a:lnTo>
                  <a:pt x="3692" y="0"/>
                </a:lnTo>
                <a:cubicBezTo>
                  <a:pt x="3706" y="0"/>
                  <a:pt x="3720" y="2"/>
                  <a:pt x="3733" y="5"/>
                </a:cubicBezTo>
                <a:lnTo>
                  <a:pt x="3726" y="33"/>
                </a:lnTo>
                <a:cubicBezTo>
                  <a:pt x="3715" y="30"/>
                  <a:pt x="3704" y="29"/>
                  <a:pt x="3692" y="29"/>
                </a:cubicBezTo>
                <a:lnTo>
                  <a:pt x="3616" y="29"/>
                </a:lnTo>
                <a:lnTo>
                  <a:pt x="3616" y="0"/>
                </a:lnTo>
                <a:moveTo>
                  <a:pt x="3807" y="45"/>
                </a:moveTo>
                <a:cubicBezTo>
                  <a:pt x="3840" y="76"/>
                  <a:pt x="3857" y="113"/>
                  <a:pt x="3860" y="158"/>
                </a:cubicBezTo>
                <a:lnTo>
                  <a:pt x="3831" y="159"/>
                </a:lnTo>
                <a:cubicBezTo>
                  <a:pt x="3829" y="122"/>
                  <a:pt x="3814" y="91"/>
                  <a:pt x="3787" y="66"/>
                </a:cubicBezTo>
                <a:lnTo>
                  <a:pt x="3807" y="45"/>
                </a:lnTo>
                <a:moveTo>
                  <a:pt x="3860" y="234"/>
                </a:moveTo>
                <a:lnTo>
                  <a:pt x="3860" y="349"/>
                </a:lnTo>
                <a:lnTo>
                  <a:pt x="3831" y="349"/>
                </a:lnTo>
                <a:lnTo>
                  <a:pt x="3831" y="234"/>
                </a:lnTo>
                <a:lnTo>
                  <a:pt x="3860" y="234"/>
                </a:lnTo>
                <a:moveTo>
                  <a:pt x="3860" y="426"/>
                </a:moveTo>
                <a:lnTo>
                  <a:pt x="3860" y="542"/>
                </a:lnTo>
                <a:lnTo>
                  <a:pt x="3831" y="542"/>
                </a:lnTo>
                <a:lnTo>
                  <a:pt x="3831" y="426"/>
                </a:lnTo>
                <a:lnTo>
                  <a:pt x="3860" y="426"/>
                </a:lnTo>
                <a:moveTo>
                  <a:pt x="3860" y="618"/>
                </a:moveTo>
                <a:lnTo>
                  <a:pt x="3860" y="733"/>
                </a:lnTo>
                <a:lnTo>
                  <a:pt x="3831" y="733"/>
                </a:lnTo>
                <a:lnTo>
                  <a:pt x="3831" y="618"/>
                </a:lnTo>
                <a:lnTo>
                  <a:pt x="3860" y="618"/>
                </a:lnTo>
                <a:moveTo>
                  <a:pt x="3860" y="810"/>
                </a:moveTo>
                <a:lnTo>
                  <a:pt x="3860" y="924"/>
                </a:lnTo>
                <a:lnTo>
                  <a:pt x="3831" y="924"/>
                </a:lnTo>
                <a:lnTo>
                  <a:pt x="3831" y="810"/>
                </a:lnTo>
                <a:lnTo>
                  <a:pt x="3860" y="810"/>
                </a:lnTo>
                <a:moveTo>
                  <a:pt x="3860" y="1001"/>
                </a:moveTo>
                <a:lnTo>
                  <a:pt x="3860" y="1010"/>
                </a:lnTo>
                <a:cubicBezTo>
                  <a:pt x="3860" y="1050"/>
                  <a:pt x="3847" y="1086"/>
                  <a:pt x="3821" y="1117"/>
                </a:cubicBezTo>
                <a:lnTo>
                  <a:pt x="3799" y="1099"/>
                </a:lnTo>
                <a:cubicBezTo>
                  <a:pt x="3821" y="1073"/>
                  <a:pt x="3831" y="1044"/>
                  <a:pt x="3831" y="1010"/>
                </a:cubicBezTo>
                <a:lnTo>
                  <a:pt x="3831" y="1001"/>
                </a:lnTo>
                <a:lnTo>
                  <a:pt x="3860" y="1001"/>
                </a:lnTo>
                <a:moveTo>
                  <a:pt x="3754" y="1166"/>
                </a:moveTo>
                <a:cubicBezTo>
                  <a:pt x="3734" y="1174"/>
                  <a:pt x="3714" y="1178"/>
                  <a:pt x="3692" y="1178"/>
                </a:cubicBezTo>
                <a:lnTo>
                  <a:pt x="3634" y="1178"/>
                </a:lnTo>
                <a:lnTo>
                  <a:pt x="3634" y="1149"/>
                </a:lnTo>
                <a:lnTo>
                  <a:pt x="3692" y="1149"/>
                </a:lnTo>
                <a:cubicBezTo>
                  <a:pt x="3710" y="1149"/>
                  <a:pt x="3727" y="1146"/>
                  <a:pt x="3743" y="1139"/>
                </a:cubicBezTo>
                <a:lnTo>
                  <a:pt x="3754" y="1166"/>
                </a:lnTo>
                <a:moveTo>
                  <a:pt x="3558" y="1178"/>
                </a:moveTo>
                <a:lnTo>
                  <a:pt x="3443" y="1178"/>
                </a:lnTo>
                <a:lnTo>
                  <a:pt x="3443" y="1149"/>
                </a:lnTo>
                <a:lnTo>
                  <a:pt x="3558" y="1149"/>
                </a:lnTo>
                <a:lnTo>
                  <a:pt x="3558" y="1178"/>
                </a:lnTo>
                <a:moveTo>
                  <a:pt x="3366" y="1178"/>
                </a:moveTo>
                <a:lnTo>
                  <a:pt x="3251" y="1178"/>
                </a:lnTo>
                <a:lnTo>
                  <a:pt x="3251" y="1149"/>
                </a:lnTo>
                <a:lnTo>
                  <a:pt x="3366" y="1149"/>
                </a:lnTo>
                <a:lnTo>
                  <a:pt x="3366" y="1178"/>
                </a:lnTo>
                <a:moveTo>
                  <a:pt x="3175" y="1178"/>
                </a:moveTo>
                <a:lnTo>
                  <a:pt x="3060" y="1178"/>
                </a:lnTo>
                <a:lnTo>
                  <a:pt x="3060" y="1149"/>
                </a:lnTo>
                <a:lnTo>
                  <a:pt x="3175" y="1149"/>
                </a:lnTo>
                <a:lnTo>
                  <a:pt x="3175" y="1178"/>
                </a:lnTo>
                <a:moveTo>
                  <a:pt x="2983" y="1178"/>
                </a:moveTo>
                <a:lnTo>
                  <a:pt x="2868" y="1178"/>
                </a:lnTo>
                <a:lnTo>
                  <a:pt x="2868" y="1149"/>
                </a:lnTo>
                <a:lnTo>
                  <a:pt x="2983" y="1149"/>
                </a:lnTo>
                <a:lnTo>
                  <a:pt x="2983" y="1178"/>
                </a:lnTo>
                <a:moveTo>
                  <a:pt x="2792" y="1178"/>
                </a:moveTo>
                <a:lnTo>
                  <a:pt x="2677" y="1178"/>
                </a:lnTo>
                <a:lnTo>
                  <a:pt x="2677" y="1149"/>
                </a:lnTo>
                <a:lnTo>
                  <a:pt x="2792" y="1149"/>
                </a:lnTo>
                <a:lnTo>
                  <a:pt x="2792" y="1178"/>
                </a:lnTo>
                <a:moveTo>
                  <a:pt x="2600" y="1178"/>
                </a:moveTo>
                <a:lnTo>
                  <a:pt x="2485" y="1178"/>
                </a:lnTo>
                <a:lnTo>
                  <a:pt x="2485" y="1149"/>
                </a:lnTo>
                <a:lnTo>
                  <a:pt x="2600" y="1149"/>
                </a:lnTo>
                <a:lnTo>
                  <a:pt x="2600" y="1178"/>
                </a:lnTo>
                <a:moveTo>
                  <a:pt x="2409" y="1178"/>
                </a:moveTo>
                <a:lnTo>
                  <a:pt x="2294" y="1178"/>
                </a:lnTo>
                <a:lnTo>
                  <a:pt x="2294" y="1149"/>
                </a:lnTo>
                <a:lnTo>
                  <a:pt x="2409" y="1149"/>
                </a:lnTo>
                <a:lnTo>
                  <a:pt x="2409" y="1178"/>
                </a:lnTo>
                <a:moveTo>
                  <a:pt x="2217" y="1178"/>
                </a:moveTo>
                <a:lnTo>
                  <a:pt x="2102" y="1178"/>
                </a:lnTo>
                <a:lnTo>
                  <a:pt x="2102" y="1149"/>
                </a:lnTo>
                <a:lnTo>
                  <a:pt x="2217" y="1149"/>
                </a:lnTo>
                <a:lnTo>
                  <a:pt x="2217" y="1178"/>
                </a:lnTo>
                <a:moveTo>
                  <a:pt x="2026" y="1178"/>
                </a:moveTo>
                <a:lnTo>
                  <a:pt x="1911" y="1178"/>
                </a:lnTo>
                <a:lnTo>
                  <a:pt x="1911" y="1149"/>
                </a:lnTo>
                <a:lnTo>
                  <a:pt x="2026" y="1149"/>
                </a:lnTo>
                <a:lnTo>
                  <a:pt x="2026" y="1178"/>
                </a:lnTo>
                <a:moveTo>
                  <a:pt x="1834" y="1178"/>
                </a:moveTo>
                <a:lnTo>
                  <a:pt x="1719" y="1178"/>
                </a:lnTo>
                <a:lnTo>
                  <a:pt x="1719" y="1149"/>
                </a:lnTo>
                <a:lnTo>
                  <a:pt x="1834" y="1149"/>
                </a:lnTo>
                <a:lnTo>
                  <a:pt x="1834" y="1178"/>
                </a:lnTo>
                <a:moveTo>
                  <a:pt x="1643" y="1178"/>
                </a:moveTo>
                <a:lnTo>
                  <a:pt x="1528" y="1178"/>
                </a:lnTo>
                <a:lnTo>
                  <a:pt x="1528" y="1149"/>
                </a:lnTo>
                <a:lnTo>
                  <a:pt x="1643" y="1149"/>
                </a:lnTo>
                <a:lnTo>
                  <a:pt x="1643" y="1178"/>
                </a:lnTo>
                <a:moveTo>
                  <a:pt x="1451" y="1178"/>
                </a:moveTo>
                <a:lnTo>
                  <a:pt x="1336" y="1178"/>
                </a:lnTo>
                <a:lnTo>
                  <a:pt x="1336" y="1149"/>
                </a:lnTo>
                <a:lnTo>
                  <a:pt x="1451" y="1149"/>
                </a:lnTo>
                <a:lnTo>
                  <a:pt x="1451" y="1178"/>
                </a:lnTo>
                <a:moveTo>
                  <a:pt x="1260" y="1178"/>
                </a:moveTo>
                <a:lnTo>
                  <a:pt x="1145" y="1178"/>
                </a:lnTo>
                <a:lnTo>
                  <a:pt x="1145" y="1149"/>
                </a:lnTo>
                <a:lnTo>
                  <a:pt x="1260" y="1149"/>
                </a:lnTo>
                <a:lnTo>
                  <a:pt x="1260" y="1178"/>
                </a:lnTo>
                <a:moveTo>
                  <a:pt x="1068" y="1178"/>
                </a:moveTo>
                <a:lnTo>
                  <a:pt x="953" y="1178"/>
                </a:lnTo>
                <a:lnTo>
                  <a:pt x="953" y="1149"/>
                </a:lnTo>
                <a:lnTo>
                  <a:pt x="1068" y="1149"/>
                </a:lnTo>
                <a:lnTo>
                  <a:pt x="1068" y="1178"/>
                </a:lnTo>
                <a:moveTo>
                  <a:pt x="877" y="1178"/>
                </a:moveTo>
                <a:lnTo>
                  <a:pt x="762" y="1178"/>
                </a:lnTo>
                <a:lnTo>
                  <a:pt x="762" y="1149"/>
                </a:lnTo>
                <a:lnTo>
                  <a:pt x="877" y="1149"/>
                </a:lnTo>
                <a:lnTo>
                  <a:pt x="877" y="1178"/>
                </a:lnTo>
                <a:moveTo>
                  <a:pt x="685" y="1178"/>
                </a:moveTo>
                <a:lnTo>
                  <a:pt x="570" y="1178"/>
                </a:lnTo>
                <a:lnTo>
                  <a:pt x="570" y="1149"/>
                </a:lnTo>
                <a:lnTo>
                  <a:pt x="685" y="1149"/>
                </a:lnTo>
                <a:lnTo>
                  <a:pt x="685" y="1178"/>
                </a:lnTo>
                <a:moveTo>
                  <a:pt x="494" y="1178"/>
                </a:moveTo>
                <a:lnTo>
                  <a:pt x="379" y="1178"/>
                </a:lnTo>
                <a:lnTo>
                  <a:pt x="379" y="1149"/>
                </a:lnTo>
                <a:lnTo>
                  <a:pt x="494" y="1149"/>
                </a:lnTo>
                <a:lnTo>
                  <a:pt x="494" y="1178"/>
                </a:lnTo>
                <a:moveTo>
                  <a:pt x="302" y="1178"/>
                </a:moveTo>
                <a:lnTo>
                  <a:pt x="186" y="1178"/>
                </a:lnTo>
                <a:lnTo>
                  <a:pt x="186" y="1149"/>
                </a:lnTo>
                <a:lnTo>
                  <a:pt x="302" y="1149"/>
                </a:lnTo>
                <a:lnTo>
                  <a:pt x="302" y="1178"/>
                </a:lnTo>
                <a:moveTo>
                  <a:pt x="105" y="1166"/>
                </a:moveTo>
                <a:cubicBezTo>
                  <a:pt x="64" y="1149"/>
                  <a:pt x="34" y="1121"/>
                  <a:pt x="16" y="1081"/>
                </a:cubicBezTo>
                <a:lnTo>
                  <a:pt x="42" y="1068"/>
                </a:lnTo>
                <a:cubicBezTo>
                  <a:pt x="57" y="1102"/>
                  <a:pt x="82" y="1125"/>
                  <a:pt x="116" y="1139"/>
                </a:cubicBezTo>
                <a:lnTo>
                  <a:pt x="105" y="1166"/>
                </a:lnTo>
                <a:moveTo>
                  <a:pt x="0" y="1000"/>
                </a:moveTo>
                <a:lnTo>
                  <a:pt x="0" y="885"/>
                </a:lnTo>
                <a:lnTo>
                  <a:pt x="29" y="885"/>
                </a:lnTo>
                <a:lnTo>
                  <a:pt x="29" y="1000"/>
                </a:lnTo>
                <a:lnTo>
                  <a:pt x="0" y="1000"/>
                </a:lnTo>
                <a:moveTo>
                  <a:pt x="0" y="808"/>
                </a:moveTo>
                <a:lnTo>
                  <a:pt x="0" y="694"/>
                </a:lnTo>
                <a:lnTo>
                  <a:pt x="29" y="694"/>
                </a:lnTo>
                <a:lnTo>
                  <a:pt x="29" y="808"/>
                </a:lnTo>
                <a:lnTo>
                  <a:pt x="0" y="808"/>
                </a:lnTo>
                <a:moveTo>
                  <a:pt x="0" y="617"/>
                </a:moveTo>
                <a:lnTo>
                  <a:pt x="0" y="502"/>
                </a:lnTo>
                <a:lnTo>
                  <a:pt x="29" y="502"/>
                </a:lnTo>
                <a:lnTo>
                  <a:pt x="29" y="617"/>
                </a:lnTo>
                <a:lnTo>
                  <a:pt x="0" y="617"/>
                </a:lnTo>
                <a:moveTo>
                  <a:pt x="0" y="425"/>
                </a:moveTo>
                <a:lnTo>
                  <a:pt x="0" y="310"/>
                </a:lnTo>
                <a:lnTo>
                  <a:pt x="29" y="310"/>
                </a:lnTo>
                <a:lnTo>
                  <a:pt x="29" y="425"/>
                </a:lnTo>
                <a:lnTo>
                  <a:pt x="0" y="425"/>
                </a:lnTo>
                <a:moveTo>
                  <a:pt x="0" y="233"/>
                </a:moveTo>
                <a:lnTo>
                  <a:pt x="0" y="167"/>
                </a:lnTo>
                <a:cubicBezTo>
                  <a:pt x="0" y="149"/>
                  <a:pt x="3" y="132"/>
                  <a:pt x="8" y="115"/>
                </a:cubicBezTo>
                <a:lnTo>
                  <a:pt x="36" y="124"/>
                </a:lnTo>
                <a:cubicBezTo>
                  <a:pt x="31" y="138"/>
                  <a:pt x="29" y="152"/>
                  <a:pt x="29" y="167"/>
                </a:cubicBezTo>
                <a:lnTo>
                  <a:pt x="29" y="233"/>
                </a:lnTo>
                <a:lnTo>
                  <a:pt x="0" y="233"/>
                </a:lnTo>
                <a:moveTo>
                  <a:pt x="54" y="44"/>
                </a:moveTo>
                <a:cubicBezTo>
                  <a:pt x="86" y="15"/>
                  <a:pt x="124" y="0"/>
                  <a:pt x="168" y="0"/>
                </a:cubicBezTo>
                <a:lnTo>
                  <a:pt x="283" y="0"/>
                </a:lnTo>
                <a:lnTo>
                  <a:pt x="283" y="29"/>
                </a:lnTo>
                <a:lnTo>
                  <a:pt x="168" y="29"/>
                </a:lnTo>
                <a:cubicBezTo>
                  <a:pt x="131" y="29"/>
                  <a:pt x="100" y="41"/>
                  <a:pt x="73" y="65"/>
                </a:cubicBezTo>
                <a:lnTo>
                  <a:pt x="54" y="44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8091000" y="3232440"/>
            <a:ext cx="1468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6B7280"/>
                </a:solidFill>
                <a:effectLst/>
                <a:uFillTx/>
                <a:latin typeface=".SFNS"/>
                <a:ea typeface=".SFNS"/>
              </a:rPr>
              <a:t>.csv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9099360" y="3087000"/>
            <a:ext cx="10994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60" b="1" u="none" strike="noStrike">
                <a:solidFill>
                  <a:srgbClr val="374151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03_fit_per_subject.py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0134000" y="2990160"/>
            <a:ext cx="248400" cy="110520"/>
          </a:xfrm>
          <a:custGeom>
            <a:avLst/>
            <a:gdLst/>
            <a:ahLst/>
            <a:rect l="0" t="0" r="r" b="b"/>
            <a:pathLst>
              <a:path w="690" h="307">
                <a:moveTo>
                  <a:pt x="57" y="0"/>
                </a:moveTo>
                <a:lnTo>
                  <a:pt x="633" y="0"/>
                </a:lnTo>
                <a:cubicBezTo>
                  <a:pt x="640" y="0"/>
                  <a:pt x="648" y="1"/>
                  <a:pt x="655" y="4"/>
                </a:cubicBezTo>
                <a:cubicBezTo>
                  <a:pt x="662" y="7"/>
                  <a:pt x="668" y="11"/>
                  <a:pt x="673" y="17"/>
                </a:cubicBezTo>
                <a:cubicBezTo>
                  <a:pt x="679" y="22"/>
                  <a:pt x="683" y="28"/>
                  <a:pt x="686" y="35"/>
                </a:cubicBezTo>
                <a:cubicBezTo>
                  <a:pt x="689" y="42"/>
                  <a:pt x="690" y="50"/>
                  <a:pt x="690" y="57"/>
                </a:cubicBezTo>
                <a:lnTo>
                  <a:pt x="690" y="250"/>
                </a:lnTo>
                <a:cubicBezTo>
                  <a:pt x="690" y="257"/>
                  <a:pt x="689" y="264"/>
                  <a:pt x="686" y="271"/>
                </a:cubicBezTo>
                <a:cubicBezTo>
                  <a:pt x="683" y="279"/>
                  <a:pt x="679" y="285"/>
                  <a:pt x="673" y="290"/>
                </a:cubicBezTo>
                <a:cubicBezTo>
                  <a:pt x="668" y="295"/>
                  <a:pt x="662" y="300"/>
                  <a:pt x="655" y="303"/>
                </a:cubicBezTo>
                <a:cubicBezTo>
                  <a:pt x="648" y="305"/>
                  <a:pt x="640" y="307"/>
                  <a:pt x="633" y="307"/>
                </a:cubicBezTo>
                <a:lnTo>
                  <a:pt x="57" y="307"/>
                </a:lnTo>
                <a:cubicBezTo>
                  <a:pt x="50" y="307"/>
                  <a:pt x="42" y="305"/>
                  <a:pt x="35" y="303"/>
                </a:cubicBezTo>
                <a:cubicBezTo>
                  <a:pt x="28" y="300"/>
                  <a:pt x="22" y="295"/>
                  <a:pt x="17" y="290"/>
                </a:cubicBezTo>
                <a:cubicBezTo>
                  <a:pt x="11" y="285"/>
                  <a:pt x="7" y="279"/>
                  <a:pt x="4" y="271"/>
                </a:cubicBezTo>
                <a:cubicBezTo>
                  <a:pt x="1" y="264"/>
                  <a:pt x="0" y="257"/>
                  <a:pt x="0" y="250"/>
                </a:cubicBezTo>
                <a:lnTo>
                  <a:pt x="0" y="57"/>
                </a:lnTo>
                <a:cubicBezTo>
                  <a:pt x="0" y="50"/>
                  <a:pt x="1" y="42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50" y="0"/>
                  <a:pt x="57" y="0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0134000" y="2990160"/>
            <a:ext cx="248400" cy="110520"/>
          </a:xfrm>
          <a:custGeom>
            <a:avLst/>
            <a:gdLst/>
            <a:ahLst/>
            <a:rect l="0" t="0" r="r" b="b"/>
            <a:pathLst>
              <a:path w="690" h="307">
                <a:moveTo>
                  <a:pt x="57" y="0"/>
                </a:moveTo>
                <a:lnTo>
                  <a:pt x="633" y="0"/>
                </a:lnTo>
                <a:cubicBezTo>
                  <a:pt x="640" y="0"/>
                  <a:pt x="648" y="1"/>
                  <a:pt x="655" y="4"/>
                </a:cubicBezTo>
                <a:cubicBezTo>
                  <a:pt x="662" y="7"/>
                  <a:pt x="668" y="11"/>
                  <a:pt x="673" y="17"/>
                </a:cubicBezTo>
                <a:cubicBezTo>
                  <a:pt x="679" y="22"/>
                  <a:pt x="683" y="28"/>
                  <a:pt x="686" y="35"/>
                </a:cubicBezTo>
                <a:cubicBezTo>
                  <a:pt x="689" y="42"/>
                  <a:pt x="690" y="50"/>
                  <a:pt x="690" y="57"/>
                </a:cubicBezTo>
                <a:lnTo>
                  <a:pt x="690" y="250"/>
                </a:lnTo>
                <a:cubicBezTo>
                  <a:pt x="690" y="257"/>
                  <a:pt x="689" y="264"/>
                  <a:pt x="686" y="271"/>
                </a:cubicBezTo>
                <a:cubicBezTo>
                  <a:pt x="683" y="279"/>
                  <a:pt x="679" y="285"/>
                  <a:pt x="673" y="290"/>
                </a:cubicBezTo>
                <a:cubicBezTo>
                  <a:pt x="668" y="295"/>
                  <a:pt x="662" y="300"/>
                  <a:pt x="655" y="303"/>
                </a:cubicBezTo>
                <a:cubicBezTo>
                  <a:pt x="648" y="305"/>
                  <a:pt x="640" y="307"/>
                  <a:pt x="633" y="307"/>
                </a:cubicBezTo>
                <a:lnTo>
                  <a:pt x="57" y="307"/>
                </a:lnTo>
                <a:cubicBezTo>
                  <a:pt x="50" y="307"/>
                  <a:pt x="42" y="305"/>
                  <a:pt x="35" y="303"/>
                </a:cubicBezTo>
                <a:cubicBezTo>
                  <a:pt x="28" y="300"/>
                  <a:pt x="22" y="295"/>
                  <a:pt x="17" y="290"/>
                </a:cubicBezTo>
                <a:cubicBezTo>
                  <a:pt x="11" y="285"/>
                  <a:pt x="7" y="279"/>
                  <a:pt x="4" y="271"/>
                </a:cubicBezTo>
                <a:cubicBezTo>
                  <a:pt x="1" y="264"/>
                  <a:pt x="0" y="257"/>
                  <a:pt x="0" y="250"/>
                </a:cubicBezTo>
                <a:lnTo>
                  <a:pt x="0" y="57"/>
                </a:lnTo>
                <a:cubicBezTo>
                  <a:pt x="0" y="50"/>
                  <a:pt x="1" y="42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50" y="0"/>
                  <a:pt x="57" y="0"/>
                </a:cubicBezTo>
                <a:close/>
              </a:path>
            </a:pathLst>
          </a:custGeom>
          <a:noFill/>
          <a:ln w="6840">
            <a:solidFill>
              <a:srgbClr val="92400E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9292680" y="3240000"/>
            <a:ext cx="589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.SFNS"/>
                <a:ea typeface=".SFNS"/>
              </a:rPr>
              <a:t>uses src/fitting.py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0513080" y="3010680"/>
            <a:ext cx="965520" cy="413640"/>
          </a:xfrm>
          <a:custGeom>
            <a:avLst/>
            <a:gdLst/>
            <a:ahLst/>
            <a:rect l="0" t="0" r="r" b="b"/>
            <a:pathLst>
              <a:path w="2682" h="1149">
                <a:moveTo>
                  <a:pt x="0" y="0"/>
                </a:moveTo>
                <a:lnTo>
                  <a:pt x="2682" y="0"/>
                </a:lnTo>
                <a:lnTo>
                  <a:pt x="2682" y="1149"/>
                </a:lnTo>
                <a:lnTo>
                  <a:pt x="0" y="114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0509840" y="3007440"/>
            <a:ext cx="972360" cy="420480"/>
          </a:xfrm>
          <a:custGeom>
            <a:avLst/>
            <a:gdLst/>
            <a:ahLst/>
            <a:rect l="0" t="0" r="r" b="b"/>
            <a:pathLst>
              <a:path w="2701" h="1168">
                <a:moveTo>
                  <a:pt x="143" y="0"/>
                </a:moveTo>
                <a:lnTo>
                  <a:pt x="220" y="0"/>
                </a:lnTo>
                <a:lnTo>
                  <a:pt x="220" y="19"/>
                </a:lnTo>
                <a:lnTo>
                  <a:pt x="143" y="19"/>
                </a:lnTo>
                <a:lnTo>
                  <a:pt x="143" y="0"/>
                </a:lnTo>
                <a:moveTo>
                  <a:pt x="277" y="0"/>
                </a:moveTo>
                <a:lnTo>
                  <a:pt x="354" y="0"/>
                </a:lnTo>
                <a:lnTo>
                  <a:pt x="354" y="19"/>
                </a:lnTo>
                <a:lnTo>
                  <a:pt x="277" y="19"/>
                </a:lnTo>
                <a:lnTo>
                  <a:pt x="277" y="0"/>
                </a:lnTo>
                <a:moveTo>
                  <a:pt x="411" y="0"/>
                </a:moveTo>
                <a:lnTo>
                  <a:pt x="488" y="0"/>
                </a:lnTo>
                <a:lnTo>
                  <a:pt x="488" y="19"/>
                </a:lnTo>
                <a:lnTo>
                  <a:pt x="411" y="19"/>
                </a:lnTo>
                <a:lnTo>
                  <a:pt x="411" y="0"/>
                </a:lnTo>
                <a:moveTo>
                  <a:pt x="545" y="0"/>
                </a:moveTo>
                <a:lnTo>
                  <a:pt x="622" y="0"/>
                </a:lnTo>
                <a:lnTo>
                  <a:pt x="622" y="19"/>
                </a:lnTo>
                <a:lnTo>
                  <a:pt x="545" y="19"/>
                </a:lnTo>
                <a:lnTo>
                  <a:pt x="545" y="0"/>
                </a:lnTo>
                <a:moveTo>
                  <a:pt x="679" y="0"/>
                </a:moveTo>
                <a:lnTo>
                  <a:pt x="756" y="0"/>
                </a:lnTo>
                <a:lnTo>
                  <a:pt x="756" y="19"/>
                </a:lnTo>
                <a:lnTo>
                  <a:pt x="679" y="19"/>
                </a:lnTo>
                <a:lnTo>
                  <a:pt x="679" y="0"/>
                </a:lnTo>
                <a:moveTo>
                  <a:pt x="813" y="0"/>
                </a:moveTo>
                <a:lnTo>
                  <a:pt x="890" y="0"/>
                </a:lnTo>
                <a:lnTo>
                  <a:pt x="890" y="19"/>
                </a:lnTo>
                <a:lnTo>
                  <a:pt x="813" y="19"/>
                </a:lnTo>
                <a:lnTo>
                  <a:pt x="813" y="0"/>
                </a:lnTo>
                <a:moveTo>
                  <a:pt x="948" y="0"/>
                </a:moveTo>
                <a:lnTo>
                  <a:pt x="1024" y="0"/>
                </a:lnTo>
                <a:lnTo>
                  <a:pt x="1024" y="19"/>
                </a:lnTo>
                <a:lnTo>
                  <a:pt x="948" y="19"/>
                </a:lnTo>
                <a:lnTo>
                  <a:pt x="948" y="0"/>
                </a:lnTo>
                <a:moveTo>
                  <a:pt x="1082" y="0"/>
                </a:moveTo>
                <a:lnTo>
                  <a:pt x="1158" y="0"/>
                </a:lnTo>
                <a:lnTo>
                  <a:pt x="1158" y="19"/>
                </a:lnTo>
                <a:lnTo>
                  <a:pt x="1082" y="19"/>
                </a:lnTo>
                <a:lnTo>
                  <a:pt x="1082" y="0"/>
                </a:lnTo>
                <a:moveTo>
                  <a:pt x="1216" y="0"/>
                </a:moveTo>
                <a:lnTo>
                  <a:pt x="1292" y="0"/>
                </a:lnTo>
                <a:lnTo>
                  <a:pt x="1292" y="19"/>
                </a:lnTo>
                <a:lnTo>
                  <a:pt x="1216" y="19"/>
                </a:lnTo>
                <a:lnTo>
                  <a:pt x="1216" y="0"/>
                </a:lnTo>
                <a:moveTo>
                  <a:pt x="1350" y="0"/>
                </a:moveTo>
                <a:lnTo>
                  <a:pt x="1426" y="0"/>
                </a:lnTo>
                <a:lnTo>
                  <a:pt x="1426" y="19"/>
                </a:lnTo>
                <a:lnTo>
                  <a:pt x="1350" y="19"/>
                </a:lnTo>
                <a:lnTo>
                  <a:pt x="1350" y="0"/>
                </a:lnTo>
                <a:moveTo>
                  <a:pt x="1484" y="0"/>
                </a:moveTo>
                <a:lnTo>
                  <a:pt x="1560" y="0"/>
                </a:lnTo>
                <a:lnTo>
                  <a:pt x="1560" y="19"/>
                </a:lnTo>
                <a:lnTo>
                  <a:pt x="1484" y="19"/>
                </a:lnTo>
                <a:lnTo>
                  <a:pt x="1484" y="0"/>
                </a:lnTo>
                <a:moveTo>
                  <a:pt x="1618" y="0"/>
                </a:moveTo>
                <a:lnTo>
                  <a:pt x="1694" y="0"/>
                </a:lnTo>
                <a:lnTo>
                  <a:pt x="1694" y="19"/>
                </a:lnTo>
                <a:lnTo>
                  <a:pt x="1618" y="19"/>
                </a:lnTo>
                <a:lnTo>
                  <a:pt x="1618" y="0"/>
                </a:lnTo>
                <a:moveTo>
                  <a:pt x="1752" y="0"/>
                </a:moveTo>
                <a:lnTo>
                  <a:pt x="1828" y="0"/>
                </a:lnTo>
                <a:lnTo>
                  <a:pt x="1828" y="19"/>
                </a:lnTo>
                <a:lnTo>
                  <a:pt x="1752" y="19"/>
                </a:lnTo>
                <a:lnTo>
                  <a:pt x="1752" y="0"/>
                </a:lnTo>
                <a:moveTo>
                  <a:pt x="1887" y="0"/>
                </a:moveTo>
                <a:lnTo>
                  <a:pt x="1963" y="0"/>
                </a:lnTo>
                <a:lnTo>
                  <a:pt x="1963" y="19"/>
                </a:lnTo>
                <a:lnTo>
                  <a:pt x="1887" y="19"/>
                </a:lnTo>
                <a:lnTo>
                  <a:pt x="1887" y="0"/>
                </a:lnTo>
                <a:moveTo>
                  <a:pt x="2021" y="0"/>
                </a:moveTo>
                <a:lnTo>
                  <a:pt x="2098" y="0"/>
                </a:lnTo>
                <a:lnTo>
                  <a:pt x="2098" y="19"/>
                </a:lnTo>
                <a:lnTo>
                  <a:pt x="2021" y="19"/>
                </a:lnTo>
                <a:lnTo>
                  <a:pt x="2021" y="0"/>
                </a:lnTo>
                <a:moveTo>
                  <a:pt x="2155" y="0"/>
                </a:moveTo>
                <a:lnTo>
                  <a:pt x="2232" y="0"/>
                </a:lnTo>
                <a:lnTo>
                  <a:pt x="2232" y="19"/>
                </a:lnTo>
                <a:lnTo>
                  <a:pt x="2155" y="19"/>
                </a:lnTo>
                <a:lnTo>
                  <a:pt x="2155" y="0"/>
                </a:lnTo>
                <a:moveTo>
                  <a:pt x="2289" y="0"/>
                </a:moveTo>
                <a:lnTo>
                  <a:pt x="2366" y="0"/>
                </a:lnTo>
                <a:lnTo>
                  <a:pt x="2366" y="19"/>
                </a:lnTo>
                <a:lnTo>
                  <a:pt x="2289" y="19"/>
                </a:lnTo>
                <a:lnTo>
                  <a:pt x="2289" y="0"/>
                </a:lnTo>
                <a:moveTo>
                  <a:pt x="2423" y="0"/>
                </a:moveTo>
                <a:lnTo>
                  <a:pt x="2500" y="0"/>
                </a:lnTo>
                <a:lnTo>
                  <a:pt x="2500" y="19"/>
                </a:lnTo>
                <a:lnTo>
                  <a:pt x="2423" y="19"/>
                </a:lnTo>
                <a:lnTo>
                  <a:pt x="2423" y="0"/>
                </a:lnTo>
                <a:moveTo>
                  <a:pt x="2557" y="0"/>
                </a:moveTo>
                <a:lnTo>
                  <a:pt x="2634" y="0"/>
                </a:lnTo>
                <a:lnTo>
                  <a:pt x="2634" y="19"/>
                </a:lnTo>
                <a:lnTo>
                  <a:pt x="2557" y="19"/>
                </a:lnTo>
                <a:lnTo>
                  <a:pt x="2557" y="0"/>
                </a:lnTo>
                <a:moveTo>
                  <a:pt x="2701" y="9"/>
                </a:moveTo>
                <a:lnTo>
                  <a:pt x="2701" y="86"/>
                </a:lnTo>
                <a:lnTo>
                  <a:pt x="2682" y="86"/>
                </a:lnTo>
                <a:lnTo>
                  <a:pt x="2682" y="9"/>
                </a:lnTo>
                <a:lnTo>
                  <a:pt x="2701" y="9"/>
                </a:lnTo>
                <a:moveTo>
                  <a:pt x="2701" y="143"/>
                </a:moveTo>
                <a:lnTo>
                  <a:pt x="2701" y="220"/>
                </a:lnTo>
                <a:lnTo>
                  <a:pt x="2682" y="220"/>
                </a:lnTo>
                <a:lnTo>
                  <a:pt x="2682" y="143"/>
                </a:lnTo>
                <a:lnTo>
                  <a:pt x="2701" y="143"/>
                </a:lnTo>
                <a:moveTo>
                  <a:pt x="2701" y="277"/>
                </a:moveTo>
                <a:lnTo>
                  <a:pt x="2701" y="354"/>
                </a:lnTo>
                <a:lnTo>
                  <a:pt x="2682" y="354"/>
                </a:lnTo>
                <a:lnTo>
                  <a:pt x="2682" y="277"/>
                </a:lnTo>
                <a:lnTo>
                  <a:pt x="2701" y="277"/>
                </a:lnTo>
                <a:moveTo>
                  <a:pt x="2701" y="412"/>
                </a:moveTo>
                <a:lnTo>
                  <a:pt x="2701" y="489"/>
                </a:lnTo>
                <a:lnTo>
                  <a:pt x="2682" y="489"/>
                </a:lnTo>
                <a:lnTo>
                  <a:pt x="2682" y="412"/>
                </a:lnTo>
                <a:lnTo>
                  <a:pt x="2701" y="412"/>
                </a:lnTo>
                <a:moveTo>
                  <a:pt x="2701" y="546"/>
                </a:moveTo>
                <a:lnTo>
                  <a:pt x="2701" y="622"/>
                </a:lnTo>
                <a:lnTo>
                  <a:pt x="2682" y="622"/>
                </a:lnTo>
                <a:lnTo>
                  <a:pt x="2682" y="546"/>
                </a:lnTo>
                <a:lnTo>
                  <a:pt x="2701" y="546"/>
                </a:lnTo>
                <a:moveTo>
                  <a:pt x="2701" y="680"/>
                </a:moveTo>
                <a:lnTo>
                  <a:pt x="2701" y="756"/>
                </a:lnTo>
                <a:lnTo>
                  <a:pt x="2682" y="756"/>
                </a:lnTo>
                <a:lnTo>
                  <a:pt x="2682" y="680"/>
                </a:lnTo>
                <a:lnTo>
                  <a:pt x="2701" y="680"/>
                </a:lnTo>
                <a:moveTo>
                  <a:pt x="2701" y="814"/>
                </a:moveTo>
                <a:lnTo>
                  <a:pt x="2701" y="890"/>
                </a:lnTo>
                <a:lnTo>
                  <a:pt x="2682" y="890"/>
                </a:lnTo>
                <a:lnTo>
                  <a:pt x="2682" y="814"/>
                </a:lnTo>
                <a:lnTo>
                  <a:pt x="2701" y="814"/>
                </a:lnTo>
                <a:moveTo>
                  <a:pt x="2701" y="948"/>
                </a:moveTo>
                <a:lnTo>
                  <a:pt x="2701" y="1024"/>
                </a:lnTo>
                <a:lnTo>
                  <a:pt x="2682" y="1024"/>
                </a:lnTo>
                <a:lnTo>
                  <a:pt x="2682" y="948"/>
                </a:lnTo>
                <a:lnTo>
                  <a:pt x="2701" y="948"/>
                </a:lnTo>
                <a:moveTo>
                  <a:pt x="2701" y="1082"/>
                </a:moveTo>
                <a:lnTo>
                  <a:pt x="2701" y="1158"/>
                </a:lnTo>
                <a:lnTo>
                  <a:pt x="2682" y="1158"/>
                </a:lnTo>
                <a:lnTo>
                  <a:pt x="2682" y="1082"/>
                </a:lnTo>
                <a:lnTo>
                  <a:pt x="2701" y="1082"/>
                </a:lnTo>
                <a:moveTo>
                  <a:pt x="2634" y="1168"/>
                </a:moveTo>
                <a:lnTo>
                  <a:pt x="2557" y="1168"/>
                </a:lnTo>
                <a:lnTo>
                  <a:pt x="2557" y="1149"/>
                </a:lnTo>
                <a:lnTo>
                  <a:pt x="2634" y="1149"/>
                </a:lnTo>
                <a:lnTo>
                  <a:pt x="2634" y="1168"/>
                </a:lnTo>
                <a:moveTo>
                  <a:pt x="2500" y="1168"/>
                </a:moveTo>
                <a:lnTo>
                  <a:pt x="2423" y="1168"/>
                </a:lnTo>
                <a:lnTo>
                  <a:pt x="2423" y="1149"/>
                </a:lnTo>
                <a:lnTo>
                  <a:pt x="2500" y="1149"/>
                </a:lnTo>
                <a:lnTo>
                  <a:pt x="2500" y="1168"/>
                </a:lnTo>
                <a:moveTo>
                  <a:pt x="2366" y="1168"/>
                </a:moveTo>
                <a:lnTo>
                  <a:pt x="2289" y="1168"/>
                </a:lnTo>
                <a:lnTo>
                  <a:pt x="2289" y="1149"/>
                </a:lnTo>
                <a:lnTo>
                  <a:pt x="2366" y="1149"/>
                </a:lnTo>
                <a:lnTo>
                  <a:pt x="2366" y="1168"/>
                </a:lnTo>
                <a:moveTo>
                  <a:pt x="2232" y="1168"/>
                </a:moveTo>
                <a:lnTo>
                  <a:pt x="2155" y="1168"/>
                </a:lnTo>
                <a:lnTo>
                  <a:pt x="2155" y="1149"/>
                </a:lnTo>
                <a:lnTo>
                  <a:pt x="2232" y="1149"/>
                </a:lnTo>
                <a:lnTo>
                  <a:pt x="2232" y="1168"/>
                </a:lnTo>
                <a:moveTo>
                  <a:pt x="2098" y="1168"/>
                </a:moveTo>
                <a:lnTo>
                  <a:pt x="2021" y="1168"/>
                </a:lnTo>
                <a:lnTo>
                  <a:pt x="2021" y="1149"/>
                </a:lnTo>
                <a:lnTo>
                  <a:pt x="2098" y="1149"/>
                </a:lnTo>
                <a:lnTo>
                  <a:pt x="2098" y="1168"/>
                </a:lnTo>
                <a:moveTo>
                  <a:pt x="1963" y="1168"/>
                </a:moveTo>
                <a:lnTo>
                  <a:pt x="1887" y="1168"/>
                </a:lnTo>
                <a:lnTo>
                  <a:pt x="1887" y="1149"/>
                </a:lnTo>
                <a:lnTo>
                  <a:pt x="1963" y="1149"/>
                </a:lnTo>
                <a:lnTo>
                  <a:pt x="1963" y="1168"/>
                </a:lnTo>
                <a:moveTo>
                  <a:pt x="1828" y="1168"/>
                </a:moveTo>
                <a:lnTo>
                  <a:pt x="1752" y="1168"/>
                </a:lnTo>
                <a:lnTo>
                  <a:pt x="1752" y="1149"/>
                </a:lnTo>
                <a:lnTo>
                  <a:pt x="1828" y="1149"/>
                </a:lnTo>
                <a:lnTo>
                  <a:pt x="1828" y="1168"/>
                </a:lnTo>
                <a:moveTo>
                  <a:pt x="1694" y="1168"/>
                </a:moveTo>
                <a:lnTo>
                  <a:pt x="1618" y="1168"/>
                </a:lnTo>
                <a:lnTo>
                  <a:pt x="1618" y="1149"/>
                </a:lnTo>
                <a:lnTo>
                  <a:pt x="1694" y="1149"/>
                </a:lnTo>
                <a:lnTo>
                  <a:pt x="1694" y="1168"/>
                </a:lnTo>
                <a:moveTo>
                  <a:pt x="1560" y="1168"/>
                </a:moveTo>
                <a:lnTo>
                  <a:pt x="1484" y="1168"/>
                </a:lnTo>
                <a:lnTo>
                  <a:pt x="1484" y="1149"/>
                </a:lnTo>
                <a:lnTo>
                  <a:pt x="1560" y="1149"/>
                </a:lnTo>
                <a:lnTo>
                  <a:pt x="1560" y="1168"/>
                </a:lnTo>
                <a:moveTo>
                  <a:pt x="1426" y="1168"/>
                </a:moveTo>
                <a:lnTo>
                  <a:pt x="1350" y="1168"/>
                </a:lnTo>
                <a:lnTo>
                  <a:pt x="1350" y="1149"/>
                </a:lnTo>
                <a:lnTo>
                  <a:pt x="1426" y="1149"/>
                </a:lnTo>
                <a:lnTo>
                  <a:pt x="1426" y="1168"/>
                </a:lnTo>
                <a:moveTo>
                  <a:pt x="1292" y="1168"/>
                </a:moveTo>
                <a:lnTo>
                  <a:pt x="1216" y="1168"/>
                </a:lnTo>
                <a:lnTo>
                  <a:pt x="1216" y="1149"/>
                </a:lnTo>
                <a:lnTo>
                  <a:pt x="1292" y="1149"/>
                </a:lnTo>
                <a:lnTo>
                  <a:pt x="1292" y="1168"/>
                </a:lnTo>
                <a:moveTo>
                  <a:pt x="1158" y="1168"/>
                </a:moveTo>
                <a:lnTo>
                  <a:pt x="1082" y="1168"/>
                </a:lnTo>
                <a:lnTo>
                  <a:pt x="1082" y="1149"/>
                </a:lnTo>
                <a:lnTo>
                  <a:pt x="1158" y="1149"/>
                </a:lnTo>
                <a:lnTo>
                  <a:pt x="1158" y="1168"/>
                </a:lnTo>
                <a:moveTo>
                  <a:pt x="1024" y="1168"/>
                </a:moveTo>
                <a:lnTo>
                  <a:pt x="948" y="1168"/>
                </a:lnTo>
                <a:lnTo>
                  <a:pt x="948" y="1149"/>
                </a:lnTo>
                <a:lnTo>
                  <a:pt x="1024" y="1149"/>
                </a:lnTo>
                <a:lnTo>
                  <a:pt x="1024" y="1168"/>
                </a:lnTo>
                <a:moveTo>
                  <a:pt x="890" y="1168"/>
                </a:moveTo>
                <a:lnTo>
                  <a:pt x="813" y="1168"/>
                </a:lnTo>
                <a:lnTo>
                  <a:pt x="813" y="1149"/>
                </a:lnTo>
                <a:lnTo>
                  <a:pt x="890" y="1149"/>
                </a:lnTo>
                <a:lnTo>
                  <a:pt x="890" y="1168"/>
                </a:lnTo>
                <a:moveTo>
                  <a:pt x="756" y="1168"/>
                </a:moveTo>
                <a:lnTo>
                  <a:pt x="679" y="1168"/>
                </a:lnTo>
                <a:lnTo>
                  <a:pt x="679" y="1149"/>
                </a:lnTo>
                <a:lnTo>
                  <a:pt x="756" y="1149"/>
                </a:lnTo>
                <a:lnTo>
                  <a:pt x="756" y="1168"/>
                </a:lnTo>
                <a:moveTo>
                  <a:pt x="622" y="1168"/>
                </a:moveTo>
                <a:lnTo>
                  <a:pt x="545" y="1168"/>
                </a:lnTo>
                <a:lnTo>
                  <a:pt x="545" y="1149"/>
                </a:lnTo>
                <a:lnTo>
                  <a:pt x="622" y="1149"/>
                </a:lnTo>
                <a:lnTo>
                  <a:pt x="622" y="1168"/>
                </a:lnTo>
                <a:moveTo>
                  <a:pt x="488" y="1168"/>
                </a:moveTo>
                <a:lnTo>
                  <a:pt x="411" y="1168"/>
                </a:lnTo>
                <a:lnTo>
                  <a:pt x="411" y="1149"/>
                </a:lnTo>
                <a:lnTo>
                  <a:pt x="488" y="1149"/>
                </a:lnTo>
                <a:lnTo>
                  <a:pt x="488" y="1168"/>
                </a:lnTo>
                <a:moveTo>
                  <a:pt x="354" y="1168"/>
                </a:moveTo>
                <a:lnTo>
                  <a:pt x="277" y="1168"/>
                </a:lnTo>
                <a:lnTo>
                  <a:pt x="277" y="1149"/>
                </a:lnTo>
                <a:lnTo>
                  <a:pt x="354" y="1149"/>
                </a:lnTo>
                <a:lnTo>
                  <a:pt x="354" y="1168"/>
                </a:lnTo>
                <a:moveTo>
                  <a:pt x="220" y="1168"/>
                </a:moveTo>
                <a:lnTo>
                  <a:pt x="143" y="1168"/>
                </a:lnTo>
                <a:lnTo>
                  <a:pt x="143" y="1149"/>
                </a:lnTo>
                <a:lnTo>
                  <a:pt x="220" y="1149"/>
                </a:lnTo>
                <a:lnTo>
                  <a:pt x="220" y="1168"/>
                </a:lnTo>
                <a:moveTo>
                  <a:pt x="86" y="1168"/>
                </a:moveTo>
                <a:lnTo>
                  <a:pt x="9" y="1168"/>
                </a:lnTo>
                <a:lnTo>
                  <a:pt x="9" y="1149"/>
                </a:lnTo>
                <a:lnTo>
                  <a:pt x="86" y="1149"/>
                </a:lnTo>
                <a:lnTo>
                  <a:pt x="86" y="1168"/>
                </a:lnTo>
                <a:moveTo>
                  <a:pt x="0" y="1101"/>
                </a:moveTo>
                <a:lnTo>
                  <a:pt x="0" y="1024"/>
                </a:lnTo>
                <a:lnTo>
                  <a:pt x="19" y="1024"/>
                </a:lnTo>
                <a:lnTo>
                  <a:pt x="19" y="1101"/>
                </a:lnTo>
                <a:lnTo>
                  <a:pt x="0" y="1101"/>
                </a:lnTo>
                <a:moveTo>
                  <a:pt x="0" y="967"/>
                </a:moveTo>
                <a:lnTo>
                  <a:pt x="0" y="890"/>
                </a:lnTo>
                <a:lnTo>
                  <a:pt x="19" y="890"/>
                </a:lnTo>
                <a:lnTo>
                  <a:pt x="19" y="967"/>
                </a:lnTo>
                <a:lnTo>
                  <a:pt x="0" y="967"/>
                </a:lnTo>
                <a:moveTo>
                  <a:pt x="0" y="833"/>
                </a:moveTo>
                <a:lnTo>
                  <a:pt x="0" y="756"/>
                </a:lnTo>
                <a:lnTo>
                  <a:pt x="19" y="756"/>
                </a:lnTo>
                <a:lnTo>
                  <a:pt x="19" y="833"/>
                </a:lnTo>
                <a:lnTo>
                  <a:pt x="0" y="833"/>
                </a:lnTo>
                <a:moveTo>
                  <a:pt x="0" y="699"/>
                </a:moveTo>
                <a:lnTo>
                  <a:pt x="0" y="622"/>
                </a:lnTo>
                <a:lnTo>
                  <a:pt x="19" y="622"/>
                </a:lnTo>
                <a:lnTo>
                  <a:pt x="19" y="699"/>
                </a:lnTo>
                <a:lnTo>
                  <a:pt x="0" y="699"/>
                </a:lnTo>
                <a:moveTo>
                  <a:pt x="0" y="565"/>
                </a:moveTo>
                <a:lnTo>
                  <a:pt x="0" y="489"/>
                </a:lnTo>
                <a:lnTo>
                  <a:pt x="19" y="489"/>
                </a:lnTo>
                <a:lnTo>
                  <a:pt x="19" y="565"/>
                </a:lnTo>
                <a:lnTo>
                  <a:pt x="0" y="565"/>
                </a:lnTo>
                <a:moveTo>
                  <a:pt x="0" y="431"/>
                </a:moveTo>
                <a:lnTo>
                  <a:pt x="0" y="354"/>
                </a:lnTo>
                <a:lnTo>
                  <a:pt x="19" y="354"/>
                </a:lnTo>
                <a:lnTo>
                  <a:pt x="19" y="431"/>
                </a:lnTo>
                <a:lnTo>
                  <a:pt x="0" y="431"/>
                </a:lnTo>
                <a:moveTo>
                  <a:pt x="0" y="296"/>
                </a:moveTo>
                <a:lnTo>
                  <a:pt x="0" y="220"/>
                </a:lnTo>
                <a:lnTo>
                  <a:pt x="19" y="220"/>
                </a:lnTo>
                <a:lnTo>
                  <a:pt x="19" y="296"/>
                </a:lnTo>
                <a:lnTo>
                  <a:pt x="0" y="296"/>
                </a:lnTo>
                <a:moveTo>
                  <a:pt x="0" y="162"/>
                </a:moveTo>
                <a:lnTo>
                  <a:pt x="0" y="86"/>
                </a:lnTo>
                <a:lnTo>
                  <a:pt x="19" y="86"/>
                </a:lnTo>
                <a:lnTo>
                  <a:pt x="19" y="162"/>
                </a:lnTo>
                <a:lnTo>
                  <a:pt x="0" y="162"/>
                </a:lnTo>
                <a:moveTo>
                  <a:pt x="0" y="28"/>
                </a:moveTo>
                <a:lnTo>
                  <a:pt x="0" y="0"/>
                </a:lnTo>
                <a:lnTo>
                  <a:pt x="86" y="0"/>
                </a:lnTo>
                <a:lnTo>
                  <a:pt x="86" y="19"/>
                </a:lnTo>
                <a:lnTo>
                  <a:pt x="19" y="19"/>
                </a:lnTo>
                <a:lnTo>
                  <a:pt x="19" y="28"/>
                </a:lnTo>
                <a:lnTo>
                  <a:pt x="0" y="28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0184400" y="2999520"/>
            <a:ext cx="15696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40" b="1" u="none" strike="noStrike">
                <a:solidFill>
                  <a:srgbClr val="92400E"/>
                </a:solidFill>
                <a:effectLst/>
                <a:uFillTx/>
                <a:latin typeface=".SFNS"/>
                <a:ea typeface=".SFNS"/>
              </a:rPr>
              <a:t>TBD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0765800" y="3087000"/>
            <a:ext cx="502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60" b="1" u="none" strike="noStrike">
                <a:solidFill>
                  <a:srgbClr val="6B7280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fitted_tau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5893920" y="3217320"/>
            <a:ext cx="207000" cy="0"/>
          </a:xfrm>
          <a:prstGeom prst="line">
            <a:avLst/>
          </a:prstGeom>
          <a:ln w="1368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tIns="-6840" rIns="6840" bIns="-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038640" y="3183120"/>
            <a:ext cx="69480" cy="69120"/>
          </a:xfrm>
          <a:custGeom>
            <a:avLst/>
            <a:gdLst/>
            <a:ahLst/>
            <a:rect l="0" t="0" r="r" b="b"/>
            <a:pathLst>
              <a:path w="193" h="192">
                <a:moveTo>
                  <a:pt x="0" y="0"/>
                </a:moveTo>
                <a:lnTo>
                  <a:pt x="0" y="192"/>
                </a:lnTo>
                <a:lnTo>
                  <a:pt x="193" y="96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7479720" y="3217320"/>
            <a:ext cx="206640" cy="0"/>
          </a:xfrm>
          <a:prstGeom prst="line">
            <a:avLst/>
          </a:prstGeom>
          <a:ln w="1368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tIns="-6840" rIns="6840" bIns="-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7624440" y="3183120"/>
            <a:ext cx="69480" cy="69120"/>
          </a:xfrm>
          <a:custGeom>
            <a:avLst/>
            <a:gdLst/>
            <a:ahLst/>
            <a:rect l="0" t="0" r="r" b="b"/>
            <a:pathLst>
              <a:path w="193" h="192">
                <a:moveTo>
                  <a:pt x="0" y="192"/>
                </a:moveTo>
                <a:lnTo>
                  <a:pt x="193" y="96"/>
                </a:lnTo>
                <a:lnTo>
                  <a:pt x="0" y="0"/>
                </a:lnTo>
                <a:lnTo>
                  <a:pt x="0" y="192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8651520" y="3210480"/>
            <a:ext cx="269280" cy="14040"/>
          </a:xfrm>
          <a:custGeom>
            <a:avLst/>
            <a:gdLst/>
            <a:ahLst/>
            <a:rect l="0" t="0" r="r" b="b"/>
            <a:pathLst>
              <a:path w="748" h="39">
                <a:moveTo>
                  <a:pt x="0" y="0"/>
                </a:moveTo>
                <a:lnTo>
                  <a:pt x="77" y="0"/>
                </a:lnTo>
                <a:lnTo>
                  <a:pt x="77" y="39"/>
                </a:lnTo>
                <a:lnTo>
                  <a:pt x="0" y="39"/>
                </a:lnTo>
                <a:lnTo>
                  <a:pt x="0" y="0"/>
                </a:lnTo>
                <a:moveTo>
                  <a:pt x="135" y="0"/>
                </a:moveTo>
                <a:lnTo>
                  <a:pt x="211" y="0"/>
                </a:lnTo>
                <a:lnTo>
                  <a:pt x="211" y="39"/>
                </a:lnTo>
                <a:lnTo>
                  <a:pt x="135" y="39"/>
                </a:lnTo>
                <a:lnTo>
                  <a:pt x="135" y="0"/>
                </a:lnTo>
                <a:moveTo>
                  <a:pt x="270" y="0"/>
                </a:moveTo>
                <a:lnTo>
                  <a:pt x="346" y="0"/>
                </a:lnTo>
                <a:lnTo>
                  <a:pt x="346" y="39"/>
                </a:lnTo>
                <a:lnTo>
                  <a:pt x="270" y="39"/>
                </a:lnTo>
                <a:lnTo>
                  <a:pt x="270" y="0"/>
                </a:lnTo>
                <a:moveTo>
                  <a:pt x="404" y="0"/>
                </a:moveTo>
                <a:lnTo>
                  <a:pt x="480" y="0"/>
                </a:lnTo>
                <a:lnTo>
                  <a:pt x="480" y="39"/>
                </a:lnTo>
                <a:lnTo>
                  <a:pt x="404" y="39"/>
                </a:lnTo>
                <a:lnTo>
                  <a:pt x="404" y="0"/>
                </a:lnTo>
                <a:moveTo>
                  <a:pt x="538" y="0"/>
                </a:moveTo>
                <a:lnTo>
                  <a:pt x="614" y="0"/>
                </a:lnTo>
                <a:lnTo>
                  <a:pt x="614" y="39"/>
                </a:lnTo>
                <a:lnTo>
                  <a:pt x="538" y="39"/>
                </a:lnTo>
                <a:lnTo>
                  <a:pt x="538" y="0"/>
                </a:lnTo>
                <a:moveTo>
                  <a:pt x="672" y="0"/>
                </a:moveTo>
                <a:lnTo>
                  <a:pt x="748" y="0"/>
                </a:lnTo>
                <a:lnTo>
                  <a:pt x="748" y="39"/>
                </a:lnTo>
                <a:lnTo>
                  <a:pt x="672" y="39"/>
                </a:lnTo>
                <a:lnTo>
                  <a:pt x="672" y="0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8865360" y="3183120"/>
            <a:ext cx="69480" cy="69120"/>
          </a:xfrm>
          <a:custGeom>
            <a:avLst/>
            <a:gdLst/>
            <a:ahLst/>
            <a:rect l="0" t="0" r="r" b="b"/>
            <a:pathLst>
              <a:path w="193" h="192">
                <a:moveTo>
                  <a:pt x="0" y="192"/>
                </a:moveTo>
                <a:lnTo>
                  <a:pt x="193" y="96"/>
                </a:lnTo>
                <a:lnTo>
                  <a:pt x="0" y="0"/>
                </a:lnTo>
                <a:lnTo>
                  <a:pt x="0" y="192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0306440" y="3210480"/>
            <a:ext cx="207000" cy="14040"/>
          </a:xfrm>
          <a:custGeom>
            <a:avLst/>
            <a:gdLst/>
            <a:ahLst/>
            <a:rect l="0" t="0" r="r" b="b"/>
            <a:pathLst>
              <a:path w="575" h="39">
                <a:moveTo>
                  <a:pt x="0" y="0"/>
                </a:moveTo>
                <a:lnTo>
                  <a:pt x="76" y="0"/>
                </a:lnTo>
                <a:lnTo>
                  <a:pt x="76" y="39"/>
                </a:lnTo>
                <a:lnTo>
                  <a:pt x="0" y="39"/>
                </a:lnTo>
                <a:lnTo>
                  <a:pt x="0" y="0"/>
                </a:lnTo>
                <a:moveTo>
                  <a:pt x="134" y="0"/>
                </a:moveTo>
                <a:lnTo>
                  <a:pt x="210" y="0"/>
                </a:lnTo>
                <a:lnTo>
                  <a:pt x="210" y="39"/>
                </a:lnTo>
                <a:lnTo>
                  <a:pt x="134" y="39"/>
                </a:lnTo>
                <a:lnTo>
                  <a:pt x="134" y="0"/>
                </a:lnTo>
                <a:moveTo>
                  <a:pt x="268" y="0"/>
                </a:moveTo>
                <a:lnTo>
                  <a:pt x="344" y="0"/>
                </a:lnTo>
                <a:lnTo>
                  <a:pt x="344" y="39"/>
                </a:lnTo>
                <a:lnTo>
                  <a:pt x="268" y="39"/>
                </a:lnTo>
                <a:lnTo>
                  <a:pt x="268" y="0"/>
                </a:lnTo>
                <a:moveTo>
                  <a:pt x="403" y="0"/>
                </a:moveTo>
                <a:lnTo>
                  <a:pt x="479" y="0"/>
                </a:lnTo>
                <a:lnTo>
                  <a:pt x="479" y="39"/>
                </a:lnTo>
                <a:lnTo>
                  <a:pt x="403" y="39"/>
                </a:lnTo>
                <a:lnTo>
                  <a:pt x="403" y="0"/>
                </a:lnTo>
                <a:moveTo>
                  <a:pt x="537" y="0"/>
                </a:moveTo>
                <a:lnTo>
                  <a:pt x="575" y="0"/>
                </a:lnTo>
                <a:lnTo>
                  <a:pt x="575" y="39"/>
                </a:lnTo>
                <a:lnTo>
                  <a:pt x="537" y="39"/>
                </a:lnTo>
                <a:lnTo>
                  <a:pt x="537" y="0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0451160" y="3183120"/>
            <a:ext cx="69120" cy="69120"/>
          </a:xfrm>
          <a:custGeom>
            <a:avLst/>
            <a:gdLst/>
            <a:ahLst/>
            <a:rect l="0" t="0" r="r" b="b"/>
            <a:pathLst>
              <a:path w="192" h="192">
                <a:moveTo>
                  <a:pt x="0" y="192"/>
                </a:moveTo>
                <a:lnTo>
                  <a:pt x="192" y="96"/>
                </a:lnTo>
                <a:lnTo>
                  <a:pt x="0" y="0"/>
                </a:lnTo>
                <a:lnTo>
                  <a:pt x="0" y="192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7479720" y="3906360"/>
            <a:ext cx="1379160" cy="413640"/>
          </a:xfrm>
          <a:custGeom>
            <a:avLst/>
            <a:gdLst/>
            <a:ahLst/>
            <a:rect l="0" t="0" r="r" b="b"/>
            <a:pathLst>
              <a:path w="3831" h="1149">
                <a:moveTo>
                  <a:pt x="153" y="0"/>
                </a:moveTo>
                <a:lnTo>
                  <a:pt x="3678" y="0"/>
                </a:lnTo>
                <a:cubicBezTo>
                  <a:pt x="3688" y="0"/>
                  <a:pt x="3698" y="1"/>
                  <a:pt x="3708" y="3"/>
                </a:cubicBezTo>
                <a:cubicBezTo>
                  <a:pt x="3718" y="5"/>
                  <a:pt x="3727" y="8"/>
                  <a:pt x="3736" y="11"/>
                </a:cubicBezTo>
                <a:cubicBezTo>
                  <a:pt x="3746" y="15"/>
                  <a:pt x="3755" y="20"/>
                  <a:pt x="3763" y="26"/>
                </a:cubicBezTo>
                <a:cubicBezTo>
                  <a:pt x="3771" y="31"/>
                  <a:pt x="3779" y="37"/>
                  <a:pt x="3786" y="45"/>
                </a:cubicBezTo>
                <a:cubicBezTo>
                  <a:pt x="3793" y="52"/>
                  <a:pt x="3800" y="60"/>
                  <a:pt x="3805" y="69"/>
                </a:cubicBezTo>
                <a:cubicBezTo>
                  <a:pt x="3811" y="77"/>
                  <a:pt x="3815" y="86"/>
                  <a:pt x="3819" y="95"/>
                </a:cubicBezTo>
                <a:cubicBezTo>
                  <a:pt x="3823" y="105"/>
                  <a:pt x="3826" y="114"/>
                  <a:pt x="3828" y="124"/>
                </a:cubicBezTo>
                <a:cubicBezTo>
                  <a:pt x="3830" y="134"/>
                  <a:pt x="3831" y="144"/>
                  <a:pt x="3831" y="154"/>
                </a:cubicBezTo>
                <a:lnTo>
                  <a:pt x="3831" y="996"/>
                </a:lnTo>
                <a:cubicBezTo>
                  <a:pt x="3831" y="1006"/>
                  <a:pt x="3830" y="1016"/>
                  <a:pt x="3828" y="1026"/>
                </a:cubicBezTo>
                <a:cubicBezTo>
                  <a:pt x="3826" y="1035"/>
                  <a:pt x="3823" y="1045"/>
                  <a:pt x="3819" y="1054"/>
                </a:cubicBezTo>
                <a:cubicBezTo>
                  <a:pt x="3815" y="1064"/>
                  <a:pt x="3811" y="1072"/>
                  <a:pt x="3805" y="1081"/>
                </a:cubicBezTo>
                <a:cubicBezTo>
                  <a:pt x="3800" y="1089"/>
                  <a:pt x="3793" y="1097"/>
                  <a:pt x="3786" y="1104"/>
                </a:cubicBezTo>
                <a:cubicBezTo>
                  <a:pt x="3779" y="1111"/>
                  <a:pt x="3771" y="1117"/>
                  <a:pt x="3763" y="1123"/>
                </a:cubicBezTo>
                <a:cubicBezTo>
                  <a:pt x="3755" y="1129"/>
                  <a:pt x="3746" y="1133"/>
                  <a:pt x="3736" y="1137"/>
                </a:cubicBezTo>
                <a:cubicBezTo>
                  <a:pt x="3727" y="1141"/>
                  <a:pt x="3718" y="1144"/>
                  <a:pt x="3708" y="1146"/>
                </a:cubicBezTo>
                <a:cubicBezTo>
                  <a:pt x="3698" y="1148"/>
                  <a:pt x="3688" y="1149"/>
                  <a:pt x="3678" y="1149"/>
                </a:cubicBezTo>
                <a:lnTo>
                  <a:pt x="153" y="1149"/>
                </a:lnTo>
                <a:cubicBezTo>
                  <a:pt x="143" y="1149"/>
                  <a:pt x="133" y="1148"/>
                  <a:pt x="123" y="1146"/>
                </a:cubicBezTo>
                <a:cubicBezTo>
                  <a:pt x="113" y="1144"/>
                  <a:pt x="104" y="1141"/>
                  <a:pt x="94" y="1137"/>
                </a:cubicBezTo>
                <a:cubicBezTo>
                  <a:pt x="85" y="1133"/>
                  <a:pt x="76" y="1129"/>
                  <a:pt x="68" y="1123"/>
                </a:cubicBezTo>
                <a:cubicBezTo>
                  <a:pt x="60" y="1117"/>
                  <a:pt x="52" y="1111"/>
                  <a:pt x="45" y="1104"/>
                </a:cubicBezTo>
                <a:cubicBezTo>
                  <a:pt x="38" y="1097"/>
                  <a:pt x="31" y="1089"/>
                  <a:pt x="26" y="1081"/>
                </a:cubicBezTo>
                <a:cubicBezTo>
                  <a:pt x="20" y="1072"/>
                  <a:pt x="15" y="1064"/>
                  <a:pt x="12" y="1054"/>
                </a:cubicBezTo>
                <a:cubicBezTo>
                  <a:pt x="8" y="1045"/>
                  <a:pt x="5" y="1035"/>
                  <a:pt x="3" y="1026"/>
                </a:cubicBezTo>
                <a:cubicBezTo>
                  <a:pt x="1" y="1016"/>
                  <a:pt x="0" y="1006"/>
                  <a:pt x="0" y="996"/>
                </a:cubicBezTo>
                <a:lnTo>
                  <a:pt x="0" y="154"/>
                </a:lnTo>
                <a:cubicBezTo>
                  <a:pt x="0" y="144"/>
                  <a:pt x="1" y="134"/>
                  <a:pt x="3" y="124"/>
                </a:cubicBezTo>
                <a:cubicBezTo>
                  <a:pt x="5" y="114"/>
                  <a:pt x="8" y="105"/>
                  <a:pt x="12" y="95"/>
                </a:cubicBezTo>
                <a:cubicBezTo>
                  <a:pt x="15" y="86"/>
                  <a:pt x="20" y="77"/>
                  <a:pt x="26" y="69"/>
                </a:cubicBezTo>
                <a:cubicBezTo>
                  <a:pt x="31" y="60"/>
                  <a:pt x="38" y="52"/>
                  <a:pt x="45" y="45"/>
                </a:cubicBezTo>
                <a:cubicBezTo>
                  <a:pt x="52" y="37"/>
                  <a:pt x="60" y="31"/>
                  <a:pt x="68" y="26"/>
                </a:cubicBezTo>
                <a:cubicBezTo>
                  <a:pt x="76" y="20"/>
                  <a:pt x="85" y="15"/>
                  <a:pt x="94" y="11"/>
                </a:cubicBezTo>
                <a:cubicBezTo>
                  <a:pt x="104" y="8"/>
                  <a:pt x="113" y="5"/>
                  <a:pt x="123" y="3"/>
                </a:cubicBezTo>
                <a:cubicBezTo>
                  <a:pt x="133" y="1"/>
                  <a:pt x="143" y="0"/>
                  <a:pt x="153" y="0"/>
                </a:cubicBezTo>
                <a:close/>
              </a:path>
            </a:pathLst>
          </a:custGeom>
          <a:solidFill>
            <a:srgbClr val="0F766E"/>
          </a:solidFill>
          <a:ln w="6840">
            <a:solidFill>
              <a:srgbClr val="0F766E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0917720" y="3232440"/>
            <a:ext cx="1468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9CA3AF"/>
                </a:solidFill>
                <a:effectLst/>
                <a:uFillTx/>
                <a:latin typeface=".SFNS"/>
                <a:ea typeface=".SFNS"/>
              </a:rPr>
              <a:t>.csv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580520" y="3982320"/>
            <a:ext cx="1275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60" b="1" u="none" strike="noStrike">
                <a:solidFill>
                  <a:srgbClr val="FFFFFF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04_compare_features.py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8748360" y="3864960"/>
            <a:ext cx="151920" cy="151920"/>
          </a:xfrm>
          <a:custGeom>
            <a:avLst/>
            <a:gdLst/>
            <a:ahLst/>
            <a:rect l="0" t="0" r="r" b="b"/>
            <a:pathLst>
              <a:path w="422" h="422">
                <a:moveTo>
                  <a:pt x="422" y="210"/>
                </a:moveTo>
                <a:cubicBezTo>
                  <a:pt x="422" y="224"/>
                  <a:pt x="421" y="238"/>
                  <a:pt x="418" y="251"/>
                </a:cubicBezTo>
                <a:cubicBezTo>
                  <a:pt x="415" y="265"/>
                  <a:pt x="411" y="278"/>
                  <a:pt x="406" y="291"/>
                </a:cubicBezTo>
                <a:cubicBezTo>
                  <a:pt x="401" y="304"/>
                  <a:pt x="394" y="316"/>
                  <a:pt x="386" y="327"/>
                </a:cubicBezTo>
                <a:cubicBezTo>
                  <a:pt x="379" y="339"/>
                  <a:pt x="370" y="349"/>
                  <a:pt x="360" y="359"/>
                </a:cubicBezTo>
                <a:cubicBezTo>
                  <a:pt x="350" y="369"/>
                  <a:pt x="340" y="378"/>
                  <a:pt x="327" y="385"/>
                </a:cubicBezTo>
                <a:cubicBezTo>
                  <a:pt x="316" y="393"/>
                  <a:pt x="304" y="401"/>
                  <a:pt x="291" y="406"/>
                </a:cubicBezTo>
                <a:cubicBezTo>
                  <a:pt x="278" y="411"/>
                  <a:pt x="265" y="415"/>
                  <a:pt x="251" y="418"/>
                </a:cubicBezTo>
                <a:cubicBezTo>
                  <a:pt x="238" y="421"/>
                  <a:pt x="224" y="422"/>
                  <a:pt x="210" y="422"/>
                </a:cubicBezTo>
                <a:cubicBezTo>
                  <a:pt x="196" y="422"/>
                  <a:pt x="183" y="421"/>
                  <a:pt x="169" y="418"/>
                </a:cubicBezTo>
                <a:cubicBezTo>
                  <a:pt x="156" y="415"/>
                  <a:pt x="142" y="411"/>
                  <a:pt x="130" y="406"/>
                </a:cubicBezTo>
                <a:cubicBezTo>
                  <a:pt x="117" y="401"/>
                  <a:pt x="105" y="393"/>
                  <a:pt x="93" y="385"/>
                </a:cubicBezTo>
                <a:cubicBezTo>
                  <a:pt x="82" y="378"/>
                  <a:pt x="71" y="369"/>
                  <a:pt x="61" y="359"/>
                </a:cubicBezTo>
                <a:cubicBezTo>
                  <a:pt x="52" y="349"/>
                  <a:pt x="43" y="339"/>
                  <a:pt x="35" y="327"/>
                </a:cubicBezTo>
                <a:cubicBezTo>
                  <a:pt x="27" y="316"/>
                  <a:pt x="21" y="304"/>
                  <a:pt x="16" y="291"/>
                </a:cubicBezTo>
                <a:cubicBezTo>
                  <a:pt x="10" y="278"/>
                  <a:pt x="6" y="265"/>
                  <a:pt x="4" y="251"/>
                </a:cubicBezTo>
                <a:cubicBezTo>
                  <a:pt x="1" y="238"/>
                  <a:pt x="0" y="224"/>
                  <a:pt x="0" y="210"/>
                </a:cubicBezTo>
                <a:cubicBezTo>
                  <a:pt x="0" y="197"/>
                  <a:pt x="1" y="183"/>
                  <a:pt x="4" y="169"/>
                </a:cubicBezTo>
                <a:cubicBezTo>
                  <a:pt x="6" y="156"/>
                  <a:pt x="10" y="143"/>
                  <a:pt x="16" y="130"/>
                </a:cubicBezTo>
                <a:cubicBezTo>
                  <a:pt x="21" y="117"/>
                  <a:pt x="27" y="105"/>
                  <a:pt x="35" y="93"/>
                </a:cubicBezTo>
                <a:cubicBezTo>
                  <a:pt x="43" y="82"/>
                  <a:pt x="52" y="71"/>
                  <a:pt x="61" y="62"/>
                </a:cubicBezTo>
                <a:cubicBezTo>
                  <a:pt x="71" y="52"/>
                  <a:pt x="82" y="43"/>
                  <a:pt x="93" y="35"/>
                </a:cubicBezTo>
                <a:cubicBezTo>
                  <a:pt x="105" y="28"/>
                  <a:pt x="117" y="21"/>
                  <a:pt x="130" y="16"/>
                </a:cubicBezTo>
                <a:cubicBezTo>
                  <a:pt x="142" y="11"/>
                  <a:pt x="156" y="7"/>
                  <a:pt x="169" y="4"/>
                </a:cubicBezTo>
                <a:cubicBezTo>
                  <a:pt x="183" y="1"/>
                  <a:pt x="196" y="0"/>
                  <a:pt x="210" y="0"/>
                </a:cubicBezTo>
                <a:cubicBezTo>
                  <a:pt x="224" y="0"/>
                  <a:pt x="238" y="1"/>
                  <a:pt x="251" y="4"/>
                </a:cubicBezTo>
                <a:cubicBezTo>
                  <a:pt x="265" y="7"/>
                  <a:pt x="278" y="11"/>
                  <a:pt x="291" y="16"/>
                </a:cubicBezTo>
                <a:cubicBezTo>
                  <a:pt x="304" y="21"/>
                  <a:pt x="316" y="28"/>
                  <a:pt x="327" y="35"/>
                </a:cubicBezTo>
                <a:cubicBezTo>
                  <a:pt x="340" y="43"/>
                  <a:pt x="350" y="52"/>
                  <a:pt x="360" y="62"/>
                </a:cubicBezTo>
                <a:cubicBezTo>
                  <a:pt x="370" y="71"/>
                  <a:pt x="379" y="82"/>
                  <a:pt x="386" y="93"/>
                </a:cubicBezTo>
                <a:cubicBezTo>
                  <a:pt x="394" y="105"/>
                  <a:pt x="401" y="117"/>
                  <a:pt x="406" y="130"/>
                </a:cubicBezTo>
                <a:cubicBezTo>
                  <a:pt x="411" y="143"/>
                  <a:pt x="415" y="156"/>
                  <a:pt x="418" y="169"/>
                </a:cubicBezTo>
                <a:cubicBezTo>
                  <a:pt x="421" y="183"/>
                  <a:pt x="422" y="197"/>
                  <a:pt x="422" y="210"/>
                </a:cubicBezTo>
                <a:close/>
              </a:path>
            </a:pathLst>
          </a:custGeom>
          <a:solidFill>
            <a:srgbClr val="1453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8748360" y="3864960"/>
            <a:ext cx="151920" cy="151920"/>
          </a:xfrm>
          <a:custGeom>
            <a:avLst/>
            <a:gdLst/>
            <a:ahLst/>
            <a:rect l="0" t="0" r="r" b="b"/>
            <a:pathLst>
              <a:path w="422" h="422">
                <a:moveTo>
                  <a:pt x="422" y="210"/>
                </a:moveTo>
                <a:cubicBezTo>
                  <a:pt x="422" y="224"/>
                  <a:pt x="421" y="238"/>
                  <a:pt x="418" y="251"/>
                </a:cubicBezTo>
                <a:cubicBezTo>
                  <a:pt x="415" y="265"/>
                  <a:pt x="411" y="278"/>
                  <a:pt x="406" y="291"/>
                </a:cubicBezTo>
                <a:cubicBezTo>
                  <a:pt x="401" y="304"/>
                  <a:pt x="394" y="316"/>
                  <a:pt x="386" y="327"/>
                </a:cubicBezTo>
                <a:cubicBezTo>
                  <a:pt x="379" y="339"/>
                  <a:pt x="370" y="349"/>
                  <a:pt x="360" y="359"/>
                </a:cubicBezTo>
                <a:cubicBezTo>
                  <a:pt x="350" y="369"/>
                  <a:pt x="340" y="378"/>
                  <a:pt x="327" y="385"/>
                </a:cubicBezTo>
                <a:cubicBezTo>
                  <a:pt x="316" y="393"/>
                  <a:pt x="304" y="401"/>
                  <a:pt x="291" y="406"/>
                </a:cubicBezTo>
                <a:cubicBezTo>
                  <a:pt x="278" y="411"/>
                  <a:pt x="265" y="415"/>
                  <a:pt x="251" y="418"/>
                </a:cubicBezTo>
                <a:cubicBezTo>
                  <a:pt x="238" y="421"/>
                  <a:pt x="224" y="422"/>
                  <a:pt x="210" y="422"/>
                </a:cubicBezTo>
                <a:cubicBezTo>
                  <a:pt x="196" y="422"/>
                  <a:pt x="183" y="421"/>
                  <a:pt x="169" y="418"/>
                </a:cubicBezTo>
                <a:cubicBezTo>
                  <a:pt x="156" y="415"/>
                  <a:pt x="142" y="411"/>
                  <a:pt x="130" y="406"/>
                </a:cubicBezTo>
                <a:cubicBezTo>
                  <a:pt x="117" y="401"/>
                  <a:pt x="105" y="393"/>
                  <a:pt x="93" y="385"/>
                </a:cubicBezTo>
                <a:cubicBezTo>
                  <a:pt x="82" y="378"/>
                  <a:pt x="71" y="369"/>
                  <a:pt x="61" y="359"/>
                </a:cubicBezTo>
                <a:cubicBezTo>
                  <a:pt x="52" y="349"/>
                  <a:pt x="43" y="339"/>
                  <a:pt x="35" y="327"/>
                </a:cubicBezTo>
                <a:cubicBezTo>
                  <a:pt x="27" y="316"/>
                  <a:pt x="21" y="304"/>
                  <a:pt x="16" y="291"/>
                </a:cubicBezTo>
                <a:cubicBezTo>
                  <a:pt x="10" y="278"/>
                  <a:pt x="6" y="265"/>
                  <a:pt x="4" y="251"/>
                </a:cubicBezTo>
                <a:cubicBezTo>
                  <a:pt x="1" y="238"/>
                  <a:pt x="0" y="224"/>
                  <a:pt x="0" y="210"/>
                </a:cubicBezTo>
                <a:cubicBezTo>
                  <a:pt x="0" y="197"/>
                  <a:pt x="1" y="183"/>
                  <a:pt x="4" y="169"/>
                </a:cubicBezTo>
                <a:cubicBezTo>
                  <a:pt x="6" y="156"/>
                  <a:pt x="10" y="143"/>
                  <a:pt x="16" y="130"/>
                </a:cubicBezTo>
                <a:cubicBezTo>
                  <a:pt x="21" y="117"/>
                  <a:pt x="27" y="105"/>
                  <a:pt x="35" y="93"/>
                </a:cubicBezTo>
                <a:cubicBezTo>
                  <a:pt x="43" y="82"/>
                  <a:pt x="52" y="71"/>
                  <a:pt x="61" y="62"/>
                </a:cubicBezTo>
                <a:cubicBezTo>
                  <a:pt x="71" y="52"/>
                  <a:pt x="82" y="43"/>
                  <a:pt x="93" y="35"/>
                </a:cubicBezTo>
                <a:cubicBezTo>
                  <a:pt x="105" y="28"/>
                  <a:pt x="117" y="21"/>
                  <a:pt x="130" y="16"/>
                </a:cubicBezTo>
                <a:cubicBezTo>
                  <a:pt x="142" y="11"/>
                  <a:pt x="156" y="7"/>
                  <a:pt x="169" y="4"/>
                </a:cubicBezTo>
                <a:cubicBezTo>
                  <a:pt x="183" y="1"/>
                  <a:pt x="196" y="0"/>
                  <a:pt x="210" y="0"/>
                </a:cubicBezTo>
                <a:cubicBezTo>
                  <a:pt x="224" y="0"/>
                  <a:pt x="238" y="1"/>
                  <a:pt x="251" y="4"/>
                </a:cubicBezTo>
                <a:cubicBezTo>
                  <a:pt x="265" y="7"/>
                  <a:pt x="278" y="11"/>
                  <a:pt x="291" y="16"/>
                </a:cubicBezTo>
                <a:cubicBezTo>
                  <a:pt x="304" y="21"/>
                  <a:pt x="316" y="28"/>
                  <a:pt x="327" y="35"/>
                </a:cubicBezTo>
                <a:cubicBezTo>
                  <a:pt x="340" y="43"/>
                  <a:pt x="350" y="52"/>
                  <a:pt x="360" y="62"/>
                </a:cubicBezTo>
                <a:cubicBezTo>
                  <a:pt x="370" y="71"/>
                  <a:pt x="379" y="82"/>
                  <a:pt x="386" y="93"/>
                </a:cubicBezTo>
                <a:cubicBezTo>
                  <a:pt x="394" y="105"/>
                  <a:pt x="401" y="117"/>
                  <a:pt x="406" y="130"/>
                </a:cubicBezTo>
                <a:cubicBezTo>
                  <a:pt x="411" y="143"/>
                  <a:pt x="415" y="156"/>
                  <a:pt x="418" y="169"/>
                </a:cubicBezTo>
                <a:cubicBezTo>
                  <a:pt x="421" y="183"/>
                  <a:pt x="422" y="197"/>
                  <a:pt x="422" y="210"/>
                </a:cubicBezTo>
                <a:close/>
              </a:path>
            </a:pathLst>
          </a:custGeom>
          <a:noFill/>
          <a:ln w="13680">
            <a:solidFill>
              <a:srgbClr val="FFFFFF"/>
            </a:solidFill>
            <a:miter/>
          </a:ln>
        </p:spPr>
        <p:txBody>
          <a:bodyPr lIns="6840" tIns="6840" rIns="6840" bIns="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8789400" y="3913200"/>
            <a:ext cx="76320" cy="55440"/>
          </a:xfrm>
          <a:custGeom>
            <a:avLst/>
            <a:gdLst/>
            <a:ahLst/>
            <a:rect l="0" t="0" r="r" b="b"/>
            <a:pathLst>
              <a:path fill="none" w="212" h="154">
                <a:moveTo>
                  <a:pt x="0" y="77"/>
                </a:moveTo>
                <a:lnTo>
                  <a:pt x="78" y="154"/>
                </a:lnTo>
                <a:lnTo>
                  <a:pt x="212" y="0"/>
                </a:lnTo>
              </a:path>
            </a:pathLst>
          </a:custGeom>
          <a:ln cap="rnd" w="15120">
            <a:solidFill>
              <a:srgbClr val="FFFFFF"/>
            </a:solidFill>
            <a:round/>
          </a:ln>
        </p:spPr>
        <p:txBody>
          <a:bodyPr lIns="7560" tIns="7560" rIns="7560" bIns="75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7479720" y="4526280"/>
            <a:ext cx="1379160" cy="413640"/>
          </a:xfrm>
          <a:custGeom>
            <a:avLst/>
            <a:gdLst/>
            <a:ahLst/>
            <a:rect l="0" t="0" r="r" b="b"/>
            <a:pathLst>
              <a:path w="3831" h="1149">
                <a:moveTo>
                  <a:pt x="0" y="0"/>
                </a:moveTo>
                <a:lnTo>
                  <a:pt x="3831" y="0"/>
                </a:lnTo>
                <a:lnTo>
                  <a:pt x="3831" y="1149"/>
                </a:lnTo>
                <a:lnTo>
                  <a:pt x="0" y="114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479720" y="4526280"/>
            <a:ext cx="1379160" cy="413640"/>
          </a:xfrm>
          <a:custGeom>
            <a:avLst/>
            <a:gdLst/>
            <a:ahLst/>
            <a:rect l="0" t="0" r="r" b="b"/>
            <a:pathLst>
              <a:path w="3831" h="1149">
                <a:moveTo>
                  <a:pt x="0" y="0"/>
                </a:moveTo>
                <a:lnTo>
                  <a:pt x="3831" y="0"/>
                </a:lnTo>
                <a:lnTo>
                  <a:pt x="3831" y="1149"/>
                </a:lnTo>
                <a:lnTo>
                  <a:pt x="0" y="1149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6B7280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768800" y="4135320"/>
            <a:ext cx="7354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A7F3D0"/>
                </a:solidFill>
                <a:effectLst/>
                <a:uFillTx/>
                <a:latin typeface=".SFNS"/>
                <a:ea typeface=".SFNS"/>
              </a:rPr>
              <a:t>stats tests + box plots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7935480" y="4602240"/>
            <a:ext cx="518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60" b="1" u="none" strike="noStrike">
                <a:solidFill>
                  <a:srgbClr val="1F293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data-level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8169120" y="3423960"/>
            <a:ext cx="0" cy="482400"/>
          </a:xfrm>
          <a:prstGeom prst="line">
            <a:avLst/>
          </a:prstGeom>
          <a:ln w="1368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tIns="6840" rIns="6840" bIns="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8134560" y="3844440"/>
            <a:ext cx="69480" cy="69120"/>
          </a:xfrm>
          <a:custGeom>
            <a:avLst/>
            <a:gdLst/>
            <a:ahLst/>
            <a:rect l="0" t="0" r="r" b="b"/>
            <a:pathLst>
              <a:path w="193" h="192">
                <a:moveTo>
                  <a:pt x="193" y="0"/>
                </a:moveTo>
                <a:lnTo>
                  <a:pt x="0" y="0"/>
                </a:lnTo>
                <a:lnTo>
                  <a:pt x="97" y="192"/>
                </a:lnTo>
                <a:lnTo>
                  <a:pt x="193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8169120" y="4319640"/>
            <a:ext cx="0" cy="206640"/>
          </a:xfrm>
          <a:prstGeom prst="line">
            <a:avLst/>
          </a:prstGeom>
          <a:ln w="1368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tIns="6840" rIns="6840" bIns="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8134560" y="4464360"/>
            <a:ext cx="69480" cy="69120"/>
          </a:xfrm>
          <a:custGeom>
            <a:avLst/>
            <a:gdLst/>
            <a:ahLst/>
            <a:rect l="0" t="0" r="r" b="b"/>
            <a:pathLst>
              <a:path w="193" h="192">
                <a:moveTo>
                  <a:pt x="0" y="0"/>
                </a:moveTo>
                <a:lnTo>
                  <a:pt x="97" y="192"/>
                </a:lnTo>
                <a:lnTo>
                  <a:pt x="19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0306440" y="3906360"/>
            <a:ext cx="1379160" cy="413640"/>
          </a:xfrm>
          <a:custGeom>
            <a:avLst/>
            <a:gdLst/>
            <a:ahLst/>
            <a:rect l="0" t="0" r="r" b="b"/>
            <a:pathLst>
              <a:path w="3831" h="1149">
                <a:moveTo>
                  <a:pt x="154" y="0"/>
                </a:moveTo>
                <a:lnTo>
                  <a:pt x="3678" y="0"/>
                </a:lnTo>
                <a:cubicBezTo>
                  <a:pt x="3688" y="0"/>
                  <a:pt x="3698" y="1"/>
                  <a:pt x="3707" y="3"/>
                </a:cubicBezTo>
                <a:cubicBezTo>
                  <a:pt x="3717" y="5"/>
                  <a:pt x="3727" y="8"/>
                  <a:pt x="3736" y="11"/>
                </a:cubicBezTo>
                <a:cubicBezTo>
                  <a:pt x="3745" y="15"/>
                  <a:pt x="3754" y="20"/>
                  <a:pt x="3763" y="26"/>
                </a:cubicBezTo>
                <a:cubicBezTo>
                  <a:pt x="3771" y="31"/>
                  <a:pt x="3779" y="37"/>
                  <a:pt x="3786" y="45"/>
                </a:cubicBezTo>
                <a:cubicBezTo>
                  <a:pt x="3793" y="52"/>
                  <a:pt x="3799" y="60"/>
                  <a:pt x="3805" y="69"/>
                </a:cubicBezTo>
                <a:cubicBezTo>
                  <a:pt x="3810" y="77"/>
                  <a:pt x="3815" y="86"/>
                  <a:pt x="3819" y="95"/>
                </a:cubicBezTo>
                <a:cubicBezTo>
                  <a:pt x="3823" y="105"/>
                  <a:pt x="3826" y="114"/>
                  <a:pt x="3828" y="124"/>
                </a:cubicBezTo>
                <a:cubicBezTo>
                  <a:pt x="3830" y="134"/>
                  <a:pt x="3831" y="144"/>
                  <a:pt x="3831" y="154"/>
                </a:cubicBezTo>
                <a:lnTo>
                  <a:pt x="3831" y="996"/>
                </a:lnTo>
                <a:cubicBezTo>
                  <a:pt x="3831" y="1006"/>
                  <a:pt x="3830" y="1016"/>
                  <a:pt x="3828" y="1026"/>
                </a:cubicBezTo>
                <a:cubicBezTo>
                  <a:pt x="3826" y="1035"/>
                  <a:pt x="3823" y="1045"/>
                  <a:pt x="3819" y="1054"/>
                </a:cubicBezTo>
                <a:cubicBezTo>
                  <a:pt x="3815" y="1064"/>
                  <a:pt x="3810" y="1072"/>
                  <a:pt x="3805" y="1081"/>
                </a:cubicBezTo>
                <a:cubicBezTo>
                  <a:pt x="3799" y="1089"/>
                  <a:pt x="3793" y="1097"/>
                  <a:pt x="3786" y="1104"/>
                </a:cubicBezTo>
                <a:cubicBezTo>
                  <a:pt x="3779" y="1111"/>
                  <a:pt x="3771" y="1117"/>
                  <a:pt x="3763" y="1123"/>
                </a:cubicBezTo>
                <a:cubicBezTo>
                  <a:pt x="3754" y="1129"/>
                  <a:pt x="3745" y="1133"/>
                  <a:pt x="3736" y="1137"/>
                </a:cubicBezTo>
                <a:cubicBezTo>
                  <a:pt x="3727" y="1141"/>
                  <a:pt x="3717" y="1144"/>
                  <a:pt x="3707" y="1146"/>
                </a:cubicBezTo>
                <a:cubicBezTo>
                  <a:pt x="3698" y="1148"/>
                  <a:pt x="3688" y="1149"/>
                  <a:pt x="3678" y="1149"/>
                </a:cubicBezTo>
                <a:lnTo>
                  <a:pt x="154" y="1149"/>
                </a:lnTo>
                <a:cubicBezTo>
                  <a:pt x="144" y="1149"/>
                  <a:pt x="134" y="1148"/>
                  <a:pt x="124" y="1146"/>
                </a:cubicBezTo>
                <a:cubicBezTo>
                  <a:pt x="114" y="1144"/>
                  <a:pt x="104" y="1141"/>
                  <a:pt x="94" y="1137"/>
                </a:cubicBezTo>
                <a:cubicBezTo>
                  <a:pt x="85" y="1133"/>
                  <a:pt x="76" y="1129"/>
                  <a:pt x="68" y="1123"/>
                </a:cubicBezTo>
                <a:cubicBezTo>
                  <a:pt x="59" y="1117"/>
                  <a:pt x="52" y="1111"/>
                  <a:pt x="44" y="1104"/>
                </a:cubicBezTo>
                <a:cubicBezTo>
                  <a:pt x="37" y="1097"/>
                  <a:pt x="31" y="1089"/>
                  <a:pt x="25" y="1081"/>
                </a:cubicBezTo>
                <a:cubicBezTo>
                  <a:pt x="20" y="1072"/>
                  <a:pt x="15" y="1064"/>
                  <a:pt x="11" y="1054"/>
                </a:cubicBezTo>
                <a:cubicBezTo>
                  <a:pt x="7" y="1045"/>
                  <a:pt x="5" y="1035"/>
                  <a:pt x="3" y="1026"/>
                </a:cubicBezTo>
                <a:cubicBezTo>
                  <a:pt x="1" y="1016"/>
                  <a:pt x="0" y="1006"/>
                  <a:pt x="0" y="996"/>
                </a:cubicBezTo>
                <a:lnTo>
                  <a:pt x="0" y="154"/>
                </a:lnTo>
                <a:cubicBezTo>
                  <a:pt x="0" y="144"/>
                  <a:pt x="1" y="134"/>
                  <a:pt x="3" y="124"/>
                </a:cubicBezTo>
                <a:cubicBezTo>
                  <a:pt x="5" y="114"/>
                  <a:pt x="7" y="105"/>
                  <a:pt x="11" y="95"/>
                </a:cubicBezTo>
                <a:cubicBezTo>
                  <a:pt x="15" y="86"/>
                  <a:pt x="20" y="77"/>
                  <a:pt x="25" y="69"/>
                </a:cubicBezTo>
                <a:cubicBezTo>
                  <a:pt x="31" y="60"/>
                  <a:pt x="37" y="52"/>
                  <a:pt x="44" y="45"/>
                </a:cubicBezTo>
                <a:cubicBezTo>
                  <a:pt x="52" y="37"/>
                  <a:pt x="59" y="31"/>
                  <a:pt x="68" y="26"/>
                </a:cubicBezTo>
                <a:cubicBezTo>
                  <a:pt x="76" y="20"/>
                  <a:pt x="85" y="15"/>
                  <a:pt x="94" y="11"/>
                </a:cubicBezTo>
                <a:cubicBezTo>
                  <a:pt x="104" y="8"/>
                  <a:pt x="114" y="5"/>
                  <a:pt x="124" y="3"/>
                </a:cubicBezTo>
                <a:cubicBezTo>
                  <a:pt x="134" y="1"/>
                  <a:pt x="144" y="0"/>
                  <a:pt x="154" y="0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0301040" y="3900960"/>
            <a:ext cx="1389600" cy="424080"/>
          </a:xfrm>
          <a:custGeom>
            <a:avLst/>
            <a:gdLst/>
            <a:ahLst/>
            <a:rect l="0" t="0" r="r" b="b"/>
            <a:pathLst>
              <a:path w="3860" h="1178">
                <a:moveTo>
                  <a:pt x="360" y="0"/>
                </a:moveTo>
                <a:lnTo>
                  <a:pt x="475" y="0"/>
                </a:lnTo>
                <a:lnTo>
                  <a:pt x="475" y="29"/>
                </a:lnTo>
                <a:lnTo>
                  <a:pt x="360" y="29"/>
                </a:lnTo>
                <a:lnTo>
                  <a:pt x="360" y="0"/>
                </a:lnTo>
                <a:moveTo>
                  <a:pt x="552" y="0"/>
                </a:moveTo>
                <a:lnTo>
                  <a:pt x="667" y="0"/>
                </a:lnTo>
                <a:lnTo>
                  <a:pt x="667" y="29"/>
                </a:lnTo>
                <a:lnTo>
                  <a:pt x="552" y="29"/>
                </a:lnTo>
                <a:lnTo>
                  <a:pt x="552" y="0"/>
                </a:lnTo>
                <a:moveTo>
                  <a:pt x="743" y="0"/>
                </a:moveTo>
                <a:lnTo>
                  <a:pt x="858" y="0"/>
                </a:lnTo>
                <a:lnTo>
                  <a:pt x="858" y="29"/>
                </a:lnTo>
                <a:lnTo>
                  <a:pt x="743" y="29"/>
                </a:lnTo>
                <a:lnTo>
                  <a:pt x="743" y="0"/>
                </a:lnTo>
                <a:moveTo>
                  <a:pt x="935" y="0"/>
                </a:moveTo>
                <a:lnTo>
                  <a:pt x="1050" y="0"/>
                </a:lnTo>
                <a:lnTo>
                  <a:pt x="1050" y="29"/>
                </a:lnTo>
                <a:lnTo>
                  <a:pt x="935" y="29"/>
                </a:lnTo>
                <a:lnTo>
                  <a:pt x="935" y="0"/>
                </a:lnTo>
                <a:moveTo>
                  <a:pt x="1126" y="0"/>
                </a:moveTo>
                <a:lnTo>
                  <a:pt x="1241" y="0"/>
                </a:lnTo>
                <a:lnTo>
                  <a:pt x="1241" y="29"/>
                </a:lnTo>
                <a:lnTo>
                  <a:pt x="1126" y="29"/>
                </a:lnTo>
                <a:lnTo>
                  <a:pt x="1126" y="0"/>
                </a:lnTo>
                <a:moveTo>
                  <a:pt x="1318" y="0"/>
                </a:moveTo>
                <a:lnTo>
                  <a:pt x="1433" y="0"/>
                </a:lnTo>
                <a:lnTo>
                  <a:pt x="1433" y="29"/>
                </a:lnTo>
                <a:lnTo>
                  <a:pt x="1318" y="29"/>
                </a:lnTo>
                <a:lnTo>
                  <a:pt x="1318" y="0"/>
                </a:lnTo>
                <a:moveTo>
                  <a:pt x="1509" y="0"/>
                </a:moveTo>
                <a:lnTo>
                  <a:pt x="1624" y="0"/>
                </a:lnTo>
                <a:lnTo>
                  <a:pt x="1624" y="29"/>
                </a:lnTo>
                <a:lnTo>
                  <a:pt x="1509" y="29"/>
                </a:lnTo>
                <a:lnTo>
                  <a:pt x="1509" y="0"/>
                </a:lnTo>
                <a:moveTo>
                  <a:pt x="1701" y="0"/>
                </a:moveTo>
                <a:lnTo>
                  <a:pt x="1816" y="0"/>
                </a:lnTo>
                <a:lnTo>
                  <a:pt x="1816" y="29"/>
                </a:lnTo>
                <a:lnTo>
                  <a:pt x="1701" y="29"/>
                </a:lnTo>
                <a:lnTo>
                  <a:pt x="1701" y="0"/>
                </a:lnTo>
                <a:moveTo>
                  <a:pt x="1892" y="0"/>
                </a:moveTo>
                <a:lnTo>
                  <a:pt x="2007" y="0"/>
                </a:lnTo>
                <a:lnTo>
                  <a:pt x="2007" y="29"/>
                </a:lnTo>
                <a:lnTo>
                  <a:pt x="1892" y="29"/>
                </a:lnTo>
                <a:lnTo>
                  <a:pt x="1892" y="0"/>
                </a:lnTo>
                <a:moveTo>
                  <a:pt x="2084" y="0"/>
                </a:moveTo>
                <a:lnTo>
                  <a:pt x="2199" y="0"/>
                </a:lnTo>
                <a:lnTo>
                  <a:pt x="2199" y="29"/>
                </a:lnTo>
                <a:lnTo>
                  <a:pt x="2084" y="29"/>
                </a:lnTo>
                <a:lnTo>
                  <a:pt x="2084" y="0"/>
                </a:lnTo>
                <a:moveTo>
                  <a:pt x="2275" y="0"/>
                </a:moveTo>
                <a:lnTo>
                  <a:pt x="2390" y="0"/>
                </a:lnTo>
                <a:lnTo>
                  <a:pt x="2390" y="29"/>
                </a:lnTo>
                <a:lnTo>
                  <a:pt x="2275" y="29"/>
                </a:lnTo>
                <a:lnTo>
                  <a:pt x="2275" y="0"/>
                </a:lnTo>
                <a:moveTo>
                  <a:pt x="2467" y="0"/>
                </a:moveTo>
                <a:lnTo>
                  <a:pt x="2582" y="0"/>
                </a:lnTo>
                <a:lnTo>
                  <a:pt x="2582" y="29"/>
                </a:lnTo>
                <a:lnTo>
                  <a:pt x="2467" y="29"/>
                </a:lnTo>
                <a:lnTo>
                  <a:pt x="2467" y="0"/>
                </a:lnTo>
                <a:moveTo>
                  <a:pt x="2658" y="0"/>
                </a:moveTo>
                <a:lnTo>
                  <a:pt x="2773" y="0"/>
                </a:lnTo>
                <a:lnTo>
                  <a:pt x="2773" y="29"/>
                </a:lnTo>
                <a:lnTo>
                  <a:pt x="2658" y="29"/>
                </a:lnTo>
                <a:lnTo>
                  <a:pt x="2658" y="0"/>
                </a:lnTo>
                <a:moveTo>
                  <a:pt x="2850" y="0"/>
                </a:moveTo>
                <a:lnTo>
                  <a:pt x="2965" y="0"/>
                </a:lnTo>
                <a:lnTo>
                  <a:pt x="2965" y="29"/>
                </a:lnTo>
                <a:lnTo>
                  <a:pt x="2850" y="29"/>
                </a:lnTo>
                <a:lnTo>
                  <a:pt x="2850" y="0"/>
                </a:lnTo>
                <a:moveTo>
                  <a:pt x="3041" y="0"/>
                </a:moveTo>
                <a:lnTo>
                  <a:pt x="3156" y="0"/>
                </a:lnTo>
                <a:lnTo>
                  <a:pt x="3156" y="29"/>
                </a:lnTo>
                <a:lnTo>
                  <a:pt x="3041" y="29"/>
                </a:lnTo>
                <a:lnTo>
                  <a:pt x="3041" y="0"/>
                </a:lnTo>
                <a:moveTo>
                  <a:pt x="3233" y="0"/>
                </a:moveTo>
                <a:lnTo>
                  <a:pt x="3348" y="0"/>
                </a:lnTo>
                <a:lnTo>
                  <a:pt x="3348" y="29"/>
                </a:lnTo>
                <a:lnTo>
                  <a:pt x="3233" y="29"/>
                </a:lnTo>
                <a:lnTo>
                  <a:pt x="3233" y="0"/>
                </a:lnTo>
                <a:moveTo>
                  <a:pt x="3424" y="0"/>
                </a:moveTo>
                <a:lnTo>
                  <a:pt x="3539" y="0"/>
                </a:lnTo>
                <a:lnTo>
                  <a:pt x="3539" y="29"/>
                </a:lnTo>
                <a:lnTo>
                  <a:pt x="3424" y="29"/>
                </a:lnTo>
                <a:lnTo>
                  <a:pt x="3424" y="0"/>
                </a:lnTo>
                <a:moveTo>
                  <a:pt x="3616" y="0"/>
                </a:moveTo>
                <a:lnTo>
                  <a:pt x="3693" y="0"/>
                </a:lnTo>
                <a:cubicBezTo>
                  <a:pt x="3706" y="0"/>
                  <a:pt x="3720" y="2"/>
                  <a:pt x="3733" y="5"/>
                </a:cubicBezTo>
                <a:lnTo>
                  <a:pt x="3726" y="33"/>
                </a:lnTo>
                <a:cubicBezTo>
                  <a:pt x="3715" y="30"/>
                  <a:pt x="3704" y="29"/>
                  <a:pt x="3693" y="29"/>
                </a:cubicBezTo>
                <a:lnTo>
                  <a:pt x="3616" y="29"/>
                </a:lnTo>
                <a:lnTo>
                  <a:pt x="3616" y="0"/>
                </a:lnTo>
                <a:moveTo>
                  <a:pt x="3807" y="46"/>
                </a:moveTo>
                <a:cubicBezTo>
                  <a:pt x="3840" y="76"/>
                  <a:pt x="3857" y="114"/>
                  <a:pt x="3860" y="158"/>
                </a:cubicBezTo>
                <a:lnTo>
                  <a:pt x="3831" y="160"/>
                </a:lnTo>
                <a:cubicBezTo>
                  <a:pt x="3829" y="123"/>
                  <a:pt x="3814" y="92"/>
                  <a:pt x="3788" y="67"/>
                </a:cubicBezTo>
                <a:lnTo>
                  <a:pt x="3807" y="46"/>
                </a:lnTo>
                <a:moveTo>
                  <a:pt x="3860" y="235"/>
                </a:moveTo>
                <a:lnTo>
                  <a:pt x="3860" y="351"/>
                </a:lnTo>
                <a:lnTo>
                  <a:pt x="3831" y="351"/>
                </a:lnTo>
                <a:lnTo>
                  <a:pt x="3831" y="235"/>
                </a:lnTo>
                <a:lnTo>
                  <a:pt x="3860" y="235"/>
                </a:lnTo>
                <a:moveTo>
                  <a:pt x="3860" y="427"/>
                </a:moveTo>
                <a:lnTo>
                  <a:pt x="3860" y="542"/>
                </a:lnTo>
                <a:lnTo>
                  <a:pt x="3831" y="542"/>
                </a:lnTo>
                <a:lnTo>
                  <a:pt x="3831" y="427"/>
                </a:lnTo>
                <a:lnTo>
                  <a:pt x="3860" y="427"/>
                </a:lnTo>
                <a:moveTo>
                  <a:pt x="3860" y="619"/>
                </a:moveTo>
                <a:lnTo>
                  <a:pt x="3860" y="734"/>
                </a:lnTo>
                <a:lnTo>
                  <a:pt x="3831" y="734"/>
                </a:lnTo>
                <a:lnTo>
                  <a:pt x="3831" y="619"/>
                </a:lnTo>
                <a:lnTo>
                  <a:pt x="3860" y="619"/>
                </a:lnTo>
                <a:moveTo>
                  <a:pt x="3860" y="810"/>
                </a:moveTo>
                <a:lnTo>
                  <a:pt x="3860" y="925"/>
                </a:lnTo>
                <a:lnTo>
                  <a:pt x="3831" y="925"/>
                </a:lnTo>
                <a:lnTo>
                  <a:pt x="3831" y="810"/>
                </a:lnTo>
                <a:lnTo>
                  <a:pt x="3860" y="810"/>
                </a:lnTo>
                <a:moveTo>
                  <a:pt x="3860" y="1001"/>
                </a:moveTo>
                <a:lnTo>
                  <a:pt x="3860" y="1011"/>
                </a:lnTo>
                <a:cubicBezTo>
                  <a:pt x="3860" y="1051"/>
                  <a:pt x="3847" y="1087"/>
                  <a:pt x="3821" y="1118"/>
                </a:cubicBezTo>
                <a:lnTo>
                  <a:pt x="3799" y="1099"/>
                </a:lnTo>
                <a:cubicBezTo>
                  <a:pt x="3821" y="1074"/>
                  <a:pt x="3831" y="1044"/>
                  <a:pt x="3831" y="1011"/>
                </a:cubicBezTo>
                <a:lnTo>
                  <a:pt x="3831" y="1001"/>
                </a:lnTo>
                <a:lnTo>
                  <a:pt x="3860" y="1001"/>
                </a:lnTo>
                <a:moveTo>
                  <a:pt x="3754" y="1167"/>
                </a:moveTo>
                <a:cubicBezTo>
                  <a:pt x="3734" y="1174"/>
                  <a:pt x="3714" y="1178"/>
                  <a:pt x="3693" y="1178"/>
                </a:cubicBezTo>
                <a:lnTo>
                  <a:pt x="3635" y="1178"/>
                </a:lnTo>
                <a:lnTo>
                  <a:pt x="3635" y="1149"/>
                </a:lnTo>
                <a:lnTo>
                  <a:pt x="3693" y="1149"/>
                </a:lnTo>
                <a:cubicBezTo>
                  <a:pt x="3710" y="1149"/>
                  <a:pt x="3727" y="1146"/>
                  <a:pt x="3743" y="1140"/>
                </a:cubicBezTo>
                <a:lnTo>
                  <a:pt x="3754" y="1167"/>
                </a:lnTo>
                <a:moveTo>
                  <a:pt x="3558" y="1178"/>
                </a:moveTo>
                <a:lnTo>
                  <a:pt x="3443" y="1178"/>
                </a:lnTo>
                <a:lnTo>
                  <a:pt x="3443" y="1149"/>
                </a:lnTo>
                <a:lnTo>
                  <a:pt x="3558" y="1149"/>
                </a:lnTo>
                <a:lnTo>
                  <a:pt x="3558" y="1178"/>
                </a:lnTo>
                <a:moveTo>
                  <a:pt x="3366" y="1178"/>
                </a:moveTo>
                <a:lnTo>
                  <a:pt x="3251" y="1178"/>
                </a:lnTo>
                <a:lnTo>
                  <a:pt x="3251" y="1149"/>
                </a:lnTo>
                <a:lnTo>
                  <a:pt x="3366" y="1149"/>
                </a:lnTo>
                <a:lnTo>
                  <a:pt x="3366" y="1178"/>
                </a:lnTo>
                <a:moveTo>
                  <a:pt x="3175" y="1178"/>
                </a:moveTo>
                <a:lnTo>
                  <a:pt x="3060" y="1178"/>
                </a:lnTo>
                <a:lnTo>
                  <a:pt x="3060" y="1149"/>
                </a:lnTo>
                <a:lnTo>
                  <a:pt x="3175" y="1149"/>
                </a:lnTo>
                <a:lnTo>
                  <a:pt x="3175" y="1178"/>
                </a:lnTo>
                <a:moveTo>
                  <a:pt x="2983" y="1178"/>
                </a:moveTo>
                <a:lnTo>
                  <a:pt x="2868" y="1178"/>
                </a:lnTo>
                <a:lnTo>
                  <a:pt x="2868" y="1149"/>
                </a:lnTo>
                <a:lnTo>
                  <a:pt x="2983" y="1149"/>
                </a:lnTo>
                <a:lnTo>
                  <a:pt x="2983" y="1178"/>
                </a:lnTo>
                <a:moveTo>
                  <a:pt x="2792" y="1178"/>
                </a:moveTo>
                <a:lnTo>
                  <a:pt x="2677" y="1178"/>
                </a:lnTo>
                <a:lnTo>
                  <a:pt x="2677" y="1149"/>
                </a:lnTo>
                <a:lnTo>
                  <a:pt x="2792" y="1149"/>
                </a:lnTo>
                <a:lnTo>
                  <a:pt x="2792" y="1178"/>
                </a:lnTo>
                <a:moveTo>
                  <a:pt x="2600" y="1178"/>
                </a:moveTo>
                <a:lnTo>
                  <a:pt x="2485" y="1178"/>
                </a:lnTo>
                <a:lnTo>
                  <a:pt x="2485" y="1149"/>
                </a:lnTo>
                <a:lnTo>
                  <a:pt x="2600" y="1149"/>
                </a:lnTo>
                <a:lnTo>
                  <a:pt x="2600" y="1178"/>
                </a:lnTo>
                <a:moveTo>
                  <a:pt x="2409" y="1178"/>
                </a:moveTo>
                <a:lnTo>
                  <a:pt x="2294" y="1178"/>
                </a:lnTo>
                <a:lnTo>
                  <a:pt x="2294" y="1149"/>
                </a:lnTo>
                <a:lnTo>
                  <a:pt x="2409" y="1149"/>
                </a:lnTo>
                <a:lnTo>
                  <a:pt x="2409" y="1178"/>
                </a:lnTo>
                <a:moveTo>
                  <a:pt x="2217" y="1178"/>
                </a:moveTo>
                <a:lnTo>
                  <a:pt x="2102" y="1178"/>
                </a:lnTo>
                <a:lnTo>
                  <a:pt x="2102" y="1149"/>
                </a:lnTo>
                <a:lnTo>
                  <a:pt x="2217" y="1149"/>
                </a:lnTo>
                <a:lnTo>
                  <a:pt x="2217" y="1178"/>
                </a:lnTo>
                <a:moveTo>
                  <a:pt x="2026" y="1178"/>
                </a:moveTo>
                <a:lnTo>
                  <a:pt x="1911" y="1178"/>
                </a:lnTo>
                <a:lnTo>
                  <a:pt x="1911" y="1149"/>
                </a:lnTo>
                <a:lnTo>
                  <a:pt x="2026" y="1149"/>
                </a:lnTo>
                <a:lnTo>
                  <a:pt x="2026" y="1178"/>
                </a:lnTo>
                <a:moveTo>
                  <a:pt x="1834" y="1178"/>
                </a:moveTo>
                <a:lnTo>
                  <a:pt x="1719" y="1178"/>
                </a:lnTo>
                <a:lnTo>
                  <a:pt x="1719" y="1149"/>
                </a:lnTo>
                <a:lnTo>
                  <a:pt x="1834" y="1149"/>
                </a:lnTo>
                <a:lnTo>
                  <a:pt x="1834" y="1178"/>
                </a:lnTo>
                <a:moveTo>
                  <a:pt x="1643" y="1178"/>
                </a:moveTo>
                <a:lnTo>
                  <a:pt x="1528" y="1178"/>
                </a:lnTo>
                <a:lnTo>
                  <a:pt x="1528" y="1149"/>
                </a:lnTo>
                <a:lnTo>
                  <a:pt x="1643" y="1149"/>
                </a:lnTo>
                <a:lnTo>
                  <a:pt x="1643" y="1178"/>
                </a:lnTo>
                <a:moveTo>
                  <a:pt x="1451" y="1178"/>
                </a:moveTo>
                <a:lnTo>
                  <a:pt x="1336" y="1178"/>
                </a:lnTo>
                <a:lnTo>
                  <a:pt x="1336" y="1149"/>
                </a:lnTo>
                <a:lnTo>
                  <a:pt x="1451" y="1149"/>
                </a:lnTo>
                <a:lnTo>
                  <a:pt x="1451" y="1178"/>
                </a:lnTo>
                <a:moveTo>
                  <a:pt x="1260" y="1178"/>
                </a:moveTo>
                <a:lnTo>
                  <a:pt x="1145" y="1178"/>
                </a:lnTo>
                <a:lnTo>
                  <a:pt x="1145" y="1149"/>
                </a:lnTo>
                <a:lnTo>
                  <a:pt x="1260" y="1149"/>
                </a:lnTo>
                <a:lnTo>
                  <a:pt x="1260" y="1178"/>
                </a:lnTo>
                <a:moveTo>
                  <a:pt x="1068" y="1178"/>
                </a:moveTo>
                <a:lnTo>
                  <a:pt x="953" y="1178"/>
                </a:lnTo>
                <a:lnTo>
                  <a:pt x="953" y="1149"/>
                </a:lnTo>
                <a:lnTo>
                  <a:pt x="1068" y="1149"/>
                </a:lnTo>
                <a:lnTo>
                  <a:pt x="1068" y="1178"/>
                </a:lnTo>
                <a:moveTo>
                  <a:pt x="877" y="1178"/>
                </a:moveTo>
                <a:lnTo>
                  <a:pt x="762" y="1178"/>
                </a:lnTo>
                <a:lnTo>
                  <a:pt x="762" y="1149"/>
                </a:lnTo>
                <a:lnTo>
                  <a:pt x="877" y="1149"/>
                </a:lnTo>
                <a:lnTo>
                  <a:pt x="877" y="1178"/>
                </a:lnTo>
                <a:moveTo>
                  <a:pt x="685" y="1178"/>
                </a:moveTo>
                <a:lnTo>
                  <a:pt x="570" y="1178"/>
                </a:lnTo>
                <a:lnTo>
                  <a:pt x="570" y="1149"/>
                </a:lnTo>
                <a:lnTo>
                  <a:pt x="685" y="1149"/>
                </a:lnTo>
                <a:lnTo>
                  <a:pt x="685" y="1178"/>
                </a:lnTo>
                <a:moveTo>
                  <a:pt x="494" y="1178"/>
                </a:moveTo>
                <a:lnTo>
                  <a:pt x="379" y="1178"/>
                </a:lnTo>
                <a:lnTo>
                  <a:pt x="379" y="1149"/>
                </a:lnTo>
                <a:lnTo>
                  <a:pt x="494" y="1149"/>
                </a:lnTo>
                <a:lnTo>
                  <a:pt x="494" y="1178"/>
                </a:lnTo>
                <a:moveTo>
                  <a:pt x="301" y="1178"/>
                </a:moveTo>
                <a:lnTo>
                  <a:pt x="186" y="1178"/>
                </a:lnTo>
                <a:lnTo>
                  <a:pt x="186" y="1149"/>
                </a:lnTo>
                <a:lnTo>
                  <a:pt x="301" y="1149"/>
                </a:lnTo>
                <a:lnTo>
                  <a:pt x="301" y="1178"/>
                </a:lnTo>
                <a:moveTo>
                  <a:pt x="106" y="1166"/>
                </a:moveTo>
                <a:cubicBezTo>
                  <a:pt x="64" y="1150"/>
                  <a:pt x="34" y="1121"/>
                  <a:pt x="16" y="1081"/>
                </a:cubicBezTo>
                <a:lnTo>
                  <a:pt x="42" y="1069"/>
                </a:lnTo>
                <a:cubicBezTo>
                  <a:pt x="57" y="1102"/>
                  <a:pt x="82" y="1126"/>
                  <a:pt x="116" y="1140"/>
                </a:cubicBezTo>
                <a:lnTo>
                  <a:pt x="106" y="1166"/>
                </a:lnTo>
                <a:moveTo>
                  <a:pt x="0" y="1000"/>
                </a:moveTo>
                <a:lnTo>
                  <a:pt x="0" y="886"/>
                </a:lnTo>
                <a:lnTo>
                  <a:pt x="29" y="886"/>
                </a:lnTo>
                <a:lnTo>
                  <a:pt x="29" y="1000"/>
                </a:lnTo>
                <a:lnTo>
                  <a:pt x="0" y="1000"/>
                </a:lnTo>
                <a:moveTo>
                  <a:pt x="0" y="809"/>
                </a:moveTo>
                <a:lnTo>
                  <a:pt x="0" y="694"/>
                </a:lnTo>
                <a:lnTo>
                  <a:pt x="29" y="694"/>
                </a:lnTo>
                <a:lnTo>
                  <a:pt x="29" y="809"/>
                </a:lnTo>
                <a:lnTo>
                  <a:pt x="0" y="809"/>
                </a:lnTo>
                <a:moveTo>
                  <a:pt x="0" y="618"/>
                </a:moveTo>
                <a:lnTo>
                  <a:pt x="0" y="503"/>
                </a:lnTo>
                <a:lnTo>
                  <a:pt x="29" y="503"/>
                </a:lnTo>
                <a:lnTo>
                  <a:pt x="29" y="618"/>
                </a:lnTo>
                <a:lnTo>
                  <a:pt x="0" y="618"/>
                </a:lnTo>
                <a:moveTo>
                  <a:pt x="0" y="426"/>
                </a:moveTo>
                <a:lnTo>
                  <a:pt x="0" y="310"/>
                </a:lnTo>
                <a:lnTo>
                  <a:pt x="29" y="310"/>
                </a:lnTo>
                <a:lnTo>
                  <a:pt x="29" y="426"/>
                </a:lnTo>
                <a:lnTo>
                  <a:pt x="0" y="426"/>
                </a:lnTo>
                <a:moveTo>
                  <a:pt x="0" y="234"/>
                </a:moveTo>
                <a:lnTo>
                  <a:pt x="0" y="168"/>
                </a:lnTo>
                <a:cubicBezTo>
                  <a:pt x="0" y="150"/>
                  <a:pt x="3" y="133"/>
                  <a:pt x="9" y="116"/>
                </a:cubicBezTo>
                <a:lnTo>
                  <a:pt x="36" y="125"/>
                </a:lnTo>
                <a:cubicBezTo>
                  <a:pt x="31" y="139"/>
                  <a:pt x="29" y="153"/>
                  <a:pt x="29" y="168"/>
                </a:cubicBezTo>
                <a:lnTo>
                  <a:pt x="29" y="234"/>
                </a:lnTo>
                <a:lnTo>
                  <a:pt x="0" y="234"/>
                </a:lnTo>
                <a:moveTo>
                  <a:pt x="54" y="45"/>
                </a:moveTo>
                <a:cubicBezTo>
                  <a:pt x="86" y="15"/>
                  <a:pt x="124" y="0"/>
                  <a:pt x="168" y="0"/>
                </a:cubicBezTo>
                <a:lnTo>
                  <a:pt x="283" y="0"/>
                </a:lnTo>
                <a:lnTo>
                  <a:pt x="283" y="29"/>
                </a:lnTo>
                <a:lnTo>
                  <a:pt x="168" y="29"/>
                </a:lnTo>
                <a:cubicBezTo>
                  <a:pt x="132" y="29"/>
                  <a:pt x="100" y="41"/>
                  <a:pt x="73" y="66"/>
                </a:cubicBezTo>
                <a:lnTo>
                  <a:pt x="54" y="45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763760" y="4748040"/>
            <a:ext cx="74880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6B7280"/>
                </a:solidFill>
                <a:effectLst/>
                <a:uFillTx/>
                <a:latin typeface=".SFNS"/>
                <a:ea typeface=".SFNS"/>
              </a:rPr>
              <a:t>group stats + figures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0528560" y="3982320"/>
            <a:ext cx="10090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60" b="1" u="none" strike="noStrike">
                <a:solidFill>
                  <a:srgbClr val="374151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05_compare_tau.py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1512800" y="3885480"/>
            <a:ext cx="248400" cy="110520"/>
          </a:xfrm>
          <a:custGeom>
            <a:avLst/>
            <a:gdLst/>
            <a:ahLst/>
            <a:rect l="0" t="0" r="r" b="b"/>
            <a:pathLst>
              <a:path w="690" h="307">
                <a:moveTo>
                  <a:pt x="57" y="0"/>
                </a:moveTo>
                <a:lnTo>
                  <a:pt x="633" y="0"/>
                </a:lnTo>
                <a:cubicBezTo>
                  <a:pt x="641" y="0"/>
                  <a:pt x="648" y="2"/>
                  <a:pt x="655" y="5"/>
                </a:cubicBezTo>
                <a:cubicBezTo>
                  <a:pt x="662" y="8"/>
                  <a:pt x="668" y="12"/>
                  <a:pt x="674" y="17"/>
                </a:cubicBezTo>
                <a:cubicBezTo>
                  <a:pt x="679" y="23"/>
                  <a:pt x="683" y="29"/>
                  <a:pt x="686" y="36"/>
                </a:cubicBezTo>
                <a:cubicBezTo>
                  <a:pt x="689" y="43"/>
                  <a:pt x="690" y="50"/>
                  <a:pt x="690" y="58"/>
                </a:cubicBezTo>
                <a:lnTo>
                  <a:pt x="690" y="250"/>
                </a:lnTo>
                <a:cubicBezTo>
                  <a:pt x="690" y="258"/>
                  <a:pt x="689" y="265"/>
                  <a:pt x="686" y="272"/>
                </a:cubicBezTo>
                <a:cubicBezTo>
                  <a:pt x="683" y="279"/>
                  <a:pt x="679" y="285"/>
                  <a:pt x="674" y="291"/>
                </a:cubicBezTo>
                <a:cubicBezTo>
                  <a:pt x="668" y="296"/>
                  <a:pt x="662" y="300"/>
                  <a:pt x="655" y="303"/>
                </a:cubicBezTo>
                <a:cubicBezTo>
                  <a:pt x="648" y="306"/>
                  <a:pt x="641" y="307"/>
                  <a:pt x="633" y="307"/>
                </a:cubicBezTo>
                <a:lnTo>
                  <a:pt x="57" y="307"/>
                </a:lnTo>
                <a:cubicBezTo>
                  <a:pt x="50" y="307"/>
                  <a:pt x="42" y="306"/>
                  <a:pt x="35" y="303"/>
                </a:cubicBezTo>
                <a:cubicBezTo>
                  <a:pt x="28" y="300"/>
                  <a:pt x="22" y="296"/>
                  <a:pt x="17" y="291"/>
                </a:cubicBezTo>
                <a:cubicBezTo>
                  <a:pt x="11" y="285"/>
                  <a:pt x="7" y="279"/>
                  <a:pt x="4" y="272"/>
                </a:cubicBezTo>
                <a:cubicBezTo>
                  <a:pt x="1" y="265"/>
                  <a:pt x="0" y="258"/>
                  <a:pt x="0" y="250"/>
                </a:cubicBezTo>
                <a:lnTo>
                  <a:pt x="0" y="58"/>
                </a:ln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2" y="2"/>
                  <a:pt x="50" y="0"/>
                  <a:pt x="57" y="0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1512800" y="3885480"/>
            <a:ext cx="248400" cy="110520"/>
          </a:xfrm>
          <a:custGeom>
            <a:avLst/>
            <a:gdLst/>
            <a:ahLst/>
            <a:rect l="0" t="0" r="r" b="b"/>
            <a:pathLst>
              <a:path w="690" h="307">
                <a:moveTo>
                  <a:pt x="57" y="0"/>
                </a:moveTo>
                <a:lnTo>
                  <a:pt x="633" y="0"/>
                </a:lnTo>
                <a:cubicBezTo>
                  <a:pt x="641" y="0"/>
                  <a:pt x="648" y="2"/>
                  <a:pt x="655" y="5"/>
                </a:cubicBezTo>
                <a:cubicBezTo>
                  <a:pt x="662" y="8"/>
                  <a:pt x="668" y="12"/>
                  <a:pt x="674" y="17"/>
                </a:cubicBezTo>
                <a:cubicBezTo>
                  <a:pt x="679" y="23"/>
                  <a:pt x="683" y="29"/>
                  <a:pt x="686" y="36"/>
                </a:cubicBezTo>
                <a:cubicBezTo>
                  <a:pt x="689" y="43"/>
                  <a:pt x="690" y="50"/>
                  <a:pt x="690" y="58"/>
                </a:cubicBezTo>
                <a:lnTo>
                  <a:pt x="690" y="250"/>
                </a:lnTo>
                <a:cubicBezTo>
                  <a:pt x="690" y="258"/>
                  <a:pt x="689" y="265"/>
                  <a:pt x="686" y="272"/>
                </a:cubicBezTo>
                <a:cubicBezTo>
                  <a:pt x="683" y="279"/>
                  <a:pt x="679" y="285"/>
                  <a:pt x="674" y="291"/>
                </a:cubicBezTo>
                <a:cubicBezTo>
                  <a:pt x="668" y="296"/>
                  <a:pt x="662" y="300"/>
                  <a:pt x="655" y="303"/>
                </a:cubicBezTo>
                <a:cubicBezTo>
                  <a:pt x="648" y="306"/>
                  <a:pt x="641" y="307"/>
                  <a:pt x="633" y="307"/>
                </a:cubicBezTo>
                <a:lnTo>
                  <a:pt x="57" y="307"/>
                </a:lnTo>
                <a:cubicBezTo>
                  <a:pt x="50" y="307"/>
                  <a:pt x="42" y="306"/>
                  <a:pt x="35" y="303"/>
                </a:cubicBezTo>
                <a:cubicBezTo>
                  <a:pt x="28" y="300"/>
                  <a:pt x="22" y="296"/>
                  <a:pt x="17" y="291"/>
                </a:cubicBezTo>
                <a:cubicBezTo>
                  <a:pt x="11" y="285"/>
                  <a:pt x="7" y="279"/>
                  <a:pt x="4" y="272"/>
                </a:cubicBezTo>
                <a:cubicBezTo>
                  <a:pt x="1" y="265"/>
                  <a:pt x="0" y="258"/>
                  <a:pt x="0" y="250"/>
                </a:cubicBezTo>
                <a:lnTo>
                  <a:pt x="0" y="58"/>
                </a:ln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2" y="2"/>
                  <a:pt x="50" y="0"/>
                  <a:pt x="57" y="0"/>
                </a:cubicBezTo>
                <a:close/>
              </a:path>
            </a:pathLst>
          </a:custGeom>
          <a:noFill/>
          <a:ln w="6840">
            <a:solidFill>
              <a:srgbClr val="92400E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0595520" y="4135320"/>
            <a:ext cx="7354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6B7280"/>
                </a:solidFill>
                <a:effectLst/>
                <a:uFillTx/>
                <a:latin typeface=".SFNS"/>
                <a:ea typeface=".SFNS"/>
              </a:rPr>
              <a:t>stats tests + box plots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0306440" y="4526280"/>
            <a:ext cx="1379160" cy="413640"/>
          </a:xfrm>
          <a:custGeom>
            <a:avLst/>
            <a:gdLst/>
            <a:ahLst/>
            <a:rect l="0" t="0" r="r" b="b"/>
            <a:pathLst>
              <a:path w="3831" h="1149">
                <a:moveTo>
                  <a:pt x="0" y="0"/>
                </a:moveTo>
                <a:lnTo>
                  <a:pt x="3831" y="0"/>
                </a:lnTo>
                <a:lnTo>
                  <a:pt x="3831" y="1149"/>
                </a:lnTo>
                <a:lnTo>
                  <a:pt x="0" y="114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0302840" y="4522680"/>
            <a:ext cx="1386000" cy="420840"/>
          </a:xfrm>
          <a:custGeom>
            <a:avLst/>
            <a:gdLst/>
            <a:ahLst/>
            <a:rect l="0" t="0" r="r" b="b"/>
            <a:pathLst>
              <a:path w="3850" h="1169">
                <a:moveTo>
                  <a:pt x="144" y="0"/>
                </a:moveTo>
                <a:lnTo>
                  <a:pt x="220" y="0"/>
                </a:lnTo>
                <a:lnTo>
                  <a:pt x="220" y="19"/>
                </a:lnTo>
                <a:lnTo>
                  <a:pt x="144" y="19"/>
                </a:lnTo>
                <a:lnTo>
                  <a:pt x="144" y="0"/>
                </a:lnTo>
                <a:moveTo>
                  <a:pt x="279" y="0"/>
                </a:moveTo>
                <a:lnTo>
                  <a:pt x="355" y="0"/>
                </a:lnTo>
                <a:lnTo>
                  <a:pt x="355" y="19"/>
                </a:lnTo>
                <a:lnTo>
                  <a:pt x="279" y="19"/>
                </a:lnTo>
                <a:lnTo>
                  <a:pt x="279" y="0"/>
                </a:lnTo>
                <a:moveTo>
                  <a:pt x="413" y="0"/>
                </a:moveTo>
                <a:lnTo>
                  <a:pt x="489" y="0"/>
                </a:lnTo>
                <a:lnTo>
                  <a:pt x="489" y="19"/>
                </a:lnTo>
                <a:lnTo>
                  <a:pt x="413" y="19"/>
                </a:lnTo>
                <a:lnTo>
                  <a:pt x="413" y="0"/>
                </a:lnTo>
                <a:moveTo>
                  <a:pt x="547" y="0"/>
                </a:moveTo>
                <a:lnTo>
                  <a:pt x="623" y="0"/>
                </a:lnTo>
                <a:lnTo>
                  <a:pt x="623" y="19"/>
                </a:lnTo>
                <a:lnTo>
                  <a:pt x="547" y="19"/>
                </a:lnTo>
                <a:lnTo>
                  <a:pt x="547" y="0"/>
                </a:lnTo>
                <a:moveTo>
                  <a:pt x="681" y="0"/>
                </a:moveTo>
                <a:lnTo>
                  <a:pt x="757" y="0"/>
                </a:lnTo>
                <a:lnTo>
                  <a:pt x="757" y="19"/>
                </a:lnTo>
                <a:lnTo>
                  <a:pt x="681" y="19"/>
                </a:lnTo>
                <a:lnTo>
                  <a:pt x="681" y="0"/>
                </a:lnTo>
                <a:moveTo>
                  <a:pt x="815" y="0"/>
                </a:moveTo>
                <a:lnTo>
                  <a:pt x="892" y="0"/>
                </a:lnTo>
                <a:lnTo>
                  <a:pt x="892" y="19"/>
                </a:lnTo>
                <a:lnTo>
                  <a:pt x="815" y="19"/>
                </a:lnTo>
                <a:lnTo>
                  <a:pt x="815" y="0"/>
                </a:lnTo>
                <a:moveTo>
                  <a:pt x="949" y="0"/>
                </a:moveTo>
                <a:lnTo>
                  <a:pt x="1026" y="0"/>
                </a:lnTo>
                <a:lnTo>
                  <a:pt x="1026" y="19"/>
                </a:lnTo>
                <a:lnTo>
                  <a:pt x="949" y="19"/>
                </a:lnTo>
                <a:lnTo>
                  <a:pt x="949" y="0"/>
                </a:lnTo>
                <a:moveTo>
                  <a:pt x="1083" y="0"/>
                </a:moveTo>
                <a:lnTo>
                  <a:pt x="1160" y="0"/>
                </a:lnTo>
                <a:lnTo>
                  <a:pt x="1160" y="19"/>
                </a:lnTo>
                <a:lnTo>
                  <a:pt x="1083" y="19"/>
                </a:lnTo>
                <a:lnTo>
                  <a:pt x="1083" y="0"/>
                </a:lnTo>
                <a:moveTo>
                  <a:pt x="1217" y="0"/>
                </a:moveTo>
                <a:lnTo>
                  <a:pt x="1294" y="0"/>
                </a:lnTo>
                <a:lnTo>
                  <a:pt x="1294" y="19"/>
                </a:lnTo>
                <a:lnTo>
                  <a:pt x="1217" y="19"/>
                </a:lnTo>
                <a:lnTo>
                  <a:pt x="1217" y="0"/>
                </a:lnTo>
                <a:moveTo>
                  <a:pt x="1351" y="0"/>
                </a:moveTo>
                <a:lnTo>
                  <a:pt x="1428" y="0"/>
                </a:lnTo>
                <a:lnTo>
                  <a:pt x="1428" y="19"/>
                </a:lnTo>
                <a:lnTo>
                  <a:pt x="1351" y="19"/>
                </a:lnTo>
                <a:lnTo>
                  <a:pt x="1351" y="0"/>
                </a:lnTo>
                <a:moveTo>
                  <a:pt x="1485" y="0"/>
                </a:moveTo>
                <a:lnTo>
                  <a:pt x="1562" y="0"/>
                </a:lnTo>
                <a:lnTo>
                  <a:pt x="1562" y="19"/>
                </a:lnTo>
                <a:lnTo>
                  <a:pt x="1485" y="19"/>
                </a:lnTo>
                <a:lnTo>
                  <a:pt x="1485" y="0"/>
                </a:lnTo>
                <a:moveTo>
                  <a:pt x="1619" y="0"/>
                </a:moveTo>
                <a:lnTo>
                  <a:pt x="1696" y="0"/>
                </a:lnTo>
                <a:lnTo>
                  <a:pt x="1696" y="19"/>
                </a:lnTo>
                <a:lnTo>
                  <a:pt x="1619" y="19"/>
                </a:lnTo>
                <a:lnTo>
                  <a:pt x="1619" y="0"/>
                </a:lnTo>
                <a:moveTo>
                  <a:pt x="1753" y="0"/>
                </a:moveTo>
                <a:lnTo>
                  <a:pt x="1830" y="0"/>
                </a:lnTo>
                <a:lnTo>
                  <a:pt x="1830" y="19"/>
                </a:lnTo>
                <a:lnTo>
                  <a:pt x="1753" y="19"/>
                </a:lnTo>
                <a:lnTo>
                  <a:pt x="1753" y="0"/>
                </a:lnTo>
                <a:moveTo>
                  <a:pt x="1887" y="0"/>
                </a:moveTo>
                <a:lnTo>
                  <a:pt x="1964" y="0"/>
                </a:lnTo>
                <a:lnTo>
                  <a:pt x="1964" y="19"/>
                </a:lnTo>
                <a:lnTo>
                  <a:pt x="1887" y="19"/>
                </a:lnTo>
                <a:lnTo>
                  <a:pt x="1887" y="0"/>
                </a:lnTo>
                <a:moveTo>
                  <a:pt x="2021" y="0"/>
                </a:moveTo>
                <a:lnTo>
                  <a:pt x="2098" y="0"/>
                </a:lnTo>
                <a:lnTo>
                  <a:pt x="2098" y="19"/>
                </a:lnTo>
                <a:lnTo>
                  <a:pt x="2021" y="19"/>
                </a:lnTo>
                <a:lnTo>
                  <a:pt x="2021" y="0"/>
                </a:lnTo>
                <a:moveTo>
                  <a:pt x="2155" y="0"/>
                </a:moveTo>
                <a:lnTo>
                  <a:pt x="2232" y="0"/>
                </a:lnTo>
                <a:lnTo>
                  <a:pt x="2232" y="19"/>
                </a:lnTo>
                <a:lnTo>
                  <a:pt x="2155" y="19"/>
                </a:lnTo>
                <a:lnTo>
                  <a:pt x="2155" y="0"/>
                </a:lnTo>
                <a:moveTo>
                  <a:pt x="2290" y="0"/>
                </a:moveTo>
                <a:lnTo>
                  <a:pt x="2366" y="0"/>
                </a:lnTo>
                <a:lnTo>
                  <a:pt x="2366" y="19"/>
                </a:lnTo>
                <a:lnTo>
                  <a:pt x="2290" y="19"/>
                </a:lnTo>
                <a:lnTo>
                  <a:pt x="2290" y="0"/>
                </a:lnTo>
                <a:moveTo>
                  <a:pt x="2424" y="0"/>
                </a:moveTo>
                <a:lnTo>
                  <a:pt x="2500" y="0"/>
                </a:lnTo>
                <a:lnTo>
                  <a:pt x="2500" y="19"/>
                </a:lnTo>
                <a:lnTo>
                  <a:pt x="2424" y="19"/>
                </a:lnTo>
                <a:lnTo>
                  <a:pt x="2424" y="0"/>
                </a:lnTo>
                <a:moveTo>
                  <a:pt x="2558" y="0"/>
                </a:moveTo>
                <a:lnTo>
                  <a:pt x="2634" y="0"/>
                </a:lnTo>
                <a:lnTo>
                  <a:pt x="2634" y="19"/>
                </a:lnTo>
                <a:lnTo>
                  <a:pt x="2558" y="19"/>
                </a:lnTo>
                <a:lnTo>
                  <a:pt x="2558" y="0"/>
                </a:lnTo>
                <a:moveTo>
                  <a:pt x="2692" y="0"/>
                </a:moveTo>
                <a:lnTo>
                  <a:pt x="2768" y="0"/>
                </a:lnTo>
                <a:lnTo>
                  <a:pt x="2768" y="19"/>
                </a:lnTo>
                <a:lnTo>
                  <a:pt x="2692" y="19"/>
                </a:lnTo>
                <a:lnTo>
                  <a:pt x="2692" y="0"/>
                </a:lnTo>
                <a:moveTo>
                  <a:pt x="2826" y="0"/>
                </a:moveTo>
                <a:lnTo>
                  <a:pt x="2902" y="0"/>
                </a:lnTo>
                <a:lnTo>
                  <a:pt x="2902" y="19"/>
                </a:lnTo>
                <a:lnTo>
                  <a:pt x="2826" y="19"/>
                </a:lnTo>
                <a:lnTo>
                  <a:pt x="2826" y="0"/>
                </a:lnTo>
                <a:moveTo>
                  <a:pt x="2960" y="0"/>
                </a:moveTo>
                <a:lnTo>
                  <a:pt x="3036" y="0"/>
                </a:lnTo>
                <a:lnTo>
                  <a:pt x="3036" y="19"/>
                </a:lnTo>
                <a:lnTo>
                  <a:pt x="2960" y="19"/>
                </a:lnTo>
                <a:lnTo>
                  <a:pt x="2960" y="0"/>
                </a:lnTo>
                <a:moveTo>
                  <a:pt x="3094" y="0"/>
                </a:moveTo>
                <a:lnTo>
                  <a:pt x="3170" y="0"/>
                </a:lnTo>
                <a:lnTo>
                  <a:pt x="3170" y="19"/>
                </a:lnTo>
                <a:lnTo>
                  <a:pt x="3094" y="19"/>
                </a:lnTo>
                <a:lnTo>
                  <a:pt x="3094" y="0"/>
                </a:lnTo>
                <a:moveTo>
                  <a:pt x="3228" y="0"/>
                </a:moveTo>
                <a:lnTo>
                  <a:pt x="3305" y="0"/>
                </a:lnTo>
                <a:lnTo>
                  <a:pt x="3305" y="19"/>
                </a:lnTo>
                <a:lnTo>
                  <a:pt x="3228" y="19"/>
                </a:lnTo>
                <a:lnTo>
                  <a:pt x="3228" y="0"/>
                </a:lnTo>
                <a:moveTo>
                  <a:pt x="3362" y="0"/>
                </a:moveTo>
                <a:lnTo>
                  <a:pt x="3439" y="0"/>
                </a:lnTo>
                <a:lnTo>
                  <a:pt x="3439" y="19"/>
                </a:lnTo>
                <a:lnTo>
                  <a:pt x="3362" y="19"/>
                </a:lnTo>
                <a:lnTo>
                  <a:pt x="3362" y="0"/>
                </a:lnTo>
                <a:moveTo>
                  <a:pt x="3496" y="0"/>
                </a:moveTo>
                <a:lnTo>
                  <a:pt x="3573" y="0"/>
                </a:lnTo>
                <a:lnTo>
                  <a:pt x="3573" y="19"/>
                </a:lnTo>
                <a:lnTo>
                  <a:pt x="3496" y="19"/>
                </a:lnTo>
                <a:lnTo>
                  <a:pt x="3496" y="0"/>
                </a:lnTo>
                <a:moveTo>
                  <a:pt x="3630" y="0"/>
                </a:moveTo>
                <a:lnTo>
                  <a:pt x="3707" y="0"/>
                </a:lnTo>
                <a:lnTo>
                  <a:pt x="3707" y="19"/>
                </a:lnTo>
                <a:lnTo>
                  <a:pt x="3630" y="19"/>
                </a:lnTo>
                <a:lnTo>
                  <a:pt x="3630" y="0"/>
                </a:lnTo>
                <a:moveTo>
                  <a:pt x="3764" y="0"/>
                </a:moveTo>
                <a:lnTo>
                  <a:pt x="3841" y="0"/>
                </a:lnTo>
                <a:lnTo>
                  <a:pt x="3841" y="19"/>
                </a:lnTo>
                <a:lnTo>
                  <a:pt x="3764" y="19"/>
                </a:lnTo>
                <a:lnTo>
                  <a:pt x="3764" y="0"/>
                </a:lnTo>
                <a:moveTo>
                  <a:pt x="3850" y="67"/>
                </a:moveTo>
                <a:lnTo>
                  <a:pt x="3850" y="144"/>
                </a:lnTo>
                <a:lnTo>
                  <a:pt x="3831" y="144"/>
                </a:lnTo>
                <a:lnTo>
                  <a:pt x="3831" y="67"/>
                </a:lnTo>
                <a:lnTo>
                  <a:pt x="3850" y="67"/>
                </a:lnTo>
                <a:moveTo>
                  <a:pt x="3850" y="201"/>
                </a:moveTo>
                <a:lnTo>
                  <a:pt x="3850" y="278"/>
                </a:lnTo>
                <a:lnTo>
                  <a:pt x="3831" y="278"/>
                </a:lnTo>
                <a:lnTo>
                  <a:pt x="3831" y="201"/>
                </a:lnTo>
                <a:lnTo>
                  <a:pt x="3850" y="201"/>
                </a:lnTo>
                <a:moveTo>
                  <a:pt x="3850" y="335"/>
                </a:moveTo>
                <a:lnTo>
                  <a:pt x="3850" y="412"/>
                </a:lnTo>
                <a:lnTo>
                  <a:pt x="3831" y="412"/>
                </a:lnTo>
                <a:lnTo>
                  <a:pt x="3831" y="335"/>
                </a:lnTo>
                <a:lnTo>
                  <a:pt x="3850" y="335"/>
                </a:lnTo>
                <a:moveTo>
                  <a:pt x="3850" y="469"/>
                </a:moveTo>
                <a:lnTo>
                  <a:pt x="3850" y="546"/>
                </a:lnTo>
                <a:lnTo>
                  <a:pt x="3831" y="546"/>
                </a:lnTo>
                <a:lnTo>
                  <a:pt x="3831" y="469"/>
                </a:lnTo>
                <a:lnTo>
                  <a:pt x="3850" y="469"/>
                </a:lnTo>
                <a:moveTo>
                  <a:pt x="3850" y="603"/>
                </a:moveTo>
                <a:lnTo>
                  <a:pt x="3850" y="680"/>
                </a:lnTo>
                <a:lnTo>
                  <a:pt x="3831" y="680"/>
                </a:lnTo>
                <a:lnTo>
                  <a:pt x="3831" y="603"/>
                </a:lnTo>
                <a:lnTo>
                  <a:pt x="3850" y="603"/>
                </a:lnTo>
                <a:moveTo>
                  <a:pt x="3850" y="737"/>
                </a:moveTo>
                <a:lnTo>
                  <a:pt x="3850" y="814"/>
                </a:lnTo>
                <a:lnTo>
                  <a:pt x="3831" y="814"/>
                </a:lnTo>
                <a:lnTo>
                  <a:pt x="3831" y="737"/>
                </a:lnTo>
                <a:lnTo>
                  <a:pt x="3850" y="737"/>
                </a:lnTo>
                <a:moveTo>
                  <a:pt x="3850" y="872"/>
                </a:moveTo>
                <a:lnTo>
                  <a:pt x="3850" y="948"/>
                </a:lnTo>
                <a:lnTo>
                  <a:pt x="3831" y="948"/>
                </a:lnTo>
                <a:lnTo>
                  <a:pt x="3831" y="872"/>
                </a:lnTo>
                <a:lnTo>
                  <a:pt x="3850" y="872"/>
                </a:lnTo>
                <a:moveTo>
                  <a:pt x="3850" y="1006"/>
                </a:moveTo>
                <a:lnTo>
                  <a:pt x="3850" y="1082"/>
                </a:lnTo>
                <a:lnTo>
                  <a:pt x="3831" y="1082"/>
                </a:lnTo>
                <a:lnTo>
                  <a:pt x="3831" y="1006"/>
                </a:lnTo>
                <a:lnTo>
                  <a:pt x="3850" y="1006"/>
                </a:lnTo>
                <a:moveTo>
                  <a:pt x="3850" y="1140"/>
                </a:moveTo>
                <a:lnTo>
                  <a:pt x="3850" y="1169"/>
                </a:lnTo>
                <a:lnTo>
                  <a:pt x="3783" y="1169"/>
                </a:lnTo>
                <a:lnTo>
                  <a:pt x="3783" y="1149"/>
                </a:lnTo>
                <a:lnTo>
                  <a:pt x="3831" y="1149"/>
                </a:lnTo>
                <a:lnTo>
                  <a:pt x="3831" y="1140"/>
                </a:lnTo>
                <a:lnTo>
                  <a:pt x="3850" y="1140"/>
                </a:lnTo>
                <a:moveTo>
                  <a:pt x="3726" y="1169"/>
                </a:moveTo>
                <a:lnTo>
                  <a:pt x="3649" y="1169"/>
                </a:lnTo>
                <a:lnTo>
                  <a:pt x="3649" y="1149"/>
                </a:lnTo>
                <a:lnTo>
                  <a:pt x="3726" y="1149"/>
                </a:lnTo>
                <a:lnTo>
                  <a:pt x="3726" y="1169"/>
                </a:lnTo>
                <a:moveTo>
                  <a:pt x="3592" y="1169"/>
                </a:moveTo>
                <a:lnTo>
                  <a:pt x="3515" y="1169"/>
                </a:lnTo>
                <a:lnTo>
                  <a:pt x="3515" y="1149"/>
                </a:lnTo>
                <a:lnTo>
                  <a:pt x="3592" y="1149"/>
                </a:lnTo>
                <a:lnTo>
                  <a:pt x="3592" y="1169"/>
                </a:lnTo>
                <a:moveTo>
                  <a:pt x="3458" y="1169"/>
                </a:moveTo>
                <a:lnTo>
                  <a:pt x="3381" y="1169"/>
                </a:lnTo>
                <a:lnTo>
                  <a:pt x="3381" y="1149"/>
                </a:lnTo>
                <a:lnTo>
                  <a:pt x="3458" y="1149"/>
                </a:lnTo>
                <a:lnTo>
                  <a:pt x="3458" y="1169"/>
                </a:lnTo>
                <a:moveTo>
                  <a:pt x="3324" y="1169"/>
                </a:moveTo>
                <a:lnTo>
                  <a:pt x="3247" y="1169"/>
                </a:lnTo>
                <a:lnTo>
                  <a:pt x="3247" y="1149"/>
                </a:lnTo>
                <a:lnTo>
                  <a:pt x="3324" y="1149"/>
                </a:lnTo>
                <a:lnTo>
                  <a:pt x="3324" y="1169"/>
                </a:lnTo>
                <a:moveTo>
                  <a:pt x="3190" y="1169"/>
                </a:moveTo>
                <a:lnTo>
                  <a:pt x="3113" y="1169"/>
                </a:lnTo>
                <a:lnTo>
                  <a:pt x="3113" y="1149"/>
                </a:lnTo>
                <a:lnTo>
                  <a:pt x="3190" y="1149"/>
                </a:lnTo>
                <a:lnTo>
                  <a:pt x="3190" y="1169"/>
                </a:lnTo>
                <a:moveTo>
                  <a:pt x="3056" y="1169"/>
                </a:moveTo>
                <a:lnTo>
                  <a:pt x="2979" y="1169"/>
                </a:lnTo>
                <a:lnTo>
                  <a:pt x="2979" y="1149"/>
                </a:lnTo>
                <a:lnTo>
                  <a:pt x="3056" y="1149"/>
                </a:lnTo>
                <a:lnTo>
                  <a:pt x="3056" y="1169"/>
                </a:lnTo>
                <a:moveTo>
                  <a:pt x="2921" y="1169"/>
                </a:moveTo>
                <a:lnTo>
                  <a:pt x="2845" y="1169"/>
                </a:lnTo>
                <a:lnTo>
                  <a:pt x="2845" y="1149"/>
                </a:lnTo>
                <a:lnTo>
                  <a:pt x="2921" y="1149"/>
                </a:lnTo>
                <a:lnTo>
                  <a:pt x="2921" y="1169"/>
                </a:lnTo>
                <a:moveTo>
                  <a:pt x="2787" y="1169"/>
                </a:moveTo>
                <a:lnTo>
                  <a:pt x="2711" y="1169"/>
                </a:lnTo>
                <a:lnTo>
                  <a:pt x="2711" y="1149"/>
                </a:lnTo>
                <a:lnTo>
                  <a:pt x="2787" y="1149"/>
                </a:lnTo>
                <a:lnTo>
                  <a:pt x="2787" y="1169"/>
                </a:lnTo>
                <a:moveTo>
                  <a:pt x="2653" y="1169"/>
                </a:moveTo>
                <a:lnTo>
                  <a:pt x="2577" y="1169"/>
                </a:lnTo>
                <a:lnTo>
                  <a:pt x="2577" y="1149"/>
                </a:lnTo>
                <a:lnTo>
                  <a:pt x="2653" y="1149"/>
                </a:lnTo>
                <a:lnTo>
                  <a:pt x="2653" y="1169"/>
                </a:lnTo>
                <a:moveTo>
                  <a:pt x="2519" y="1169"/>
                </a:moveTo>
                <a:lnTo>
                  <a:pt x="2443" y="1169"/>
                </a:lnTo>
                <a:lnTo>
                  <a:pt x="2443" y="1149"/>
                </a:lnTo>
                <a:lnTo>
                  <a:pt x="2519" y="1149"/>
                </a:lnTo>
                <a:lnTo>
                  <a:pt x="2519" y="1169"/>
                </a:lnTo>
                <a:moveTo>
                  <a:pt x="2385" y="1169"/>
                </a:moveTo>
                <a:lnTo>
                  <a:pt x="2309" y="1169"/>
                </a:lnTo>
                <a:lnTo>
                  <a:pt x="2309" y="1149"/>
                </a:lnTo>
                <a:lnTo>
                  <a:pt x="2385" y="1149"/>
                </a:lnTo>
                <a:lnTo>
                  <a:pt x="2385" y="1169"/>
                </a:lnTo>
                <a:moveTo>
                  <a:pt x="2251" y="1169"/>
                </a:moveTo>
                <a:lnTo>
                  <a:pt x="2175" y="1169"/>
                </a:lnTo>
                <a:lnTo>
                  <a:pt x="2175" y="1149"/>
                </a:lnTo>
                <a:lnTo>
                  <a:pt x="2251" y="1149"/>
                </a:lnTo>
                <a:lnTo>
                  <a:pt x="2251" y="1169"/>
                </a:lnTo>
                <a:moveTo>
                  <a:pt x="2117" y="1169"/>
                </a:moveTo>
                <a:lnTo>
                  <a:pt x="2041" y="1169"/>
                </a:lnTo>
                <a:lnTo>
                  <a:pt x="2041" y="1149"/>
                </a:lnTo>
                <a:lnTo>
                  <a:pt x="2117" y="1149"/>
                </a:lnTo>
                <a:lnTo>
                  <a:pt x="2117" y="1169"/>
                </a:lnTo>
                <a:moveTo>
                  <a:pt x="1983" y="1169"/>
                </a:moveTo>
                <a:lnTo>
                  <a:pt x="1907" y="1169"/>
                </a:lnTo>
                <a:lnTo>
                  <a:pt x="1907" y="1149"/>
                </a:lnTo>
                <a:lnTo>
                  <a:pt x="1983" y="1149"/>
                </a:lnTo>
                <a:lnTo>
                  <a:pt x="1983" y="1169"/>
                </a:lnTo>
                <a:moveTo>
                  <a:pt x="1849" y="1169"/>
                </a:moveTo>
                <a:lnTo>
                  <a:pt x="1772" y="1169"/>
                </a:lnTo>
                <a:lnTo>
                  <a:pt x="1772" y="1149"/>
                </a:lnTo>
                <a:lnTo>
                  <a:pt x="1849" y="1149"/>
                </a:lnTo>
                <a:lnTo>
                  <a:pt x="1849" y="1169"/>
                </a:lnTo>
                <a:moveTo>
                  <a:pt x="1715" y="1169"/>
                </a:moveTo>
                <a:lnTo>
                  <a:pt x="1638" y="1169"/>
                </a:lnTo>
                <a:lnTo>
                  <a:pt x="1638" y="1149"/>
                </a:lnTo>
                <a:lnTo>
                  <a:pt x="1715" y="1149"/>
                </a:lnTo>
                <a:lnTo>
                  <a:pt x="1715" y="1169"/>
                </a:lnTo>
                <a:moveTo>
                  <a:pt x="1581" y="1169"/>
                </a:moveTo>
                <a:lnTo>
                  <a:pt x="1504" y="1169"/>
                </a:lnTo>
                <a:lnTo>
                  <a:pt x="1504" y="1149"/>
                </a:lnTo>
                <a:lnTo>
                  <a:pt x="1581" y="1149"/>
                </a:lnTo>
                <a:lnTo>
                  <a:pt x="1581" y="1169"/>
                </a:lnTo>
                <a:moveTo>
                  <a:pt x="1447" y="1169"/>
                </a:moveTo>
                <a:lnTo>
                  <a:pt x="1370" y="1169"/>
                </a:lnTo>
                <a:lnTo>
                  <a:pt x="1370" y="1149"/>
                </a:lnTo>
                <a:lnTo>
                  <a:pt x="1447" y="1149"/>
                </a:lnTo>
                <a:lnTo>
                  <a:pt x="1447" y="1169"/>
                </a:lnTo>
                <a:moveTo>
                  <a:pt x="1313" y="1169"/>
                </a:moveTo>
                <a:lnTo>
                  <a:pt x="1236" y="1169"/>
                </a:lnTo>
                <a:lnTo>
                  <a:pt x="1236" y="1149"/>
                </a:lnTo>
                <a:lnTo>
                  <a:pt x="1313" y="1149"/>
                </a:lnTo>
                <a:lnTo>
                  <a:pt x="1313" y="1169"/>
                </a:lnTo>
                <a:moveTo>
                  <a:pt x="1179" y="1169"/>
                </a:moveTo>
                <a:lnTo>
                  <a:pt x="1102" y="1169"/>
                </a:lnTo>
                <a:lnTo>
                  <a:pt x="1102" y="1149"/>
                </a:lnTo>
                <a:lnTo>
                  <a:pt x="1179" y="1149"/>
                </a:lnTo>
                <a:lnTo>
                  <a:pt x="1179" y="1169"/>
                </a:lnTo>
                <a:moveTo>
                  <a:pt x="1045" y="1169"/>
                </a:moveTo>
                <a:lnTo>
                  <a:pt x="968" y="1169"/>
                </a:lnTo>
                <a:lnTo>
                  <a:pt x="968" y="1149"/>
                </a:lnTo>
                <a:lnTo>
                  <a:pt x="1045" y="1149"/>
                </a:lnTo>
                <a:lnTo>
                  <a:pt x="1045" y="1169"/>
                </a:lnTo>
                <a:moveTo>
                  <a:pt x="911" y="1169"/>
                </a:moveTo>
                <a:lnTo>
                  <a:pt x="834" y="1169"/>
                </a:lnTo>
                <a:lnTo>
                  <a:pt x="834" y="1149"/>
                </a:lnTo>
                <a:lnTo>
                  <a:pt x="911" y="1149"/>
                </a:lnTo>
                <a:lnTo>
                  <a:pt x="911" y="1169"/>
                </a:lnTo>
                <a:moveTo>
                  <a:pt x="777" y="1169"/>
                </a:moveTo>
                <a:lnTo>
                  <a:pt x="700" y="1169"/>
                </a:lnTo>
                <a:lnTo>
                  <a:pt x="700" y="1149"/>
                </a:lnTo>
                <a:lnTo>
                  <a:pt x="777" y="1149"/>
                </a:lnTo>
                <a:lnTo>
                  <a:pt x="777" y="1169"/>
                </a:lnTo>
                <a:moveTo>
                  <a:pt x="643" y="1169"/>
                </a:moveTo>
                <a:lnTo>
                  <a:pt x="566" y="1169"/>
                </a:lnTo>
                <a:lnTo>
                  <a:pt x="566" y="1149"/>
                </a:lnTo>
                <a:lnTo>
                  <a:pt x="643" y="1149"/>
                </a:lnTo>
                <a:lnTo>
                  <a:pt x="643" y="1169"/>
                </a:lnTo>
                <a:moveTo>
                  <a:pt x="509" y="1169"/>
                </a:moveTo>
                <a:lnTo>
                  <a:pt x="432" y="1169"/>
                </a:lnTo>
                <a:lnTo>
                  <a:pt x="432" y="1149"/>
                </a:lnTo>
                <a:lnTo>
                  <a:pt x="509" y="1149"/>
                </a:lnTo>
                <a:lnTo>
                  <a:pt x="509" y="1169"/>
                </a:lnTo>
                <a:moveTo>
                  <a:pt x="374" y="1169"/>
                </a:moveTo>
                <a:lnTo>
                  <a:pt x="298" y="1169"/>
                </a:lnTo>
                <a:lnTo>
                  <a:pt x="298" y="1149"/>
                </a:lnTo>
                <a:lnTo>
                  <a:pt x="374" y="1149"/>
                </a:lnTo>
                <a:lnTo>
                  <a:pt x="374" y="1169"/>
                </a:lnTo>
                <a:moveTo>
                  <a:pt x="239" y="1169"/>
                </a:moveTo>
                <a:lnTo>
                  <a:pt x="163" y="1169"/>
                </a:lnTo>
                <a:lnTo>
                  <a:pt x="163" y="1149"/>
                </a:lnTo>
                <a:lnTo>
                  <a:pt x="239" y="1149"/>
                </a:lnTo>
                <a:lnTo>
                  <a:pt x="239" y="1169"/>
                </a:lnTo>
                <a:moveTo>
                  <a:pt x="105" y="1169"/>
                </a:moveTo>
                <a:lnTo>
                  <a:pt x="29" y="1169"/>
                </a:lnTo>
                <a:lnTo>
                  <a:pt x="29" y="1149"/>
                </a:lnTo>
                <a:lnTo>
                  <a:pt x="105" y="1149"/>
                </a:lnTo>
                <a:lnTo>
                  <a:pt x="105" y="1169"/>
                </a:lnTo>
                <a:moveTo>
                  <a:pt x="0" y="1121"/>
                </a:moveTo>
                <a:lnTo>
                  <a:pt x="0" y="1044"/>
                </a:lnTo>
                <a:lnTo>
                  <a:pt x="19" y="1044"/>
                </a:lnTo>
                <a:lnTo>
                  <a:pt x="19" y="1121"/>
                </a:lnTo>
                <a:lnTo>
                  <a:pt x="0" y="1121"/>
                </a:lnTo>
                <a:moveTo>
                  <a:pt x="0" y="987"/>
                </a:moveTo>
                <a:lnTo>
                  <a:pt x="0" y="910"/>
                </a:lnTo>
                <a:lnTo>
                  <a:pt x="19" y="910"/>
                </a:lnTo>
                <a:lnTo>
                  <a:pt x="19" y="987"/>
                </a:lnTo>
                <a:lnTo>
                  <a:pt x="0" y="987"/>
                </a:lnTo>
                <a:moveTo>
                  <a:pt x="0" y="852"/>
                </a:moveTo>
                <a:lnTo>
                  <a:pt x="0" y="775"/>
                </a:lnTo>
                <a:lnTo>
                  <a:pt x="19" y="775"/>
                </a:lnTo>
                <a:lnTo>
                  <a:pt x="19" y="852"/>
                </a:lnTo>
                <a:lnTo>
                  <a:pt x="0" y="852"/>
                </a:lnTo>
                <a:moveTo>
                  <a:pt x="0" y="718"/>
                </a:moveTo>
                <a:lnTo>
                  <a:pt x="0" y="641"/>
                </a:lnTo>
                <a:lnTo>
                  <a:pt x="19" y="641"/>
                </a:lnTo>
                <a:lnTo>
                  <a:pt x="19" y="718"/>
                </a:lnTo>
                <a:lnTo>
                  <a:pt x="0" y="718"/>
                </a:lnTo>
                <a:moveTo>
                  <a:pt x="0" y="584"/>
                </a:moveTo>
                <a:lnTo>
                  <a:pt x="0" y="507"/>
                </a:lnTo>
                <a:lnTo>
                  <a:pt x="19" y="507"/>
                </a:lnTo>
                <a:lnTo>
                  <a:pt x="19" y="584"/>
                </a:lnTo>
                <a:lnTo>
                  <a:pt x="0" y="584"/>
                </a:lnTo>
                <a:moveTo>
                  <a:pt x="0" y="450"/>
                </a:moveTo>
                <a:lnTo>
                  <a:pt x="0" y="373"/>
                </a:lnTo>
                <a:lnTo>
                  <a:pt x="19" y="373"/>
                </a:lnTo>
                <a:lnTo>
                  <a:pt x="19" y="450"/>
                </a:lnTo>
                <a:lnTo>
                  <a:pt x="0" y="450"/>
                </a:lnTo>
                <a:moveTo>
                  <a:pt x="0" y="316"/>
                </a:moveTo>
                <a:lnTo>
                  <a:pt x="0" y="239"/>
                </a:lnTo>
                <a:lnTo>
                  <a:pt x="19" y="239"/>
                </a:lnTo>
                <a:lnTo>
                  <a:pt x="19" y="316"/>
                </a:lnTo>
                <a:lnTo>
                  <a:pt x="0" y="316"/>
                </a:lnTo>
                <a:moveTo>
                  <a:pt x="0" y="182"/>
                </a:moveTo>
                <a:lnTo>
                  <a:pt x="0" y="106"/>
                </a:lnTo>
                <a:lnTo>
                  <a:pt x="19" y="106"/>
                </a:lnTo>
                <a:lnTo>
                  <a:pt x="19" y="182"/>
                </a:lnTo>
                <a:lnTo>
                  <a:pt x="0" y="182"/>
                </a:lnTo>
                <a:moveTo>
                  <a:pt x="0" y="48"/>
                </a:moveTo>
                <a:lnTo>
                  <a:pt x="0" y="0"/>
                </a:lnTo>
                <a:lnTo>
                  <a:pt x="86" y="0"/>
                </a:lnTo>
                <a:lnTo>
                  <a:pt x="86" y="19"/>
                </a:lnTo>
                <a:lnTo>
                  <a:pt x="19" y="19"/>
                </a:lnTo>
                <a:lnTo>
                  <a:pt x="19" y="48"/>
                </a:lnTo>
                <a:lnTo>
                  <a:pt x="0" y="48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1563560" y="3894840"/>
            <a:ext cx="15696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40" b="1" u="none" strike="noStrike">
                <a:solidFill>
                  <a:srgbClr val="92400E"/>
                </a:solidFill>
                <a:effectLst/>
                <a:uFillTx/>
                <a:latin typeface=".SFNS"/>
                <a:ea typeface=".SFNS"/>
              </a:rPr>
              <a:t>TBD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0722240" y="4602240"/>
            <a:ext cx="6033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60" b="1" u="none" strike="noStrike">
                <a:solidFill>
                  <a:srgbClr val="6B7280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model-level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0989000" y="3423960"/>
            <a:ext cx="14040" cy="461880"/>
          </a:xfrm>
          <a:custGeom>
            <a:avLst/>
            <a:gdLst/>
            <a:ahLst/>
            <a:rect l="0" t="0" r="r" b="b"/>
            <a:pathLst>
              <a:path w="39" h="1283">
                <a:moveTo>
                  <a:pt x="39" y="0"/>
                </a:moveTo>
                <a:lnTo>
                  <a:pt x="39" y="77"/>
                </a:lnTo>
                <a:lnTo>
                  <a:pt x="0" y="77"/>
                </a:lnTo>
                <a:lnTo>
                  <a:pt x="0" y="0"/>
                </a:lnTo>
                <a:lnTo>
                  <a:pt x="39" y="0"/>
                </a:lnTo>
                <a:moveTo>
                  <a:pt x="39" y="135"/>
                </a:moveTo>
                <a:lnTo>
                  <a:pt x="39" y="212"/>
                </a:lnTo>
                <a:lnTo>
                  <a:pt x="0" y="212"/>
                </a:lnTo>
                <a:lnTo>
                  <a:pt x="0" y="135"/>
                </a:lnTo>
                <a:lnTo>
                  <a:pt x="39" y="135"/>
                </a:lnTo>
                <a:moveTo>
                  <a:pt x="39" y="269"/>
                </a:moveTo>
                <a:lnTo>
                  <a:pt x="39" y="346"/>
                </a:lnTo>
                <a:lnTo>
                  <a:pt x="0" y="346"/>
                </a:lnTo>
                <a:lnTo>
                  <a:pt x="0" y="269"/>
                </a:lnTo>
                <a:lnTo>
                  <a:pt x="39" y="269"/>
                </a:lnTo>
                <a:moveTo>
                  <a:pt x="39" y="403"/>
                </a:moveTo>
                <a:lnTo>
                  <a:pt x="39" y="480"/>
                </a:lnTo>
                <a:lnTo>
                  <a:pt x="0" y="480"/>
                </a:lnTo>
                <a:lnTo>
                  <a:pt x="0" y="403"/>
                </a:lnTo>
                <a:lnTo>
                  <a:pt x="39" y="403"/>
                </a:lnTo>
                <a:moveTo>
                  <a:pt x="39" y="537"/>
                </a:moveTo>
                <a:lnTo>
                  <a:pt x="39" y="614"/>
                </a:lnTo>
                <a:lnTo>
                  <a:pt x="0" y="614"/>
                </a:lnTo>
                <a:lnTo>
                  <a:pt x="0" y="537"/>
                </a:lnTo>
                <a:lnTo>
                  <a:pt x="39" y="537"/>
                </a:lnTo>
                <a:moveTo>
                  <a:pt x="39" y="671"/>
                </a:moveTo>
                <a:lnTo>
                  <a:pt x="39" y="748"/>
                </a:lnTo>
                <a:lnTo>
                  <a:pt x="0" y="748"/>
                </a:lnTo>
                <a:lnTo>
                  <a:pt x="0" y="671"/>
                </a:lnTo>
                <a:lnTo>
                  <a:pt x="39" y="671"/>
                </a:lnTo>
                <a:moveTo>
                  <a:pt x="39" y="805"/>
                </a:moveTo>
                <a:lnTo>
                  <a:pt x="39" y="881"/>
                </a:lnTo>
                <a:lnTo>
                  <a:pt x="0" y="881"/>
                </a:lnTo>
                <a:lnTo>
                  <a:pt x="0" y="805"/>
                </a:lnTo>
                <a:lnTo>
                  <a:pt x="39" y="805"/>
                </a:lnTo>
                <a:moveTo>
                  <a:pt x="39" y="939"/>
                </a:moveTo>
                <a:lnTo>
                  <a:pt x="39" y="1015"/>
                </a:lnTo>
                <a:lnTo>
                  <a:pt x="0" y="1015"/>
                </a:lnTo>
                <a:lnTo>
                  <a:pt x="0" y="939"/>
                </a:lnTo>
                <a:lnTo>
                  <a:pt x="39" y="939"/>
                </a:lnTo>
                <a:moveTo>
                  <a:pt x="39" y="1073"/>
                </a:moveTo>
                <a:lnTo>
                  <a:pt x="39" y="1149"/>
                </a:lnTo>
                <a:lnTo>
                  <a:pt x="0" y="1149"/>
                </a:lnTo>
                <a:lnTo>
                  <a:pt x="0" y="1073"/>
                </a:lnTo>
                <a:lnTo>
                  <a:pt x="39" y="1073"/>
                </a:lnTo>
                <a:moveTo>
                  <a:pt x="39" y="1207"/>
                </a:moveTo>
                <a:lnTo>
                  <a:pt x="39" y="1283"/>
                </a:lnTo>
                <a:lnTo>
                  <a:pt x="0" y="1283"/>
                </a:lnTo>
                <a:lnTo>
                  <a:pt x="0" y="1207"/>
                </a:lnTo>
                <a:lnTo>
                  <a:pt x="39" y="1207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0961280" y="3844440"/>
            <a:ext cx="69120" cy="69120"/>
          </a:xfrm>
          <a:custGeom>
            <a:avLst/>
            <a:gdLst/>
            <a:ahLst/>
            <a:rect l="0" t="0" r="r" b="b"/>
            <a:pathLst>
              <a:path w="192" h="192">
                <a:moveTo>
                  <a:pt x="192" y="0"/>
                </a:moveTo>
                <a:lnTo>
                  <a:pt x="0" y="0"/>
                </a:lnTo>
                <a:lnTo>
                  <a:pt x="97" y="192"/>
                </a:lnTo>
                <a:lnTo>
                  <a:pt x="192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0989000" y="4319640"/>
            <a:ext cx="14040" cy="207000"/>
          </a:xfrm>
          <a:custGeom>
            <a:avLst/>
            <a:gdLst/>
            <a:ahLst/>
            <a:rect l="0" t="0" r="r" b="b"/>
            <a:pathLst>
              <a:path w="39" h="575">
                <a:moveTo>
                  <a:pt x="39" y="0"/>
                </a:moveTo>
                <a:lnTo>
                  <a:pt x="39" y="76"/>
                </a:lnTo>
                <a:lnTo>
                  <a:pt x="0" y="76"/>
                </a:lnTo>
                <a:lnTo>
                  <a:pt x="0" y="0"/>
                </a:lnTo>
                <a:lnTo>
                  <a:pt x="39" y="0"/>
                </a:lnTo>
                <a:moveTo>
                  <a:pt x="39" y="134"/>
                </a:moveTo>
                <a:lnTo>
                  <a:pt x="39" y="210"/>
                </a:lnTo>
                <a:lnTo>
                  <a:pt x="0" y="210"/>
                </a:lnTo>
                <a:lnTo>
                  <a:pt x="0" y="134"/>
                </a:lnTo>
                <a:lnTo>
                  <a:pt x="39" y="134"/>
                </a:lnTo>
                <a:moveTo>
                  <a:pt x="39" y="268"/>
                </a:moveTo>
                <a:lnTo>
                  <a:pt x="39" y="345"/>
                </a:lnTo>
                <a:lnTo>
                  <a:pt x="0" y="345"/>
                </a:lnTo>
                <a:lnTo>
                  <a:pt x="0" y="268"/>
                </a:lnTo>
                <a:lnTo>
                  <a:pt x="39" y="268"/>
                </a:lnTo>
                <a:moveTo>
                  <a:pt x="39" y="403"/>
                </a:moveTo>
                <a:lnTo>
                  <a:pt x="39" y="479"/>
                </a:lnTo>
                <a:lnTo>
                  <a:pt x="0" y="479"/>
                </a:lnTo>
                <a:lnTo>
                  <a:pt x="0" y="403"/>
                </a:lnTo>
                <a:lnTo>
                  <a:pt x="39" y="403"/>
                </a:lnTo>
                <a:moveTo>
                  <a:pt x="39" y="537"/>
                </a:moveTo>
                <a:lnTo>
                  <a:pt x="39" y="575"/>
                </a:lnTo>
                <a:lnTo>
                  <a:pt x="0" y="575"/>
                </a:lnTo>
                <a:lnTo>
                  <a:pt x="0" y="537"/>
                </a:lnTo>
                <a:lnTo>
                  <a:pt x="39" y="537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0961280" y="4464360"/>
            <a:ext cx="69120" cy="69120"/>
          </a:xfrm>
          <a:custGeom>
            <a:avLst/>
            <a:gdLst/>
            <a:ahLst/>
            <a:rect l="0" t="0" r="r" b="b"/>
            <a:pathLst>
              <a:path w="192" h="192">
                <a:moveTo>
                  <a:pt x="0" y="0"/>
                </a:moveTo>
                <a:lnTo>
                  <a:pt x="97" y="192"/>
                </a:lnTo>
                <a:lnTo>
                  <a:pt x="19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135760" y="5063400"/>
            <a:ext cx="110520" cy="110880"/>
          </a:xfrm>
          <a:custGeom>
            <a:avLst/>
            <a:gdLst/>
            <a:ahLst/>
            <a:rect l="0" t="0" r="r" b="b"/>
            <a:pathLst>
              <a:path w="307" h="308">
                <a:moveTo>
                  <a:pt x="57" y="0"/>
                </a:moveTo>
                <a:lnTo>
                  <a:pt x="249" y="0"/>
                </a:lnTo>
                <a:cubicBezTo>
                  <a:pt x="256" y="0"/>
                  <a:pt x="264" y="2"/>
                  <a:pt x="272" y="5"/>
                </a:cubicBezTo>
                <a:cubicBezTo>
                  <a:pt x="279" y="8"/>
                  <a:pt x="285" y="12"/>
                  <a:pt x="290" y="17"/>
                </a:cubicBezTo>
                <a:cubicBezTo>
                  <a:pt x="296" y="23"/>
                  <a:pt x="300" y="29"/>
                  <a:pt x="303" y="36"/>
                </a:cubicBezTo>
                <a:cubicBezTo>
                  <a:pt x="306" y="43"/>
                  <a:pt x="307" y="50"/>
                  <a:pt x="307" y="58"/>
                </a:cubicBezTo>
                <a:lnTo>
                  <a:pt x="307" y="250"/>
                </a:lnTo>
                <a:cubicBezTo>
                  <a:pt x="307" y="258"/>
                  <a:pt x="306" y="265"/>
                  <a:pt x="303" y="272"/>
                </a:cubicBezTo>
                <a:cubicBezTo>
                  <a:pt x="300" y="279"/>
                  <a:pt x="296" y="285"/>
                  <a:pt x="290" y="291"/>
                </a:cubicBezTo>
                <a:cubicBezTo>
                  <a:pt x="285" y="296"/>
                  <a:pt x="279" y="300"/>
                  <a:pt x="272" y="303"/>
                </a:cubicBezTo>
                <a:cubicBezTo>
                  <a:pt x="264" y="306"/>
                  <a:pt x="256" y="308"/>
                  <a:pt x="249" y="308"/>
                </a:cubicBezTo>
                <a:lnTo>
                  <a:pt x="57" y="308"/>
                </a:lnTo>
                <a:cubicBezTo>
                  <a:pt x="50" y="308"/>
                  <a:pt x="42" y="306"/>
                  <a:pt x="35" y="303"/>
                </a:cubicBezTo>
                <a:cubicBezTo>
                  <a:pt x="28" y="300"/>
                  <a:pt x="22" y="296"/>
                  <a:pt x="17" y="291"/>
                </a:cubicBezTo>
                <a:cubicBezTo>
                  <a:pt x="11" y="285"/>
                  <a:pt x="7" y="279"/>
                  <a:pt x="4" y="272"/>
                </a:cubicBezTo>
                <a:cubicBezTo>
                  <a:pt x="1" y="265"/>
                  <a:pt x="0" y="258"/>
                  <a:pt x="0" y="250"/>
                </a:cubicBezTo>
                <a:lnTo>
                  <a:pt x="0" y="58"/>
                </a:ln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2" y="2"/>
                  <a:pt x="50" y="0"/>
                  <a:pt x="57" y="0"/>
                </a:cubicBez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184000" y="5036040"/>
            <a:ext cx="83160" cy="82800"/>
          </a:xfrm>
          <a:custGeom>
            <a:avLst/>
            <a:gdLst/>
            <a:ahLst/>
            <a:rect l="0" t="0" r="r" b="b"/>
            <a:pathLst>
              <a:path w="231" h="230">
                <a:moveTo>
                  <a:pt x="231" y="116"/>
                </a:moveTo>
                <a:cubicBezTo>
                  <a:pt x="231" y="131"/>
                  <a:pt x="228" y="146"/>
                  <a:pt x="222" y="160"/>
                </a:cubicBezTo>
                <a:cubicBezTo>
                  <a:pt x="216" y="174"/>
                  <a:pt x="208" y="186"/>
                  <a:pt x="197" y="197"/>
                </a:cubicBezTo>
                <a:cubicBezTo>
                  <a:pt x="186" y="208"/>
                  <a:pt x="174" y="216"/>
                  <a:pt x="160" y="222"/>
                </a:cubicBezTo>
                <a:cubicBezTo>
                  <a:pt x="146" y="228"/>
                  <a:pt x="130" y="230"/>
                  <a:pt x="115" y="230"/>
                </a:cubicBezTo>
                <a:cubicBezTo>
                  <a:pt x="99" y="230"/>
                  <a:pt x="85" y="228"/>
                  <a:pt x="71" y="222"/>
                </a:cubicBezTo>
                <a:cubicBezTo>
                  <a:pt x="57" y="216"/>
                  <a:pt x="44" y="208"/>
                  <a:pt x="33" y="197"/>
                </a:cubicBezTo>
                <a:cubicBezTo>
                  <a:pt x="23" y="186"/>
                  <a:pt x="14" y="174"/>
                  <a:pt x="8" y="160"/>
                </a:cubicBezTo>
                <a:cubicBezTo>
                  <a:pt x="3" y="146"/>
                  <a:pt x="0" y="131"/>
                  <a:pt x="0" y="116"/>
                </a:cubicBezTo>
                <a:cubicBezTo>
                  <a:pt x="0" y="100"/>
                  <a:pt x="3" y="85"/>
                  <a:pt x="8" y="71"/>
                </a:cubicBezTo>
                <a:cubicBezTo>
                  <a:pt x="14" y="57"/>
                  <a:pt x="23" y="44"/>
                  <a:pt x="33" y="33"/>
                </a:cubicBezTo>
                <a:cubicBezTo>
                  <a:pt x="44" y="23"/>
                  <a:pt x="57" y="14"/>
                  <a:pt x="71" y="9"/>
                </a:cubicBezTo>
                <a:cubicBezTo>
                  <a:pt x="85" y="3"/>
                  <a:pt x="99" y="0"/>
                  <a:pt x="115" y="0"/>
                </a:cubicBezTo>
                <a:cubicBezTo>
                  <a:pt x="130" y="0"/>
                  <a:pt x="146" y="3"/>
                  <a:pt x="160" y="9"/>
                </a:cubicBezTo>
                <a:cubicBezTo>
                  <a:pt x="174" y="14"/>
                  <a:pt x="186" y="23"/>
                  <a:pt x="197" y="33"/>
                </a:cubicBezTo>
                <a:cubicBezTo>
                  <a:pt x="208" y="44"/>
                  <a:pt x="216" y="57"/>
                  <a:pt x="222" y="71"/>
                </a:cubicBezTo>
                <a:cubicBezTo>
                  <a:pt x="228" y="85"/>
                  <a:pt x="231" y="100"/>
                  <a:pt x="231" y="116"/>
                </a:cubicBezTo>
                <a:close/>
              </a:path>
            </a:pathLst>
          </a:custGeom>
          <a:solidFill>
            <a:srgbClr val="1453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184000" y="5036040"/>
            <a:ext cx="83160" cy="82800"/>
          </a:xfrm>
          <a:custGeom>
            <a:avLst/>
            <a:gdLst/>
            <a:ahLst/>
            <a:rect l="0" t="0" r="r" b="b"/>
            <a:pathLst>
              <a:path w="231" h="230">
                <a:moveTo>
                  <a:pt x="231" y="116"/>
                </a:moveTo>
                <a:cubicBezTo>
                  <a:pt x="231" y="131"/>
                  <a:pt x="228" y="146"/>
                  <a:pt x="222" y="160"/>
                </a:cubicBezTo>
                <a:cubicBezTo>
                  <a:pt x="216" y="174"/>
                  <a:pt x="208" y="186"/>
                  <a:pt x="197" y="197"/>
                </a:cubicBezTo>
                <a:cubicBezTo>
                  <a:pt x="186" y="208"/>
                  <a:pt x="174" y="216"/>
                  <a:pt x="160" y="222"/>
                </a:cubicBezTo>
                <a:cubicBezTo>
                  <a:pt x="146" y="228"/>
                  <a:pt x="130" y="230"/>
                  <a:pt x="115" y="230"/>
                </a:cubicBezTo>
                <a:cubicBezTo>
                  <a:pt x="99" y="230"/>
                  <a:pt x="85" y="228"/>
                  <a:pt x="71" y="222"/>
                </a:cubicBezTo>
                <a:cubicBezTo>
                  <a:pt x="57" y="216"/>
                  <a:pt x="44" y="208"/>
                  <a:pt x="33" y="197"/>
                </a:cubicBezTo>
                <a:cubicBezTo>
                  <a:pt x="23" y="186"/>
                  <a:pt x="14" y="174"/>
                  <a:pt x="8" y="160"/>
                </a:cubicBezTo>
                <a:cubicBezTo>
                  <a:pt x="3" y="146"/>
                  <a:pt x="0" y="131"/>
                  <a:pt x="0" y="116"/>
                </a:cubicBezTo>
                <a:cubicBezTo>
                  <a:pt x="0" y="100"/>
                  <a:pt x="3" y="85"/>
                  <a:pt x="8" y="71"/>
                </a:cubicBezTo>
                <a:cubicBezTo>
                  <a:pt x="14" y="57"/>
                  <a:pt x="23" y="44"/>
                  <a:pt x="33" y="33"/>
                </a:cubicBezTo>
                <a:cubicBezTo>
                  <a:pt x="44" y="23"/>
                  <a:pt x="57" y="14"/>
                  <a:pt x="71" y="9"/>
                </a:cubicBezTo>
                <a:cubicBezTo>
                  <a:pt x="85" y="3"/>
                  <a:pt x="99" y="0"/>
                  <a:pt x="115" y="0"/>
                </a:cubicBezTo>
                <a:cubicBezTo>
                  <a:pt x="130" y="0"/>
                  <a:pt x="146" y="3"/>
                  <a:pt x="160" y="9"/>
                </a:cubicBezTo>
                <a:cubicBezTo>
                  <a:pt x="174" y="14"/>
                  <a:pt x="186" y="23"/>
                  <a:pt x="197" y="33"/>
                </a:cubicBezTo>
                <a:cubicBezTo>
                  <a:pt x="208" y="44"/>
                  <a:pt x="216" y="57"/>
                  <a:pt x="222" y="71"/>
                </a:cubicBezTo>
                <a:cubicBezTo>
                  <a:pt x="228" y="85"/>
                  <a:pt x="231" y="100"/>
                  <a:pt x="231" y="116"/>
                </a:cubicBezTo>
                <a:close/>
              </a:path>
            </a:pathLst>
          </a:custGeom>
          <a:noFill/>
          <a:ln w="9360">
            <a:solidFill>
              <a:srgbClr val="FFFFFF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204520" y="5056560"/>
            <a:ext cx="41760" cy="34920"/>
          </a:xfrm>
          <a:custGeom>
            <a:avLst/>
            <a:gdLst/>
            <a:ahLst/>
            <a:rect l="0" t="0" r="r" b="b"/>
            <a:pathLst>
              <a:path fill="none" w="116" h="97">
                <a:moveTo>
                  <a:pt x="0" y="58"/>
                </a:moveTo>
                <a:lnTo>
                  <a:pt x="39" y="97"/>
                </a:lnTo>
                <a:lnTo>
                  <a:pt x="116" y="0"/>
                </a:lnTo>
              </a:path>
            </a:pathLst>
          </a:custGeom>
          <a:ln cap="rnd" w="10080">
            <a:solidFill>
              <a:srgbClr val="FFFFFF"/>
            </a:solidFill>
            <a:round/>
          </a:ln>
        </p:spPr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0590480" y="4748040"/>
            <a:ext cx="74880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9CA3AF"/>
                </a:solidFill>
                <a:effectLst/>
                <a:uFillTx/>
                <a:latin typeface=".SFNS"/>
                <a:ea typeface=".SFNS"/>
              </a:rPr>
              <a:t>group stats + figures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5687280" y="5063400"/>
            <a:ext cx="110520" cy="110880"/>
          </a:xfrm>
          <a:custGeom>
            <a:avLst/>
            <a:gdLst/>
            <a:ahLst/>
            <a:rect l="0" t="0" r="r" b="b"/>
            <a:pathLst>
              <a:path w="307" h="308">
                <a:moveTo>
                  <a:pt x="57" y="0"/>
                </a:moveTo>
                <a:lnTo>
                  <a:pt x="249" y="0"/>
                </a:lnTo>
                <a:cubicBezTo>
                  <a:pt x="256" y="0"/>
                  <a:pt x="264" y="2"/>
                  <a:pt x="272" y="5"/>
                </a:cubicBezTo>
                <a:cubicBezTo>
                  <a:pt x="279" y="8"/>
                  <a:pt x="285" y="12"/>
                  <a:pt x="290" y="17"/>
                </a:cubicBezTo>
                <a:cubicBezTo>
                  <a:pt x="296" y="23"/>
                  <a:pt x="300" y="29"/>
                  <a:pt x="303" y="36"/>
                </a:cubicBezTo>
                <a:cubicBezTo>
                  <a:pt x="306" y="43"/>
                  <a:pt x="307" y="50"/>
                  <a:pt x="307" y="58"/>
                </a:cubicBezTo>
                <a:lnTo>
                  <a:pt x="307" y="250"/>
                </a:lnTo>
                <a:cubicBezTo>
                  <a:pt x="307" y="258"/>
                  <a:pt x="306" y="265"/>
                  <a:pt x="303" y="272"/>
                </a:cubicBezTo>
                <a:cubicBezTo>
                  <a:pt x="300" y="279"/>
                  <a:pt x="296" y="285"/>
                  <a:pt x="290" y="291"/>
                </a:cubicBezTo>
                <a:cubicBezTo>
                  <a:pt x="285" y="296"/>
                  <a:pt x="279" y="300"/>
                  <a:pt x="272" y="303"/>
                </a:cubicBezTo>
                <a:cubicBezTo>
                  <a:pt x="264" y="306"/>
                  <a:pt x="256" y="308"/>
                  <a:pt x="249" y="308"/>
                </a:cubicBezTo>
                <a:lnTo>
                  <a:pt x="57" y="308"/>
                </a:lnTo>
                <a:cubicBezTo>
                  <a:pt x="50" y="308"/>
                  <a:pt x="42" y="306"/>
                  <a:pt x="35" y="303"/>
                </a:cubicBezTo>
                <a:cubicBezTo>
                  <a:pt x="28" y="300"/>
                  <a:pt x="22" y="296"/>
                  <a:pt x="17" y="291"/>
                </a:cubicBezTo>
                <a:cubicBezTo>
                  <a:pt x="11" y="285"/>
                  <a:pt x="7" y="279"/>
                  <a:pt x="4" y="272"/>
                </a:cubicBezTo>
                <a:cubicBezTo>
                  <a:pt x="1" y="265"/>
                  <a:pt x="0" y="258"/>
                  <a:pt x="0" y="250"/>
                </a:cubicBezTo>
                <a:lnTo>
                  <a:pt x="0" y="58"/>
                </a:ln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2" y="2"/>
                  <a:pt x="50" y="0"/>
                  <a:pt x="57" y="0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5682960" y="5059440"/>
            <a:ext cx="119160" cy="118800"/>
          </a:xfrm>
          <a:custGeom>
            <a:avLst/>
            <a:gdLst/>
            <a:ahLst/>
            <a:rect l="0" t="0" r="r" b="b"/>
            <a:pathLst>
              <a:path w="331" h="330">
                <a:moveTo>
                  <a:pt x="165" y="0"/>
                </a:moveTo>
                <a:lnTo>
                  <a:pt x="223" y="0"/>
                </a:lnTo>
                <a:lnTo>
                  <a:pt x="223" y="23"/>
                </a:lnTo>
                <a:lnTo>
                  <a:pt x="165" y="23"/>
                </a:lnTo>
                <a:lnTo>
                  <a:pt x="165" y="0"/>
                </a:lnTo>
                <a:moveTo>
                  <a:pt x="262" y="0"/>
                </a:moveTo>
                <a:cubicBezTo>
                  <a:pt x="288" y="0"/>
                  <a:pt x="308" y="11"/>
                  <a:pt x="321" y="34"/>
                </a:cubicBezTo>
                <a:lnTo>
                  <a:pt x="301" y="45"/>
                </a:lnTo>
                <a:cubicBezTo>
                  <a:pt x="292" y="30"/>
                  <a:pt x="279" y="23"/>
                  <a:pt x="262" y="23"/>
                </a:cubicBezTo>
                <a:lnTo>
                  <a:pt x="262" y="0"/>
                </a:lnTo>
                <a:moveTo>
                  <a:pt x="331" y="77"/>
                </a:moveTo>
                <a:lnTo>
                  <a:pt x="331" y="134"/>
                </a:lnTo>
                <a:lnTo>
                  <a:pt x="308" y="134"/>
                </a:lnTo>
                <a:lnTo>
                  <a:pt x="308" y="77"/>
                </a:lnTo>
                <a:lnTo>
                  <a:pt x="331" y="77"/>
                </a:lnTo>
                <a:moveTo>
                  <a:pt x="331" y="172"/>
                </a:moveTo>
                <a:lnTo>
                  <a:pt x="331" y="230"/>
                </a:lnTo>
                <a:lnTo>
                  <a:pt x="308" y="230"/>
                </a:lnTo>
                <a:lnTo>
                  <a:pt x="308" y="172"/>
                </a:lnTo>
                <a:lnTo>
                  <a:pt x="331" y="172"/>
                </a:lnTo>
                <a:moveTo>
                  <a:pt x="330" y="270"/>
                </a:moveTo>
                <a:cubicBezTo>
                  <a:pt x="327" y="296"/>
                  <a:pt x="313" y="315"/>
                  <a:pt x="288" y="325"/>
                </a:cubicBezTo>
                <a:lnTo>
                  <a:pt x="279" y="304"/>
                </a:lnTo>
                <a:cubicBezTo>
                  <a:pt x="296" y="297"/>
                  <a:pt x="305" y="285"/>
                  <a:pt x="307" y="267"/>
                </a:cubicBezTo>
                <a:lnTo>
                  <a:pt x="330" y="270"/>
                </a:lnTo>
                <a:moveTo>
                  <a:pt x="246" y="330"/>
                </a:moveTo>
                <a:lnTo>
                  <a:pt x="189" y="330"/>
                </a:lnTo>
                <a:lnTo>
                  <a:pt x="189" y="307"/>
                </a:lnTo>
                <a:lnTo>
                  <a:pt x="246" y="307"/>
                </a:lnTo>
                <a:lnTo>
                  <a:pt x="246" y="330"/>
                </a:lnTo>
                <a:moveTo>
                  <a:pt x="149" y="330"/>
                </a:moveTo>
                <a:lnTo>
                  <a:pt x="92" y="330"/>
                </a:lnTo>
                <a:lnTo>
                  <a:pt x="92" y="307"/>
                </a:lnTo>
                <a:lnTo>
                  <a:pt x="149" y="307"/>
                </a:lnTo>
                <a:lnTo>
                  <a:pt x="149" y="330"/>
                </a:lnTo>
                <a:moveTo>
                  <a:pt x="51" y="328"/>
                </a:moveTo>
                <a:cubicBezTo>
                  <a:pt x="25" y="321"/>
                  <a:pt x="9" y="304"/>
                  <a:pt x="2" y="278"/>
                </a:cubicBezTo>
                <a:lnTo>
                  <a:pt x="25" y="273"/>
                </a:lnTo>
                <a:cubicBezTo>
                  <a:pt x="29" y="290"/>
                  <a:pt x="40" y="301"/>
                  <a:pt x="57" y="306"/>
                </a:cubicBezTo>
                <a:lnTo>
                  <a:pt x="51" y="328"/>
                </a:lnTo>
                <a:moveTo>
                  <a:pt x="0" y="237"/>
                </a:moveTo>
                <a:lnTo>
                  <a:pt x="0" y="179"/>
                </a:lnTo>
                <a:lnTo>
                  <a:pt x="23" y="179"/>
                </a:lnTo>
                <a:lnTo>
                  <a:pt x="23" y="237"/>
                </a:lnTo>
                <a:lnTo>
                  <a:pt x="0" y="237"/>
                </a:lnTo>
                <a:moveTo>
                  <a:pt x="0" y="141"/>
                </a:moveTo>
                <a:lnTo>
                  <a:pt x="0" y="84"/>
                </a:lnTo>
                <a:lnTo>
                  <a:pt x="23" y="84"/>
                </a:lnTo>
                <a:lnTo>
                  <a:pt x="23" y="141"/>
                </a:lnTo>
                <a:lnTo>
                  <a:pt x="0" y="141"/>
                </a:lnTo>
                <a:moveTo>
                  <a:pt x="6" y="42"/>
                </a:moveTo>
                <a:cubicBezTo>
                  <a:pt x="16" y="17"/>
                  <a:pt x="35" y="3"/>
                  <a:pt x="61" y="0"/>
                </a:cubicBezTo>
                <a:lnTo>
                  <a:pt x="64" y="23"/>
                </a:lnTo>
                <a:cubicBezTo>
                  <a:pt x="46" y="25"/>
                  <a:pt x="34" y="34"/>
                  <a:pt x="27" y="51"/>
                </a:cubicBezTo>
                <a:lnTo>
                  <a:pt x="6" y="42"/>
                </a:lnTo>
                <a:moveTo>
                  <a:pt x="69" y="0"/>
                </a:moveTo>
                <a:lnTo>
                  <a:pt x="127" y="0"/>
                </a:lnTo>
                <a:lnTo>
                  <a:pt x="127" y="23"/>
                </a:lnTo>
                <a:lnTo>
                  <a:pt x="69" y="23"/>
                </a:lnTo>
                <a:lnTo>
                  <a:pt x="69" y="0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301000" y="5065560"/>
            <a:ext cx="170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374151"/>
                </a:solidFill>
                <a:effectLst/>
                <a:uFillTx/>
                <a:latin typeface=".SFNS"/>
                <a:ea typeface=".SFNS"/>
              </a:rPr>
              <a:t>done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514560" y="5063400"/>
            <a:ext cx="110520" cy="110880"/>
          </a:xfrm>
          <a:custGeom>
            <a:avLst/>
            <a:gdLst/>
            <a:ahLst/>
            <a:rect l="0" t="0" r="r" b="b"/>
            <a:pathLst>
              <a:path w="307" h="308">
                <a:moveTo>
                  <a:pt x="0" y="0"/>
                </a:moveTo>
                <a:lnTo>
                  <a:pt x="307" y="0"/>
                </a:lnTo>
                <a:lnTo>
                  <a:pt x="307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6514560" y="5063400"/>
            <a:ext cx="110520" cy="110880"/>
          </a:xfrm>
          <a:custGeom>
            <a:avLst/>
            <a:gdLst/>
            <a:ahLst/>
            <a:rect l="0" t="0" r="r" b="b"/>
            <a:pathLst>
              <a:path w="307" h="308">
                <a:moveTo>
                  <a:pt x="0" y="0"/>
                </a:moveTo>
                <a:lnTo>
                  <a:pt x="307" y="0"/>
                </a:lnTo>
                <a:lnTo>
                  <a:pt x="307" y="308"/>
                </a:lnTo>
                <a:lnTo>
                  <a:pt x="0" y="308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6B7280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852880" y="5065560"/>
            <a:ext cx="415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374151"/>
                </a:solidFill>
                <a:effectLst/>
                <a:uFillTx/>
                <a:latin typeface=".SFNS"/>
                <a:ea typeface=".SFNS"/>
              </a:rPr>
              <a:t>to be written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85440" y="1657080"/>
            <a:ext cx="3258000" cy="29160"/>
          </a:xfrm>
          <a:custGeom>
            <a:avLst/>
            <a:gdLst/>
            <a:ahLst/>
            <a:rect l="0" t="0" r="r" b="b"/>
            <a:pathLst>
              <a:path w="9050" h="81">
                <a:moveTo>
                  <a:pt x="0" y="0"/>
                </a:moveTo>
                <a:lnTo>
                  <a:pt x="9050" y="0"/>
                </a:lnTo>
                <a:lnTo>
                  <a:pt x="9050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6680160" y="5065560"/>
            <a:ext cx="2674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374151"/>
                </a:solidFill>
                <a:effectLst/>
                <a:uFillTx/>
                <a:latin typeface=".SFNS"/>
                <a:ea typeface=".SFNS"/>
              </a:rPr>
              <a:t>data file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85800" y="1229400"/>
            <a:ext cx="3201120" cy="37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Status and next steps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733320" y="22287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4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4" y="125"/>
                  <a:pt x="26" y="120"/>
                  <a:pt x="20" y="114"/>
                </a:cubicBezTo>
                <a:cubicBezTo>
                  <a:pt x="14" y="107"/>
                  <a:pt x="8" y="100"/>
                  <a:pt x="5" y="92"/>
                </a:cubicBezTo>
                <a:cubicBezTo>
                  <a:pt x="1" y="84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2"/>
                  <a:pt x="14" y="25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2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685800" y="1828440"/>
            <a:ext cx="454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0F766E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DONE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733320" y="253332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133" y="68"/>
                </a:moveTo>
                <a:cubicBezTo>
                  <a:pt x="133" y="76"/>
                  <a:pt x="131" y="85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1"/>
                  <a:pt x="100" y="125"/>
                  <a:pt x="92" y="129"/>
                </a:cubicBezTo>
                <a:cubicBezTo>
                  <a:pt x="84" y="132"/>
                  <a:pt x="76" y="134"/>
                  <a:pt x="67" y="134"/>
                </a:cubicBezTo>
                <a:cubicBezTo>
                  <a:pt x="58" y="134"/>
                  <a:pt x="50" y="132"/>
                  <a:pt x="42" y="129"/>
                </a:cubicBezTo>
                <a:cubicBezTo>
                  <a:pt x="34" y="125"/>
                  <a:pt x="26" y="121"/>
                  <a:pt x="20" y="114"/>
                </a:cubicBezTo>
                <a:cubicBezTo>
                  <a:pt x="14" y="108"/>
                  <a:pt x="8" y="101"/>
                  <a:pt x="5" y="93"/>
                </a:cubicBezTo>
                <a:cubicBezTo>
                  <a:pt x="1" y="85"/>
                  <a:pt x="0" y="76"/>
                  <a:pt x="0" y="68"/>
                </a:cubicBezTo>
                <a:cubicBezTo>
                  <a:pt x="0" y="59"/>
                  <a:pt x="1" y="50"/>
                  <a:pt x="5" y="42"/>
                </a:cubicBezTo>
                <a:cubicBezTo>
                  <a:pt x="8" y="34"/>
                  <a:pt x="14" y="27"/>
                  <a:pt x="20" y="20"/>
                </a:cubicBezTo>
                <a:cubicBezTo>
                  <a:pt x="26" y="14"/>
                  <a:pt x="34" y="9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9"/>
                  <a:pt x="108" y="14"/>
                  <a:pt x="114" y="20"/>
                </a:cubicBezTo>
                <a:cubicBezTo>
                  <a:pt x="120" y="27"/>
                  <a:pt x="125" y="34"/>
                  <a:pt x="128" y="42"/>
                </a:cubicBezTo>
                <a:cubicBezTo>
                  <a:pt x="131" y="50"/>
                  <a:pt x="133" y="59"/>
                  <a:pt x="133" y="68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895320" y="2122560"/>
            <a:ext cx="3062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Feature extraction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on 149 participants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895320" y="2427120"/>
            <a:ext cx="2855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Group comparison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on features: all 3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895320" y="2674800"/>
            <a:ext cx="2492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predicted directions significant (p &lt;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733320" y="33336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0"/>
                  <a:pt x="120" y="108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2"/>
                  <a:pt x="76" y="133"/>
                  <a:pt x="67" y="133"/>
                </a:cubicBezTo>
                <a:cubicBezTo>
                  <a:pt x="58" y="133"/>
                  <a:pt x="50" y="132"/>
                  <a:pt x="42" y="128"/>
                </a:cubicBezTo>
                <a:cubicBezTo>
                  <a:pt x="34" y="125"/>
                  <a:pt x="26" y="120"/>
                  <a:pt x="20" y="114"/>
                </a:cubicBezTo>
                <a:cubicBezTo>
                  <a:pt x="14" y="108"/>
                  <a:pt x="8" y="100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1"/>
                </a:cubicBezTo>
                <a:cubicBezTo>
                  <a:pt x="8" y="33"/>
                  <a:pt x="14" y="25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3"/>
                  <a:pt x="128" y="41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895320" y="2932200"/>
            <a:ext cx="458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0.001)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895320" y="3227400"/>
            <a:ext cx="2675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Wilson-Cowan network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built and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733320" y="388584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133" y="67"/>
                </a:moveTo>
                <a:cubicBezTo>
                  <a:pt x="133" y="75"/>
                  <a:pt x="131" y="84"/>
                  <a:pt x="128" y="92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1"/>
                  <a:pt x="100" y="125"/>
                  <a:pt x="92" y="129"/>
                </a:cubicBezTo>
                <a:cubicBezTo>
                  <a:pt x="84" y="132"/>
                  <a:pt x="76" y="134"/>
                  <a:pt x="67" y="134"/>
                </a:cubicBezTo>
                <a:cubicBezTo>
                  <a:pt x="58" y="134"/>
                  <a:pt x="50" y="132"/>
                  <a:pt x="42" y="129"/>
                </a:cubicBezTo>
                <a:cubicBezTo>
                  <a:pt x="34" y="125"/>
                  <a:pt x="26" y="121"/>
                  <a:pt x="20" y="114"/>
                </a:cubicBezTo>
                <a:cubicBezTo>
                  <a:pt x="14" y="108"/>
                  <a:pt x="8" y="101"/>
                  <a:pt x="5" y="92"/>
                </a:cubicBezTo>
                <a:cubicBezTo>
                  <a:pt x="1" y="84"/>
                  <a:pt x="0" y="75"/>
                  <a:pt x="0" y="67"/>
                </a:cubicBezTo>
                <a:cubicBezTo>
                  <a:pt x="0" y="58"/>
                  <a:pt x="1" y="49"/>
                  <a:pt x="5" y="41"/>
                </a:cubicBezTo>
                <a:cubicBezTo>
                  <a:pt x="8" y="33"/>
                  <a:pt x="14" y="26"/>
                  <a:pt x="20" y="20"/>
                </a:cubicBezTo>
                <a:cubicBezTo>
                  <a:pt x="26" y="14"/>
                  <a:pt x="34" y="9"/>
                  <a:pt x="42" y="6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6"/>
                </a:cubicBezTo>
                <a:cubicBezTo>
                  <a:pt x="100" y="9"/>
                  <a:pt x="108" y="14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8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895320" y="3800160"/>
            <a:ext cx="571680" cy="200520"/>
          </a:xfrm>
          <a:custGeom>
            <a:avLst/>
            <a:gdLst/>
            <a:ahLst/>
            <a:rect l="0" t="0" r="r" b="b"/>
            <a:pathLst>
              <a:path w="1588" h="557">
                <a:moveTo>
                  <a:pt x="0" y="47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509" y="0"/>
                </a:lnTo>
                <a:cubicBezTo>
                  <a:pt x="1519" y="0"/>
                  <a:pt x="1529" y="2"/>
                  <a:pt x="1539" y="6"/>
                </a:cubicBezTo>
                <a:cubicBezTo>
                  <a:pt x="1549" y="10"/>
                  <a:pt x="1557" y="16"/>
                  <a:pt x="1565" y="24"/>
                </a:cubicBezTo>
                <a:cubicBezTo>
                  <a:pt x="1572" y="31"/>
                  <a:pt x="1578" y="40"/>
                  <a:pt x="1582" y="49"/>
                </a:cubicBezTo>
                <a:cubicBezTo>
                  <a:pt x="1586" y="59"/>
                  <a:pt x="1588" y="69"/>
                  <a:pt x="1588" y="80"/>
                </a:cubicBezTo>
                <a:lnTo>
                  <a:pt x="1588" y="478"/>
                </a:lnTo>
                <a:cubicBezTo>
                  <a:pt x="1588" y="488"/>
                  <a:pt x="1586" y="498"/>
                  <a:pt x="1582" y="508"/>
                </a:cubicBezTo>
                <a:cubicBezTo>
                  <a:pt x="1578" y="518"/>
                  <a:pt x="1572" y="526"/>
                  <a:pt x="1565" y="534"/>
                </a:cubicBezTo>
                <a:cubicBezTo>
                  <a:pt x="1557" y="541"/>
                  <a:pt x="1549" y="547"/>
                  <a:pt x="1539" y="551"/>
                </a:cubicBezTo>
                <a:cubicBezTo>
                  <a:pt x="1529" y="555"/>
                  <a:pt x="1519" y="557"/>
                  <a:pt x="1509" y="557"/>
                </a:cubicBezTo>
                <a:lnTo>
                  <a:pt x="79" y="557"/>
                </a:lnTo>
                <a:cubicBezTo>
                  <a:pt x="68" y="557"/>
                  <a:pt x="58" y="555"/>
                  <a:pt x="49" y="551"/>
                </a:cubicBezTo>
                <a:cubicBezTo>
                  <a:pt x="39" y="547"/>
                  <a:pt x="30" y="541"/>
                  <a:pt x="23" y="534"/>
                </a:cubicBezTo>
                <a:cubicBezTo>
                  <a:pt x="15" y="526"/>
                  <a:pt x="10" y="518"/>
                  <a:pt x="6" y="508"/>
                </a:cubicBezTo>
                <a:cubicBezTo>
                  <a:pt x="2" y="498"/>
                  <a:pt x="0" y="488"/>
                  <a:pt x="0" y="478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895320" y="3475080"/>
            <a:ext cx="22953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validated (single-node and N=8)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952560" y="3811680"/>
            <a:ext cx="45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Menlo"/>
                <a:ea typeface="Menlo"/>
              </a:rPr>
              <a:t>τ_inh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467720" y="3779640"/>
            <a:ext cx="2369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 sweep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: lookup table built (11 →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895320" y="4027320"/>
            <a:ext cx="4942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32 ms)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733320" y="481932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133" y="68"/>
                </a:moveTo>
                <a:cubicBezTo>
                  <a:pt x="133" y="76"/>
                  <a:pt x="131" y="85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1"/>
                  <a:pt x="100" y="125"/>
                  <a:pt x="92" y="129"/>
                </a:cubicBezTo>
                <a:cubicBezTo>
                  <a:pt x="84" y="132"/>
                  <a:pt x="76" y="134"/>
                  <a:pt x="67" y="134"/>
                </a:cubicBezTo>
                <a:cubicBezTo>
                  <a:pt x="58" y="134"/>
                  <a:pt x="50" y="132"/>
                  <a:pt x="42" y="129"/>
                </a:cubicBezTo>
                <a:cubicBezTo>
                  <a:pt x="34" y="125"/>
                  <a:pt x="26" y="121"/>
                  <a:pt x="20" y="114"/>
                </a:cubicBezTo>
                <a:cubicBezTo>
                  <a:pt x="14" y="108"/>
                  <a:pt x="8" y="101"/>
                  <a:pt x="5" y="93"/>
                </a:cubicBezTo>
                <a:cubicBezTo>
                  <a:pt x="1" y="85"/>
                  <a:pt x="0" y="76"/>
                  <a:pt x="0" y="68"/>
                </a:cubicBezTo>
                <a:cubicBezTo>
                  <a:pt x="0" y="59"/>
                  <a:pt x="1" y="50"/>
                  <a:pt x="5" y="42"/>
                </a:cubicBezTo>
                <a:cubicBezTo>
                  <a:pt x="8" y="34"/>
                  <a:pt x="14" y="27"/>
                  <a:pt x="20" y="21"/>
                </a:cubicBezTo>
                <a:cubicBezTo>
                  <a:pt x="26" y="15"/>
                  <a:pt x="34" y="9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9"/>
                  <a:pt x="108" y="15"/>
                  <a:pt x="114" y="21"/>
                </a:cubicBezTo>
                <a:cubicBezTo>
                  <a:pt x="120" y="27"/>
                  <a:pt x="125" y="34"/>
                  <a:pt x="128" y="42"/>
                </a:cubicBezTo>
                <a:cubicBezTo>
                  <a:pt x="131" y="50"/>
                  <a:pt x="133" y="59"/>
                  <a:pt x="133" y="68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685800" y="4419360"/>
            <a:ext cx="931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0F766E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REMAINING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733320" y="51148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1"/>
                </a:cubicBezTo>
                <a:cubicBezTo>
                  <a:pt x="125" y="99"/>
                  <a:pt x="120" y="106"/>
                  <a:pt x="114" y="113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4" y="125"/>
                  <a:pt x="26" y="120"/>
                  <a:pt x="20" y="113"/>
                </a:cubicBezTo>
                <a:cubicBezTo>
                  <a:pt x="14" y="106"/>
                  <a:pt x="8" y="99"/>
                  <a:pt x="5" y="91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0"/>
                </a:cubicBezTo>
                <a:cubicBezTo>
                  <a:pt x="8" y="32"/>
                  <a:pt x="14" y="25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2"/>
                  <a:pt x="128" y="40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895320" y="4713120"/>
            <a:ext cx="29718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Per-subject fitting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via curve inversion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3295440" y="5028840"/>
            <a:ext cx="572040" cy="200520"/>
          </a:xfrm>
          <a:custGeom>
            <a:avLst/>
            <a:gdLst/>
            <a:ahLst/>
            <a:rect l="0" t="0" r="r" b="b"/>
            <a:pathLst>
              <a:path w="1589" h="557">
                <a:moveTo>
                  <a:pt x="0" y="47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lnTo>
                  <a:pt x="1509" y="0"/>
                </a:lnTo>
                <a:cubicBezTo>
                  <a:pt x="1520" y="0"/>
                  <a:pt x="1530" y="3"/>
                  <a:pt x="1540" y="7"/>
                </a:cubicBezTo>
                <a:cubicBezTo>
                  <a:pt x="1549" y="11"/>
                  <a:pt x="1558" y="16"/>
                  <a:pt x="1565" y="24"/>
                </a:cubicBezTo>
                <a:cubicBezTo>
                  <a:pt x="1573" y="31"/>
                  <a:pt x="1579" y="40"/>
                  <a:pt x="1583" y="49"/>
                </a:cubicBezTo>
                <a:cubicBezTo>
                  <a:pt x="1587" y="59"/>
                  <a:pt x="1589" y="69"/>
                  <a:pt x="1589" y="80"/>
                </a:cubicBezTo>
                <a:lnTo>
                  <a:pt x="1589" y="478"/>
                </a:lnTo>
                <a:cubicBezTo>
                  <a:pt x="1589" y="488"/>
                  <a:pt x="1587" y="498"/>
                  <a:pt x="1583" y="508"/>
                </a:cubicBezTo>
                <a:cubicBezTo>
                  <a:pt x="1579" y="518"/>
                  <a:pt x="1573" y="526"/>
                  <a:pt x="1565" y="534"/>
                </a:cubicBezTo>
                <a:cubicBezTo>
                  <a:pt x="1558" y="541"/>
                  <a:pt x="1549" y="547"/>
                  <a:pt x="1540" y="551"/>
                </a:cubicBezTo>
                <a:cubicBezTo>
                  <a:pt x="1530" y="555"/>
                  <a:pt x="1520" y="557"/>
                  <a:pt x="1509" y="557"/>
                </a:cubicBezTo>
                <a:lnTo>
                  <a:pt x="79" y="557"/>
                </a:lnTo>
                <a:cubicBezTo>
                  <a:pt x="69" y="557"/>
                  <a:pt x="59" y="555"/>
                  <a:pt x="49" y="551"/>
                </a:cubicBezTo>
                <a:cubicBezTo>
                  <a:pt x="39" y="547"/>
                  <a:pt x="31" y="541"/>
                  <a:pt x="23" y="534"/>
                </a:cubicBezTo>
                <a:cubicBezTo>
                  <a:pt x="16" y="526"/>
                  <a:pt x="10" y="518"/>
                  <a:pt x="6" y="508"/>
                </a:cubicBezTo>
                <a:cubicBezTo>
                  <a:pt x="2" y="498"/>
                  <a:pt x="0" y="488"/>
                  <a:pt x="0" y="478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895320" y="5008680"/>
            <a:ext cx="2630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Model-level group test</a:t>
            </a:r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on fitted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733320" y="541944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133" y="67"/>
                </a:moveTo>
                <a:cubicBezTo>
                  <a:pt x="133" y="76"/>
                  <a:pt x="131" y="85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0" y="125"/>
                  <a:pt x="92" y="129"/>
                </a:cubicBezTo>
                <a:cubicBezTo>
                  <a:pt x="84" y="132"/>
                  <a:pt x="76" y="134"/>
                  <a:pt x="67" y="134"/>
                </a:cubicBezTo>
                <a:cubicBezTo>
                  <a:pt x="58" y="134"/>
                  <a:pt x="50" y="132"/>
                  <a:pt x="42" y="129"/>
                </a:cubicBezTo>
                <a:cubicBezTo>
                  <a:pt x="34" y="125"/>
                  <a:pt x="26" y="120"/>
                  <a:pt x="20" y="114"/>
                </a:cubicBezTo>
                <a:cubicBezTo>
                  <a:pt x="14" y="108"/>
                  <a:pt x="8" y="101"/>
                  <a:pt x="5" y="93"/>
                </a:cubicBezTo>
                <a:cubicBezTo>
                  <a:pt x="1" y="85"/>
                  <a:pt x="0" y="76"/>
                  <a:pt x="0" y="67"/>
                </a:cubicBezTo>
                <a:cubicBezTo>
                  <a:pt x="0" y="58"/>
                  <a:pt x="1" y="49"/>
                  <a:pt x="5" y="41"/>
                </a:cubicBezTo>
                <a:cubicBezTo>
                  <a:pt x="8" y="33"/>
                  <a:pt x="14" y="26"/>
                  <a:pt x="20" y="20"/>
                </a:cubicBezTo>
                <a:cubicBezTo>
                  <a:pt x="26" y="13"/>
                  <a:pt x="34" y="9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9"/>
                  <a:pt x="108" y="13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8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3352680" y="5040360"/>
            <a:ext cx="45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F766E"/>
                </a:solidFill>
                <a:effectLst/>
                <a:uFillTx/>
                <a:latin typeface="Menlo"/>
                <a:ea typeface="Menlo"/>
              </a:rPr>
              <a:t>τ_inh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104920" y="5333760"/>
            <a:ext cx="667080" cy="200520"/>
          </a:xfrm>
          <a:custGeom>
            <a:avLst/>
            <a:gdLst/>
            <a:ahLst/>
            <a:rect l="0" t="0" r="r" b="b"/>
            <a:pathLst>
              <a:path w="1853" h="557">
                <a:moveTo>
                  <a:pt x="0" y="477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773" y="0"/>
                </a:lnTo>
                <a:cubicBezTo>
                  <a:pt x="1784" y="0"/>
                  <a:pt x="1794" y="2"/>
                  <a:pt x="1804" y="6"/>
                </a:cubicBezTo>
                <a:cubicBezTo>
                  <a:pt x="1814" y="10"/>
                  <a:pt x="1822" y="16"/>
                  <a:pt x="1830" y="23"/>
                </a:cubicBezTo>
                <a:cubicBezTo>
                  <a:pt x="1837" y="31"/>
                  <a:pt x="1843" y="39"/>
                  <a:pt x="1847" y="49"/>
                </a:cubicBezTo>
                <a:cubicBezTo>
                  <a:pt x="1851" y="59"/>
                  <a:pt x="1853" y="69"/>
                  <a:pt x="1853" y="80"/>
                </a:cubicBezTo>
                <a:lnTo>
                  <a:pt x="1853" y="477"/>
                </a:lnTo>
                <a:cubicBezTo>
                  <a:pt x="1853" y="488"/>
                  <a:pt x="1851" y="498"/>
                  <a:pt x="1847" y="508"/>
                </a:cubicBezTo>
                <a:cubicBezTo>
                  <a:pt x="1843" y="518"/>
                  <a:pt x="1837" y="526"/>
                  <a:pt x="1830" y="534"/>
                </a:cubicBezTo>
                <a:cubicBezTo>
                  <a:pt x="1822" y="541"/>
                  <a:pt x="1814" y="547"/>
                  <a:pt x="1804" y="551"/>
                </a:cubicBezTo>
                <a:cubicBezTo>
                  <a:pt x="1794" y="555"/>
                  <a:pt x="1784" y="557"/>
                  <a:pt x="1773" y="557"/>
                </a:cubicBezTo>
                <a:lnTo>
                  <a:pt x="79" y="557"/>
                </a:lnTo>
                <a:cubicBezTo>
                  <a:pt x="69" y="557"/>
                  <a:pt x="59" y="555"/>
                  <a:pt x="49" y="551"/>
                </a:cubicBezTo>
                <a:cubicBezTo>
                  <a:pt x="39" y="547"/>
                  <a:pt x="30" y="541"/>
                  <a:pt x="23" y="534"/>
                </a:cubicBezTo>
                <a:cubicBezTo>
                  <a:pt x="16" y="526"/>
                  <a:pt x="10" y="518"/>
                  <a:pt x="6" y="508"/>
                </a:cubicBezTo>
                <a:cubicBezTo>
                  <a:pt x="2" y="498"/>
                  <a:pt x="0" y="488"/>
                  <a:pt x="0" y="477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95320" y="5313240"/>
            <a:ext cx="11851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State the final "+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2166120" y="5345280"/>
            <a:ext cx="551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F766E"/>
                </a:solidFill>
                <a:effectLst/>
                <a:uFillTx/>
                <a:latin typeface="Menlo"/>
                <a:ea typeface="Menlo"/>
              </a:rPr>
              <a:t>Δτ_inh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2773080" y="5313240"/>
            <a:ext cx="4978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" result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285840" y="6488280"/>
            <a:ext cx="2815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.SFNS"/>
                <a:ea typeface=".SFNS"/>
              </a:rPr>
              <a:t>See docs/plain_explanation.md for per-step description.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1832480" y="6488280"/>
            <a:ext cx="1137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.SFNS"/>
                <a:ea typeface=".SFN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8229240" y="1228680"/>
            <a:ext cx="2800800" cy="640440"/>
          </a:xfrm>
          <a:custGeom>
            <a:avLst/>
            <a:gdLst/>
            <a:ahLst/>
            <a:rect l="0" t="0" r="r" b="b"/>
            <a:pathLst>
              <a:path w="7780" h="1779">
                <a:moveTo>
                  <a:pt x="223" y="0"/>
                </a:moveTo>
                <a:lnTo>
                  <a:pt x="7558" y="0"/>
                </a:lnTo>
                <a:cubicBezTo>
                  <a:pt x="7573" y="0"/>
                  <a:pt x="7587" y="1"/>
                  <a:pt x="7601" y="4"/>
                </a:cubicBezTo>
                <a:cubicBezTo>
                  <a:pt x="7616" y="7"/>
                  <a:pt x="7630" y="11"/>
                  <a:pt x="7643" y="17"/>
                </a:cubicBezTo>
                <a:cubicBezTo>
                  <a:pt x="7657" y="22"/>
                  <a:pt x="7669" y="29"/>
                  <a:pt x="7681" y="37"/>
                </a:cubicBezTo>
                <a:cubicBezTo>
                  <a:pt x="7694" y="45"/>
                  <a:pt x="7705" y="54"/>
                  <a:pt x="7715" y="65"/>
                </a:cubicBezTo>
                <a:cubicBezTo>
                  <a:pt x="7725" y="75"/>
                  <a:pt x="7735" y="86"/>
                  <a:pt x="7743" y="98"/>
                </a:cubicBezTo>
                <a:cubicBezTo>
                  <a:pt x="7751" y="111"/>
                  <a:pt x="7758" y="123"/>
                  <a:pt x="7763" y="137"/>
                </a:cubicBezTo>
                <a:cubicBezTo>
                  <a:pt x="7769" y="150"/>
                  <a:pt x="7773" y="164"/>
                  <a:pt x="7776" y="179"/>
                </a:cubicBezTo>
                <a:cubicBezTo>
                  <a:pt x="7779" y="193"/>
                  <a:pt x="7780" y="207"/>
                  <a:pt x="7780" y="222"/>
                </a:cubicBezTo>
                <a:lnTo>
                  <a:pt x="7780" y="1556"/>
                </a:lnTo>
                <a:cubicBezTo>
                  <a:pt x="7780" y="1571"/>
                  <a:pt x="7779" y="1585"/>
                  <a:pt x="7776" y="1600"/>
                </a:cubicBezTo>
                <a:cubicBezTo>
                  <a:pt x="7773" y="1614"/>
                  <a:pt x="7769" y="1628"/>
                  <a:pt x="7763" y="1641"/>
                </a:cubicBezTo>
                <a:cubicBezTo>
                  <a:pt x="7758" y="1655"/>
                  <a:pt x="7751" y="1668"/>
                  <a:pt x="7743" y="1680"/>
                </a:cubicBezTo>
                <a:cubicBezTo>
                  <a:pt x="7735" y="1692"/>
                  <a:pt x="7725" y="1703"/>
                  <a:pt x="7715" y="1714"/>
                </a:cubicBezTo>
                <a:cubicBezTo>
                  <a:pt x="7705" y="1724"/>
                  <a:pt x="7694" y="1733"/>
                  <a:pt x="7681" y="1741"/>
                </a:cubicBezTo>
                <a:cubicBezTo>
                  <a:pt x="7669" y="1749"/>
                  <a:pt x="7657" y="1756"/>
                  <a:pt x="7643" y="1762"/>
                </a:cubicBezTo>
                <a:cubicBezTo>
                  <a:pt x="7630" y="1767"/>
                  <a:pt x="7616" y="1772"/>
                  <a:pt x="7601" y="1774"/>
                </a:cubicBezTo>
                <a:cubicBezTo>
                  <a:pt x="7587" y="1777"/>
                  <a:pt x="7573" y="1779"/>
                  <a:pt x="7558" y="1779"/>
                </a:cubicBezTo>
                <a:lnTo>
                  <a:pt x="223" y="1779"/>
                </a:lnTo>
                <a:cubicBezTo>
                  <a:pt x="208" y="1779"/>
                  <a:pt x="194" y="1777"/>
                  <a:pt x="179" y="1774"/>
                </a:cubicBezTo>
                <a:cubicBezTo>
                  <a:pt x="165" y="1772"/>
                  <a:pt x="151" y="1767"/>
                  <a:pt x="138" y="1762"/>
                </a:cubicBezTo>
                <a:cubicBezTo>
                  <a:pt x="124" y="1756"/>
                  <a:pt x="111" y="1749"/>
                  <a:pt x="99" y="1741"/>
                </a:cubicBezTo>
                <a:cubicBezTo>
                  <a:pt x="87" y="1733"/>
                  <a:pt x="76" y="1724"/>
                  <a:pt x="66" y="1714"/>
                </a:cubicBezTo>
                <a:cubicBezTo>
                  <a:pt x="55" y="1703"/>
                  <a:pt x="46" y="1692"/>
                  <a:pt x="38" y="1680"/>
                </a:cubicBezTo>
                <a:cubicBezTo>
                  <a:pt x="30" y="1668"/>
                  <a:pt x="23" y="1655"/>
                  <a:pt x="17" y="1641"/>
                </a:cubicBezTo>
                <a:cubicBezTo>
                  <a:pt x="12" y="1628"/>
                  <a:pt x="8" y="1614"/>
                  <a:pt x="5" y="1600"/>
                </a:cubicBezTo>
                <a:cubicBezTo>
                  <a:pt x="2" y="1585"/>
                  <a:pt x="0" y="1571"/>
                  <a:pt x="0" y="1556"/>
                </a:cubicBezTo>
                <a:lnTo>
                  <a:pt x="0" y="222"/>
                </a:lnTo>
                <a:cubicBezTo>
                  <a:pt x="0" y="207"/>
                  <a:pt x="2" y="193"/>
                  <a:pt x="5" y="179"/>
                </a:cubicBezTo>
                <a:cubicBezTo>
                  <a:pt x="8" y="164"/>
                  <a:pt x="12" y="150"/>
                  <a:pt x="17" y="137"/>
                </a:cubicBezTo>
                <a:cubicBezTo>
                  <a:pt x="23" y="123"/>
                  <a:pt x="30" y="111"/>
                  <a:pt x="38" y="98"/>
                </a:cubicBezTo>
                <a:cubicBezTo>
                  <a:pt x="46" y="86"/>
                  <a:pt x="55" y="75"/>
                  <a:pt x="66" y="65"/>
                </a:cubicBezTo>
                <a:cubicBezTo>
                  <a:pt x="76" y="54"/>
                  <a:pt x="87" y="45"/>
                  <a:pt x="99" y="37"/>
                </a:cubicBezTo>
                <a:cubicBezTo>
                  <a:pt x="111" y="29"/>
                  <a:pt x="124" y="22"/>
                  <a:pt x="138" y="17"/>
                </a:cubicBezTo>
                <a:cubicBezTo>
                  <a:pt x="151" y="11"/>
                  <a:pt x="165" y="7"/>
                  <a:pt x="179" y="4"/>
                </a:cubicBezTo>
                <a:cubicBezTo>
                  <a:pt x="194" y="1"/>
                  <a:pt x="208" y="0"/>
                  <a:pt x="223" y="0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8229240" y="1228680"/>
            <a:ext cx="2800800" cy="640440"/>
          </a:xfrm>
          <a:custGeom>
            <a:avLst/>
            <a:gdLst/>
            <a:ahLst/>
            <a:rect l="0" t="0" r="r" b="b"/>
            <a:pathLst>
              <a:path w="7780" h="1779">
                <a:moveTo>
                  <a:pt x="223" y="0"/>
                </a:moveTo>
                <a:lnTo>
                  <a:pt x="7558" y="0"/>
                </a:lnTo>
                <a:cubicBezTo>
                  <a:pt x="7573" y="0"/>
                  <a:pt x="7587" y="1"/>
                  <a:pt x="7601" y="4"/>
                </a:cubicBezTo>
                <a:cubicBezTo>
                  <a:pt x="7616" y="7"/>
                  <a:pt x="7630" y="11"/>
                  <a:pt x="7643" y="17"/>
                </a:cubicBezTo>
                <a:cubicBezTo>
                  <a:pt x="7657" y="22"/>
                  <a:pt x="7669" y="29"/>
                  <a:pt x="7681" y="37"/>
                </a:cubicBezTo>
                <a:cubicBezTo>
                  <a:pt x="7694" y="45"/>
                  <a:pt x="7705" y="54"/>
                  <a:pt x="7715" y="65"/>
                </a:cubicBezTo>
                <a:cubicBezTo>
                  <a:pt x="7725" y="75"/>
                  <a:pt x="7735" y="86"/>
                  <a:pt x="7743" y="98"/>
                </a:cubicBezTo>
                <a:cubicBezTo>
                  <a:pt x="7751" y="111"/>
                  <a:pt x="7758" y="123"/>
                  <a:pt x="7763" y="137"/>
                </a:cubicBezTo>
                <a:cubicBezTo>
                  <a:pt x="7769" y="150"/>
                  <a:pt x="7773" y="164"/>
                  <a:pt x="7776" y="179"/>
                </a:cubicBezTo>
                <a:cubicBezTo>
                  <a:pt x="7779" y="193"/>
                  <a:pt x="7780" y="207"/>
                  <a:pt x="7780" y="222"/>
                </a:cubicBezTo>
                <a:lnTo>
                  <a:pt x="7780" y="1556"/>
                </a:lnTo>
                <a:cubicBezTo>
                  <a:pt x="7780" y="1571"/>
                  <a:pt x="7779" y="1585"/>
                  <a:pt x="7776" y="1600"/>
                </a:cubicBezTo>
                <a:cubicBezTo>
                  <a:pt x="7773" y="1614"/>
                  <a:pt x="7769" y="1628"/>
                  <a:pt x="7763" y="1641"/>
                </a:cubicBezTo>
                <a:cubicBezTo>
                  <a:pt x="7758" y="1655"/>
                  <a:pt x="7751" y="1668"/>
                  <a:pt x="7743" y="1680"/>
                </a:cubicBezTo>
                <a:cubicBezTo>
                  <a:pt x="7735" y="1692"/>
                  <a:pt x="7725" y="1703"/>
                  <a:pt x="7715" y="1714"/>
                </a:cubicBezTo>
                <a:cubicBezTo>
                  <a:pt x="7705" y="1724"/>
                  <a:pt x="7694" y="1733"/>
                  <a:pt x="7681" y="1741"/>
                </a:cubicBezTo>
                <a:cubicBezTo>
                  <a:pt x="7669" y="1749"/>
                  <a:pt x="7657" y="1756"/>
                  <a:pt x="7643" y="1762"/>
                </a:cubicBezTo>
                <a:cubicBezTo>
                  <a:pt x="7630" y="1767"/>
                  <a:pt x="7616" y="1772"/>
                  <a:pt x="7601" y="1774"/>
                </a:cubicBezTo>
                <a:cubicBezTo>
                  <a:pt x="7587" y="1777"/>
                  <a:pt x="7573" y="1779"/>
                  <a:pt x="7558" y="1779"/>
                </a:cubicBezTo>
                <a:lnTo>
                  <a:pt x="223" y="1779"/>
                </a:lnTo>
                <a:cubicBezTo>
                  <a:pt x="208" y="1779"/>
                  <a:pt x="194" y="1777"/>
                  <a:pt x="179" y="1774"/>
                </a:cubicBezTo>
                <a:cubicBezTo>
                  <a:pt x="165" y="1772"/>
                  <a:pt x="151" y="1767"/>
                  <a:pt x="138" y="1762"/>
                </a:cubicBezTo>
                <a:cubicBezTo>
                  <a:pt x="124" y="1756"/>
                  <a:pt x="111" y="1749"/>
                  <a:pt x="99" y="1741"/>
                </a:cubicBezTo>
                <a:cubicBezTo>
                  <a:pt x="87" y="1733"/>
                  <a:pt x="76" y="1724"/>
                  <a:pt x="66" y="1714"/>
                </a:cubicBezTo>
                <a:cubicBezTo>
                  <a:pt x="55" y="1703"/>
                  <a:pt x="46" y="1692"/>
                  <a:pt x="38" y="1680"/>
                </a:cubicBezTo>
                <a:cubicBezTo>
                  <a:pt x="30" y="1668"/>
                  <a:pt x="23" y="1655"/>
                  <a:pt x="17" y="1641"/>
                </a:cubicBezTo>
                <a:cubicBezTo>
                  <a:pt x="12" y="1628"/>
                  <a:pt x="8" y="1614"/>
                  <a:pt x="5" y="1600"/>
                </a:cubicBezTo>
                <a:cubicBezTo>
                  <a:pt x="2" y="1585"/>
                  <a:pt x="0" y="1571"/>
                  <a:pt x="0" y="1556"/>
                </a:cubicBezTo>
                <a:lnTo>
                  <a:pt x="0" y="222"/>
                </a:lnTo>
                <a:cubicBezTo>
                  <a:pt x="0" y="207"/>
                  <a:pt x="2" y="193"/>
                  <a:pt x="5" y="179"/>
                </a:cubicBezTo>
                <a:cubicBezTo>
                  <a:pt x="8" y="164"/>
                  <a:pt x="12" y="150"/>
                  <a:pt x="17" y="137"/>
                </a:cubicBezTo>
                <a:cubicBezTo>
                  <a:pt x="23" y="123"/>
                  <a:pt x="30" y="111"/>
                  <a:pt x="38" y="98"/>
                </a:cubicBezTo>
                <a:cubicBezTo>
                  <a:pt x="46" y="86"/>
                  <a:pt x="55" y="75"/>
                  <a:pt x="66" y="65"/>
                </a:cubicBezTo>
                <a:cubicBezTo>
                  <a:pt x="76" y="54"/>
                  <a:pt x="87" y="45"/>
                  <a:pt x="99" y="37"/>
                </a:cubicBezTo>
                <a:cubicBezTo>
                  <a:pt x="111" y="29"/>
                  <a:pt x="124" y="22"/>
                  <a:pt x="138" y="17"/>
                </a:cubicBezTo>
                <a:cubicBezTo>
                  <a:pt x="151" y="11"/>
                  <a:pt x="165" y="7"/>
                  <a:pt x="179" y="4"/>
                </a:cubicBezTo>
                <a:cubicBezTo>
                  <a:pt x="194" y="1"/>
                  <a:pt x="208" y="0"/>
                  <a:pt x="223" y="0"/>
                </a:cubicBezTo>
                <a:close/>
              </a:path>
            </a:pathLst>
          </a:custGeom>
          <a:noFill/>
          <a:ln w="19800">
            <a:solidFill>
              <a:srgbClr val="B45309"/>
            </a:solidFill>
            <a:miter/>
          </a:ln>
        </p:spPr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8778600" y="799200"/>
            <a:ext cx="1893600" cy="19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111827"/>
                </a:solidFill>
                <a:effectLst/>
                <a:uFillTx/>
                <a:latin typeface=".SFNS"/>
                <a:ea typeface=".SFNS"/>
              </a:rPr>
              <a:t>Proposed validation loop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9193680" y="1339200"/>
            <a:ext cx="952200" cy="19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92400E"/>
                </a:solidFill>
                <a:effectLst/>
                <a:uFillTx/>
                <a:latin typeface=".SFNS"/>
                <a:ea typeface=".SFNS"/>
              </a:rPr>
              <a:t>Known τ_inh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9629640" y="1868760"/>
            <a:ext cx="0" cy="299880"/>
          </a:xfrm>
          <a:prstGeom prst="line">
            <a:avLst/>
          </a:prstGeom>
          <a:ln w="1980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9579600" y="2078640"/>
            <a:ext cx="100440" cy="100440"/>
          </a:xfrm>
          <a:custGeom>
            <a:avLst/>
            <a:gdLst/>
            <a:ahLst/>
            <a:rect l="0" t="0" r="r" b="b"/>
            <a:pathLst>
              <a:path w="279" h="279">
                <a:moveTo>
                  <a:pt x="279" y="0"/>
                </a:moveTo>
                <a:lnTo>
                  <a:pt x="0" y="0"/>
                </a:lnTo>
                <a:lnTo>
                  <a:pt x="140" y="279"/>
                </a:lnTo>
                <a:lnTo>
                  <a:pt x="279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8870760" y="1571400"/>
            <a:ext cx="1433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92400E"/>
                </a:solidFill>
                <a:effectLst/>
                <a:uFillTx/>
                <a:latin typeface=".SFNS"/>
                <a:ea typeface=".SFNS"/>
              </a:rPr>
              <a:t>value we choose (e.g. 18 ms)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8229240" y="2228760"/>
            <a:ext cx="2800800" cy="640440"/>
          </a:xfrm>
          <a:custGeom>
            <a:avLst/>
            <a:gdLst/>
            <a:ahLst/>
            <a:rect l="0" t="0" r="r" b="b"/>
            <a:pathLst>
              <a:path w="7780" h="1779">
                <a:moveTo>
                  <a:pt x="0" y="0"/>
                </a:moveTo>
                <a:lnTo>
                  <a:pt x="7780" y="0"/>
                </a:lnTo>
                <a:lnTo>
                  <a:pt x="7780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8229240" y="2228760"/>
            <a:ext cx="2800800" cy="640440"/>
          </a:xfrm>
          <a:custGeom>
            <a:avLst/>
            <a:gdLst/>
            <a:ahLst/>
            <a:rect l="0" t="0" r="r" b="b"/>
            <a:pathLst>
              <a:path w="7780" h="1779">
                <a:moveTo>
                  <a:pt x="0" y="0"/>
                </a:moveTo>
                <a:lnTo>
                  <a:pt x="7780" y="0"/>
                </a:lnTo>
                <a:lnTo>
                  <a:pt x="7780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noFill/>
          <a:ln w="14760">
            <a:solidFill>
              <a:srgbClr val="6B7280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9729720" y="1941120"/>
            <a:ext cx="103752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i="1" u="none" strike="noStrike">
                <a:solidFill>
                  <a:srgbClr val="374151"/>
                </a:solidFill>
                <a:effectLst/>
                <a:uFillTx/>
                <a:latin typeface=".SFNS-Regular"/>
                <a:ea typeface=".SFNS-Regular"/>
              </a:rPr>
              <a:t>Wilson-Cowan model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8934480" y="2339280"/>
            <a:ext cx="1605240" cy="19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1F293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Synthetic EEG signal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9629640" y="2868840"/>
            <a:ext cx="0" cy="299880"/>
          </a:xfrm>
          <a:prstGeom prst="line">
            <a:avLst/>
          </a:prstGeom>
          <a:ln w="1980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9579600" y="3078720"/>
            <a:ext cx="100440" cy="100440"/>
          </a:xfrm>
          <a:custGeom>
            <a:avLst/>
            <a:gdLst/>
            <a:ahLst/>
            <a:rect l="0" t="0" r="r" b="b"/>
            <a:pathLst>
              <a:path w="279" h="279">
                <a:moveTo>
                  <a:pt x="279" y="0"/>
                </a:moveTo>
                <a:lnTo>
                  <a:pt x="0" y="0"/>
                </a:lnTo>
                <a:lnTo>
                  <a:pt x="140" y="279"/>
                </a:lnTo>
                <a:lnTo>
                  <a:pt x="279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8775720" y="2571480"/>
            <a:ext cx="1592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6B7280"/>
                </a:solidFill>
                <a:effectLst/>
                <a:uFillTx/>
                <a:latin typeface=".SFNS"/>
                <a:ea typeface=".SFNS"/>
              </a:rPr>
              <a:t>simulated time series, n samples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8229240" y="3228840"/>
            <a:ext cx="2800800" cy="640440"/>
          </a:xfrm>
          <a:custGeom>
            <a:avLst/>
            <a:gdLst/>
            <a:ahLst/>
            <a:rect l="0" t="0" r="r" b="b"/>
            <a:pathLst>
              <a:path w="7780" h="1779">
                <a:moveTo>
                  <a:pt x="223" y="0"/>
                </a:moveTo>
                <a:lnTo>
                  <a:pt x="7558" y="0"/>
                </a:lnTo>
                <a:cubicBezTo>
                  <a:pt x="7573" y="0"/>
                  <a:pt x="7587" y="1"/>
                  <a:pt x="7601" y="4"/>
                </a:cubicBezTo>
                <a:cubicBezTo>
                  <a:pt x="7616" y="7"/>
                  <a:pt x="7630" y="11"/>
                  <a:pt x="7643" y="17"/>
                </a:cubicBezTo>
                <a:cubicBezTo>
                  <a:pt x="7657" y="22"/>
                  <a:pt x="7669" y="29"/>
                  <a:pt x="7681" y="37"/>
                </a:cubicBezTo>
                <a:cubicBezTo>
                  <a:pt x="7694" y="45"/>
                  <a:pt x="7705" y="55"/>
                  <a:pt x="7715" y="65"/>
                </a:cubicBezTo>
                <a:cubicBezTo>
                  <a:pt x="7725" y="75"/>
                  <a:pt x="7735" y="87"/>
                  <a:pt x="7743" y="99"/>
                </a:cubicBezTo>
                <a:cubicBezTo>
                  <a:pt x="7751" y="111"/>
                  <a:pt x="7758" y="124"/>
                  <a:pt x="7763" y="137"/>
                </a:cubicBezTo>
                <a:cubicBezTo>
                  <a:pt x="7769" y="151"/>
                  <a:pt x="7773" y="164"/>
                  <a:pt x="7776" y="179"/>
                </a:cubicBezTo>
                <a:cubicBezTo>
                  <a:pt x="7779" y="193"/>
                  <a:pt x="7780" y="208"/>
                  <a:pt x="7780" y="222"/>
                </a:cubicBezTo>
                <a:lnTo>
                  <a:pt x="7780" y="1557"/>
                </a:lnTo>
                <a:cubicBezTo>
                  <a:pt x="7780" y="1571"/>
                  <a:pt x="7779" y="1586"/>
                  <a:pt x="7776" y="1600"/>
                </a:cubicBezTo>
                <a:cubicBezTo>
                  <a:pt x="7773" y="1614"/>
                  <a:pt x="7769" y="1628"/>
                  <a:pt x="7763" y="1642"/>
                </a:cubicBezTo>
                <a:cubicBezTo>
                  <a:pt x="7758" y="1655"/>
                  <a:pt x="7751" y="1668"/>
                  <a:pt x="7743" y="1680"/>
                </a:cubicBezTo>
                <a:cubicBezTo>
                  <a:pt x="7735" y="1692"/>
                  <a:pt x="7725" y="1703"/>
                  <a:pt x="7715" y="1714"/>
                </a:cubicBezTo>
                <a:cubicBezTo>
                  <a:pt x="7705" y="1724"/>
                  <a:pt x="7694" y="1733"/>
                  <a:pt x="7681" y="1741"/>
                </a:cubicBezTo>
                <a:cubicBezTo>
                  <a:pt x="7669" y="1750"/>
                  <a:pt x="7657" y="1756"/>
                  <a:pt x="7643" y="1762"/>
                </a:cubicBezTo>
                <a:cubicBezTo>
                  <a:pt x="7630" y="1768"/>
                  <a:pt x="7616" y="1772"/>
                  <a:pt x="7601" y="1775"/>
                </a:cubicBezTo>
                <a:cubicBezTo>
                  <a:pt x="7587" y="1777"/>
                  <a:pt x="7573" y="1779"/>
                  <a:pt x="7558" y="1779"/>
                </a:cubicBezTo>
                <a:lnTo>
                  <a:pt x="223" y="1779"/>
                </a:lnTo>
                <a:cubicBezTo>
                  <a:pt x="208" y="1779"/>
                  <a:pt x="194" y="1777"/>
                  <a:pt x="179" y="1775"/>
                </a:cubicBezTo>
                <a:cubicBezTo>
                  <a:pt x="165" y="1772"/>
                  <a:pt x="151" y="1768"/>
                  <a:pt x="138" y="1762"/>
                </a:cubicBezTo>
                <a:cubicBezTo>
                  <a:pt x="124" y="1756"/>
                  <a:pt x="111" y="1750"/>
                  <a:pt x="99" y="1741"/>
                </a:cubicBezTo>
                <a:cubicBezTo>
                  <a:pt x="87" y="1733"/>
                  <a:pt x="76" y="1724"/>
                  <a:pt x="66" y="1714"/>
                </a:cubicBezTo>
                <a:cubicBezTo>
                  <a:pt x="55" y="1703"/>
                  <a:pt x="46" y="1692"/>
                  <a:pt x="38" y="1680"/>
                </a:cubicBezTo>
                <a:cubicBezTo>
                  <a:pt x="30" y="1668"/>
                  <a:pt x="23" y="1655"/>
                  <a:pt x="17" y="1642"/>
                </a:cubicBezTo>
                <a:cubicBezTo>
                  <a:pt x="12" y="1628"/>
                  <a:pt x="8" y="1614"/>
                  <a:pt x="5" y="1600"/>
                </a:cubicBezTo>
                <a:cubicBezTo>
                  <a:pt x="2" y="1586"/>
                  <a:pt x="0" y="1571"/>
                  <a:pt x="0" y="1557"/>
                </a:cubicBezTo>
                <a:lnTo>
                  <a:pt x="0" y="222"/>
                </a:lnTo>
                <a:cubicBezTo>
                  <a:pt x="0" y="208"/>
                  <a:pt x="2" y="193"/>
                  <a:pt x="5" y="179"/>
                </a:cubicBezTo>
                <a:cubicBezTo>
                  <a:pt x="8" y="164"/>
                  <a:pt x="12" y="151"/>
                  <a:pt x="17" y="137"/>
                </a:cubicBezTo>
                <a:cubicBezTo>
                  <a:pt x="23" y="124"/>
                  <a:pt x="30" y="111"/>
                  <a:pt x="38" y="99"/>
                </a:cubicBezTo>
                <a:cubicBezTo>
                  <a:pt x="46" y="87"/>
                  <a:pt x="55" y="75"/>
                  <a:pt x="66" y="65"/>
                </a:cubicBezTo>
                <a:cubicBezTo>
                  <a:pt x="76" y="55"/>
                  <a:pt x="87" y="45"/>
                  <a:pt x="99" y="37"/>
                </a:cubicBezTo>
                <a:cubicBezTo>
                  <a:pt x="111" y="29"/>
                  <a:pt x="124" y="22"/>
                  <a:pt x="138" y="17"/>
                </a:cubicBezTo>
                <a:cubicBezTo>
                  <a:pt x="151" y="11"/>
                  <a:pt x="165" y="7"/>
                  <a:pt x="179" y="4"/>
                </a:cubicBezTo>
                <a:cubicBezTo>
                  <a:pt x="194" y="1"/>
                  <a:pt x="208" y="0"/>
                  <a:pt x="223" y="0"/>
                </a:cubicBezTo>
                <a:close/>
              </a:path>
            </a:pathLst>
          </a:custGeom>
          <a:solidFill>
            <a:srgbClr val="0F766E"/>
          </a:solidFill>
          <a:ln w="9720">
            <a:solidFill>
              <a:srgbClr val="0F766E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9729720" y="2941200"/>
            <a:ext cx="143424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i="1" u="none" strike="noStrike">
                <a:solidFill>
                  <a:srgbClr val="374151"/>
                </a:solidFill>
                <a:effectLst/>
                <a:uFillTx/>
                <a:latin typeface=".SFNS-Regular"/>
                <a:ea typeface=".SFNS-Regular"/>
              </a:rPr>
              <a:t>same pipeline as on real data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8742960" y="3339360"/>
            <a:ext cx="2040480" cy="19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feature extraction + fitting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9629640" y="3868920"/>
            <a:ext cx="0" cy="299880"/>
          </a:xfrm>
          <a:prstGeom prst="line">
            <a:avLst/>
          </a:prstGeom>
          <a:ln w="1980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9579600" y="4078800"/>
            <a:ext cx="100440" cy="100440"/>
          </a:xfrm>
          <a:custGeom>
            <a:avLst/>
            <a:gdLst/>
            <a:ahLst/>
            <a:rect l="0" t="0" r="r" b="b"/>
            <a:pathLst>
              <a:path w="279" h="279">
                <a:moveTo>
                  <a:pt x="279" y="0"/>
                </a:moveTo>
                <a:lnTo>
                  <a:pt x="0" y="0"/>
                </a:lnTo>
                <a:lnTo>
                  <a:pt x="140" y="279"/>
                </a:lnTo>
                <a:lnTo>
                  <a:pt x="279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8229240" y="4228920"/>
            <a:ext cx="2800800" cy="640440"/>
          </a:xfrm>
          <a:custGeom>
            <a:avLst/>
            <a:gdLst/>
            <a:ahLst/>
            <a:rect l="0" t="0" r="r" b="b"/>
            <a:pathLst>
              <a:path w="7780" h="1779">
                <a:moveTo>
                  <a:pt x="223" y="0"/>
                </a:moveTo>
                <a:lnTo>
                  <a:pt x="7558" y="0"/>
                </a:lnTo>
                <a:cubicBezTo>
                  <a:pt x="7573" y="0"/>
                  <a:pt x="7587" y="1"/>
                  <a:pt x="7601" y="4"/>
                </a:cubicBezTo>
                <a:cubicBezTo>
                  <a:pt x="7616" y="7"/>
                  <a:pt x="7630" y="11"/>
                  <a:pt x="7643" y="17"/>
                </a:cubicBezTo>
                <a:cubicBezTo>
                  <a:pt x="7657" y="23"/>
                  <a:pt x="7669" y="29"/>
                  <a:pt x="7681" y="37"/>
                </a:cubicBezTo>
                <a:cubicBezTo>
                  <a:pt x="7694" y="46"/>
                  <a:pt x="7705" y="55"/>
                  <a:pt x="7715" y="65"/>
                </a:cubicBezTo>
                <a:cubicBezTo>
                  <a:pt x="7725" y="75"/>
                  <a:pt x="7735" y="87"/>
                  <a:pt x="7743" y="99"/>
                </a:cubicBezTo>
                <a:cubicBezTo>
                  <a:pt x="7751" y="111"/>
                  <a:pt x="7758" y="124"/>
                  <a:pt x="7763" y="137"/>
                </a:cubicBezTo>
                <a:cubicBezTo>
                  <a:pt x="7769" y="151"/>
                  <a:pt x="7773" y="165"/>
                  <a:pt x="7776" y="179"/>
                </a:cubicBezTo>
                <a:cubicBezTo>
                  <a:pt x="7779" y="193"/>
                  <a:pt x="7780" y="208"/>
                  <a:pt x="7780" y="222"/>
                </a:cubicBezTo>
                <a:lnTo>
                  <a:pt x="7780" y="1556"/>
                </a:lnTo>
                <a:cubicBezTo>
                  <a:pt x="7780" y="1570"/>
                  <a:pt x="7779" y="1586"/>
                  <a:pt x="7776" y="1600"/>
                </a:cubicBezTo>
                <a:cubicBezTo>
                  <a:pt x="7773" y="1614"/>
                  <a:pt x="7769" y="1628"/>
                  <a:pt x="7763" y="1642"/>
                </a:cubicBezTo>
                <a:cubicBezTo>
                  <a:pt x="7758" y="1655"/>
                  <a:pt x="7751" y="1668"/>
                  <a:pt x="7743" y="1680"/>
                </a:cubicBezTo>
                <a:cubicBezTo>
                  <a:pt x="7735" y="1692"/>
                  <a:pt x="7725" y="1704"/>
                  <a:pt x="7715" y="1714"/>
                </a:cubicBezTo>
                <a:cubicBezTo>
                  <a:pt x="7705" y="1724"/>
                  <a:pt x="7694" y="1733"/>
                  <a:pt x="7681" y="1742"/>
                </a:cubicBezTo>
                <a:cubicBezTo>
                  <a:pt x="7669" y="1750"/>
                  <a:pt x="7657" y="1756"/>
                  <a:pt x="7643" y="1762"/>
                </a:cubicBezTo>
                <a:cubicBezTo>
                  <a:pt x="7630" y="1768"/>
                  <a:pt x="7616" y="1772"/>
                  <a:pt x="7601" y="1775"/>
                </a:cubicBezTo>
                <a:cubicBezTo>
                  <a:pt x="7587" y="1778"/>
                  <a:pt x="7573" y="1779"/>
                  <a:pt x="7558" y="1779"/>
                </a:cubicBezTo>
                <a:lnTo>
                  <a:pt x="223" y="1779"/>
                </a:lnTo>
                <a:cubicBezTo>
                  <a:pt x="208" y="1779"/>
                  <a:pt x="194" y="1778"/>
                  <a:pt x="179" y="1775"/>
                </a:cubicBezTo>
                <a:cubicBezTo>
                  <a:pt x="165" y="1772"/>
                  <a:pt x="151" y="1768"/>
                  <a:pt x="138" y="1762"/>
                </a:cubicBezTo>
                <a:cubicBezTo>
                  <a:pt x="124" y="1756"/>
                  <a:pt x="111" y="1750"/>
                  <a:pt x="99" y="1742"/>
                </a:cubicBezTo>
                <a:cubicBezTo>
                  <a:pt x="87" y="1733"/>
                  <a:pt x="76" y="1724"/>
                  <a:pt x="66" y="1714"/>
                </a:cubicBezTo>
                <a:cubicBezTo>
                  <a:pt x="55" y="1704"/>
                  <a:pt x="46" y="1692"/>
                  <a:pt x="38" y="1680"/>
                </a:cubicBezTo>
                <a:cubicBezTo>
                  <a:pt x="30" y="1668"/>
                  <a:pt x="23" y="1655"/>
                  <a:pt x="17" y="1642"/>
                </a:cubicBezTo>
                <a:cubicBezTo>
                  <a:pt x="12" y="1628"/>
                  <a:pt x="8" y="1614"/>
                  <a:pt x="5" y="1600"/>
                </a:cubicBezTo>
                <a:cubicBezTo>
                  <a:pt x="2" y="1586"/>
                  <a:pt x="0" y="1570"/>
                  <a:pt x="0" y="1556"/>
                </a:cubicBezTo>
                <a:lnTo>
                  <a:pt x="0" y="222"/>
                </a:lnTo>
                <a:cubicBezTo>
                  <a:pt x="0" y="208"/>
                  <a:pt x="2" y="193"/>
                  <a:pt x="5" y="179"/>
                </a:cubicBezTo>
                <a:cubicBezTo>
                  <a:pt x="8" y="165"/>
                  <a:pt x="12" y="151"/>
                  <a:pt x="17" y="137"/>
                </a:cubicBezTo>
                <a:cubicBezTo>
                  <a:pt x="23" y="124"/>
                  <a:pt x="30" y="111"/>
                  <a:pt x="38" y="99"/>
                </a:cubicBezTo>
                <a:cubicBezTo>
                  <a:pt x="46" y="87"/>
                  <a:pt x="55" y="75"/>
                  <a:pt x="66" y="65"/>
                </a:cubicBezTo>
                <a:cubicBezTo>
                  <a:pt x="76" y="55"/>
                  <a:pt x="87" y="46"/>
                  <a:pt x="99" y="37"/>
                </a:cubicBezTo>
                <a:cubicBezTo>
                  <a:pt x="111" y="29"/>
                  <a:pt x="124" y="23"/>
                  <a:pt x="138" y="17"/>
                </a:cubicBezTo>
                <a:cubicBezTo>
                  <a:pt x="151" y="11"/>
                  <a:pt x="165" y="7"/>
                  <a:pt x="179" y="4"/>
                </a:cubicBezTo>
                <a:cubicBezTo>
                  <a:pt x="194" y="1"/>
                  <a:pt x="208" y="0"/>
                  <a:pt x="223" y="0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8229240" y="4228920"/>
            <a:ext cx="2800800" cy="640440"/>
          </a:xfrm>
          <a:custGeom>
            <a:avLst/>
            <a:gdLst/>
            <a:ahLst/>
            <a:rect l="0" t="0" r="r" b="b"/>
            <a:pathLst>
              <a:path w="7780" h="1779">
                <a:moveTo>
                  <a:pt x="223" y="0"/>
                </a:moveTo>
                <a:lnTo>
                  <a:pt x="7558" y="0"/>
                </a:lnTo>
                <a:cubicBezTo>
                  <a:pt x="7573" y="0"/>
                  <a:pt x="7587" y="1"/>
                  <a:pt x="7601" y="4"/>
                </a:cubicBezTo>
                <a:cubicBezTo>
                  <a:pt x="7616" y="7"/>
                  <a:pt x="7630" y="11"/>
                  <a:pt x="7643" y="17"/>
                </a:cubicBezTo>
                <a:cubicBezTo>
                  <a:pt x="7657" y="23"/>
                  <a:pt x="7669" y="29"/>
                  <a:pt x="7681" y="37"/>
                </a:cubicBezTo>
                <a:cubicBezTo>
                  <a:pt x="7694" y="46"/>
                  <a:pt x="7705" y="55"/>
                  <a:pt x="7715" y="65"/>
                </a:cubicBezTo>
                <a:cubicBezTo>
                  <a:pt x="7725" y="75"/>
                  <a:pt x="7735" y="87"/>
                  <a:pt x="7743" y="99"/>
                </a:cubicBezTo>
                <a:cubicBezTo>
                  <a:pt x="7751" y="111"/>
                  <a:pt x="7758" y="124"/>
                  <a:pt x="7763" y="137"/>
                </a:cubicBezTo>
                <a:cubicBezTo>
                  <a:pt x="7769" y="151"/>
                  <a:pt x="7773" y="165"/>
                  <a:pt x="7776" y="179"/>
                </a:cubicBezTo>
                <a:cubicBezTo>
                  <a:pt x="7779" y="193"/>
                  <a:pt x="7780" y="208"/>
                  <a:pt x="7780" y="222"/>
                </a:cubicBezTo>
                <a:lnTo>
                  <a:pt x="7780" y="1556"/>
                </a:lnTo>
                <a:cubicBezTo>
                  <a:pt x="7780" y="1570"/>
                  <a:pt x="7779" y="1586"/>
                  <a:pt x="7776" y="1600"/>
                </a:cubicBezTo>
                <a:cubicBezTo>
                  <a:pt x="7773" y="1614"/>
                  <a:pt x="7769" y="1628"/>
                  <a:pt x="7763" y="1642"/>
                </a:cubicBezTo>
                <a:cubicBezTo>
                  <a:pt x="7758" y="1655"/>
                  <a:pt x="7751" y="1668"/>
                  <a:pt x="7743" y="1680"/>
                </a:cubicBezTo>
                <a:cubicBezTo>
                  <a:pt x="7735" y="1692"/>
                  <a:pt x="7725" y="1704"/>
                  <a:pt x="7715" y="1714"/>
                </a:cubicBezTo>
                <a:cubicBezTo>
                  <a:pt x="7705" y="1724"/>
                  <a:pt x="7694" y="1733"/>
                  <a:pt x="7681" y="1742"/>
                </a:cubicBezTo>
                <a:cubicBezTo>
                  <a:pt x="7669" y="1750"/>
                  <a:pt x="7657" y="1756"/>
                  <a:pt x="7643" y="1762"/>
                </a:cubicBezTo>
                <a:cubicBezTo>
                  <a:pt x="7630" y="1768"/>
                  <a:pt x="7616" y="1772"/>
                  <a:pt x="7601" y="1775"/>
                </a:cubicBezTo>
                <a:cubicBezTo>
                  <a:pt x="7587" y="1778"/>
                  <a:pt x="7573" y="1779"/>
                  <a:pt x="7558" y="1779"/>
                </a:cubicBezTo>
                <a:lnTo>
                  <a:pt x="223" y="1779"/>
                </a:lnTo>
                <a:cubicBezTo>
                  <a:pt x="208" y="1779"/>
                  <a:pt x="194" y="1778"/>
                  <a:pt x="179" y="1775"/>
                </a:cubicBezTo>
                <a:cubicBezTo>
                  <a:pt x="165" y="1772"/>
                  <a:pt x="151" y="1768"/>
                  <a:pt x="138" y="1762"/>
                </a:cubicBezTo>
                <a:cubicBezTo>
                  <a:pt x="124" y="1756"/>
                  <a:pt x="111" y="1750"/>
                  <a:pt x="99" y="1742"/>
                </a:cubicBezTo>
                <a:cubicBezTo>
                  <a:pt x="87" y="1733"/>
                  <a:pt x="76" y="1724"/>
                  <a:pt x="66" y="1714"/>
                </a:cubicBezTo>
                <a:cubicBezTo>
                  <a:pt x="55" y="1704"/>
                  <a:pt x="46" y="1692"/>
                  <a:pt x="38" y="1680"/>
                </a:cubicBezTo>
                <a:cubicBezTo>
                  <a:pt x="30" y="1668"/>
                  <a:pt x="23" y="1655"/>
                  <a:pt x="17" y="1642"/>
                </a:cubicBezTo>
                <a:cubicBezTo>
                  <a:pt x="12" y="1628"/>
                  <a:pt x="8" y="1614"/>
                  <a:pt x="5" y="1600"/>
                </a:cubicBezTo>
                <a:cubicBezTo>
                  <a:pt x="2" y="1586"/>
                  <a:pt x="0" y="1570"/>
                  <a:pt x="0" y="1556"/>
                </a:cubicBezTo>
                <a:lnTo>
                  <a:pt x="0" y="222"/>
                </a:lnTo>
                <a:cubicBezTo>
                  <a:pt x="0" y="208"/>
                  <a:pt x="2" y="193"/>
                  <a:pt x="5" y="179"/>
                </a:cubicBezTo>
                <a:cubicBezTo>
                  <a:pt x="8" y="165"/>
                  <a:pt x="12" y="151"/>
                  <a:pt x="17" y="137"/>
                </a:cubicBezTo>
                <a:cubicBezTo>
                  <a:pt x="23" y="124"/>
                  <a:pt x="30" y="111"/>
                  <a:pt x="38" y="99"/>
                </a:cubicBezTo>
                <a:cubicBezTo>
                  <a:pt x="46" y="87"/>
                  <a:pt x="55" y="75"/>
                  <a:pt x="66" y="65"/>
                </a:cubicBezTo>
                <a:cubicBezTo>
                  <a:pt x="76" y="55"/>
                  <a:pt x="87" y="46"/>
                  <a:pt x="99" y="37"/>
                </a:cubicBezTo>
                <a:cubicBezTo>
                  <a:pt x="111" y="29"/>
                  <a:pt x="124" y="23"/>
                  <a:pt x="138" y="17"/>
                </a:cubicBezTo>
                <a:cubicBezTo>
                  <a:pt x="151" y="11"/>
                  <a:pt x="165" y="7"/>
                  <a:pt x="179" y="4"/>
                </a:cubicBezTo>
                <a:cubicBezTo>
                  <a:pt x="194" y="1"/>
                  <a:pt x="208" y="0"/>
                  <a:pt x="223" y="0"/>
                </a:cubicBezTo>
                <a:close/>
              </a:path>
            </a:pathLst>
          </a:custGeom>
          <a:noFill/>
          <a:ln w="19800">
            <a:solidFill>
              <a:srgbClr val="B45309"/>
            </a:solidFill>
            <a:miter/>
          </a:ln>
        </p:spPr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9081360" y="3571560"/>
            <a:ext cx="1031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A7F3D0"/>
                </a:solidFill>
                <a:effectLst/>
                <a:uFillTx/>
                <a:latin typeface=".SFNS"/>
                <a:ea typeface=".SFNS"/>
              </a:rPr>
              <a:t>same as for real data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9064080" y="4339440"/>
            <a:ext cx="1240560" cy="19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92400E"/>
                </a:solidFill>
                <a:effectLst/>
                <a:uFillTx/>
                <a:latin typeface=".SFNS"/>
                <a:ea typeface=".SFNS"/>
              </a:rPr>
              <a:t>Recovered τ_inh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8021880" y="1561320"/>
            <a:ext cx="215280" cy="2990160"/>
          </a:xfrm>
          <a:custGeom>
            <a:avLst/>
            <a:gdLst/>
            <a:ahLst/>
            <a:rect l="0" t="0" r="r" b="b"/>
            <a:pathLst>
              <a:path w="598" h="8306">
                <a:moveTo>
                  <a:pt x="557" y="8306"/>
                </a:moveTo>
                <a:cubicBezTo>
                  <a:pt x="545" y="8261"/>
                  <a:pt x="532" y="8216"/>
                  <a:pt x="520" y="8171"/>
                </a:cubicBezTo>
                <a:lnTo>
                  <a:pt x="561" y="8160"/>
                </a:lnTo>
                <a:cubicBezTo>
                  <a:pt x="573" y="8205"/>
                  <a:pt x="585" y="8250"/>
                  <a:pt x="598" y="8294"/>
                </a:cubicBezTo>
                <a:lnTo>
                  <a:pt x="557" y="8306"/>
                </a:lnTo>
                <a:moveTo>
                  <a:pt x="491" y="8063"/>
                </a:moveTo>
                <a:cubicBezTo>
                  <a:pt x="480" y="8018"/>
                  <a:pt x="468" y="7973"/>
                  <a:pt x="457" y="7928"/>
                </a:cubicBezTo>
                <a:lnTo>
                  <a:pt x="497" y="7918"/>
                </a:lnTo>
                <a:cubicBezTo>
                  <a:pt x="508" y="7963"/>
                  <a:pt x="520" y="8007"/>
                  <a:pt x="532" y="8052"/>
                </a:cubicBezTo>
                <a:lnTo>
                  <a:pt x="491" y="8063"/>
                </a:lnTo>
                <a:moveTo>
                  <a:pt x="430" y="7820"/>
                </a:moveTo>
                <a:cubicBezTo>
                  <a:pt x="419" y="7775"/>
                  <a:pt x="408" y="7730"/>
                  <a:pt x="397" y="7685"/>
                </a:cubicBezTo>
                <a:lnTo>
                  <a:pt x="438" y="7675"/>
                </a:lnTo>
                <a:cubicBezTo>
                  <a:pt x="448" y="7720"/>
                  <a:pt x="459" y="7765"/>
                  <a:pt x="470" y="7810"/>
                </a:cubicBezTo>
                <a:lnTo>
                  <a:pt x="430" y="7820"/>
                </a:lnTo>
                <a:moveTo>
                  <a:pt x="372" y="7576"/>
                </a:moveTo>
                <a:cubicBezTo>
                  <a:pt x="362" y="7531"/>
                  <a:pt x="352" y="7486"/>
                  <a:pt x="342" y="7441"/>
                </a:cubicBezTo>
                <a:lnTo>
                  <a:pt x="383" y="7432"/>
                </a:lnTo>
                <a:cubicBezTo>
                  <a:pt x="392" y="7477"/>
                  <a:pt x="402" y="7522"/>
                  <a:pt x="413" y="7567"/>
                </a:cubicBezTo>
                <a:lnTo>
                  <a:pt x="372" y="7576"/>
                </a:lnTo>
                <a:moveTo>
                  <a:pt x="319" y="7332"/>
                </a:moveTo>
                <a:cubicBezTo>
                  <a:pt x="309" y="7287"/>
                  <a:pt x="300" y="7241"/>
                  <a:pt x="291" y="7196"/>
                </a:cubicBezTo>
                <a:lnTo>
                  <a:pt x="332" y="7188"/>
                </a:lnTo>
                <a:cubicBezTo>
                  <a:pt x="341" y="7233"/>
                  <a:pt x="350" y="7278"/>
                  <a:pt x="359" y="7323"/>
                </a:cubicBezTo>
                <a:lnTo>
                  <a:pt x="319" y="7332"/>
                </a:lnTo>
                <a:moveTo>
                  <a:pt x="269" y="7087"/>
                </a:moveTo>
                <a:cubicBezTo>
                  <a:pt x="261" y="7041"/>
                  <a:pt x="252" y="6996"/>
                  <a:pt x="244" y="6950"/>
                </a:cubicBezTo>
                <a:lnTo>
                  <a:pt x="285" y="6942"/>
                </a:lnTo>
                <a:cubicBezTo>
                  <a:pt x="293" y="6988"/>
                  <a:pt x="301" y="7033"/>
                  <a:pt x="310" y="7079"/>
                </a:cubicBezTo>
                <a:lnTo>
                  <a:pt x="269" y="7087"/>
                </a:lnTo>
                <a:moveTo>
                  <a:pt x="224" y="6840"/>
                </a:moveTo>
                <a:cubicBezTo>
                  <a:pt x="216" y="6795"/>
                  <a:pt x="208" y="6749"/>
                  <a:pt x="201" y="6703"/>
                </a:cubicBezTo>
                <a:lnTo>
                  <a:pt x="242" y="6696"/>
                </a:lnTo>
                <a:cubicBezTo>
                  <a:pt x="249" y="6742"/>
                  <a:pt x="257" y="6788"/>
                  <a:pt x="265" y="6833"/>
                </a:cubicBezTo>
                <a:lnTo>
                  <a:pt x="224" y="6840"/>
                </a:lnTo>
                <a:moveTo>
                  <a:pt x="183" y="6593"/>
                </a:moveTo>
                <a:cubicBezTo>
                  <a:pt x="176" y="6548"/>
                  <a:pt x="169" y="6502"/>
                  <a:pt x="162" y="6456"/>
                </a:cubicBezTo>
                <a:lnTo>
                  <a:pt x="203" y="6450"/>
                </a:lnTo>
                <a:cubicBezTo>
                  <a:pt x="210" y="6495"/>
                  <a:pt x="217" y="6541"/>
                  <a:pt x="224" y="6587"/>
                </a:cubicBezTo>
                <a:lnTo>
                  <a:pt x="183" y="6593"/>
                </a:lnTo>
                <a:moveTo>
                  <a:pt x="146" y="6345"/>
                </a:moveTo>
                <a:cubicBezTo>
                  <a:pt x="140" y="6300"/>
                  <a:pt x="134" y="6254"/>
                  <a:pt x="128" y="6208"/>
                </a:cubicBezTo>
                <a:lnTo>
                  <a:pt x="169" y="6202"/>
                </a:lnTo>
                <a:cubicBezTo>
                  <a:pt x="175" y="6248"/>
                  <a:pt x="181" y="6294"/>
                  <a:pt x="187" y="6340"/>
                </a:cubicBezTo>
                <a:lnTo>
                  <a:pt x="146" y="6345"/>
                </a:lnTo>
                <a:moveTo>
                  <a:pt x="114" y="6098"/>
                </a:moveTo>
                <a:cubicBezTo>
                  <a:pt x="108" y="6052"/>
                  <a:pt x="103" y="6006"/>
                  <a:pt x="97" y="5960"/>
                </a:cubicBezTo>
                <a:lnTo>
                  <a:pt x="139" y="5955"/>
                </a:lnTo>
                <a:cubicBezTo>
                  <a:pt x="144" y="6001"/>
                  <a:pt x="149" y="6047"/>
                  <a:pt x="155" y="6093"/>
                </a:cubicBezTo>
                <a:lnTo>
                  <a:pt x="114" y="6098"/>
                </a:lnTo>
                <a:moveTo>
                  <a:pt x="85" y="5849"/>
                </a:moveTo>
                <a:cubicBezTo>
                  <a:pt x="80" y="5803"/>
                  <a:pt x="76" y="5757"/>
                  <a:pt x="71" y="5711"/>
                </a:cubicBezTo>
                <a:lnTo>
                  <a:pt x="113" y="5707"/>
                </a:lnTo>
                <a:cubicBezTo>
                  <a:pt x="117" y="5753"/>
                  <a:pt x="122" y="5799"/>
                  <a:pt x="127" y="5845"/>
                </a:cubicBezTo>
                <a:lnTo>
                  <a:pt x="85" y="5849"/>
                </a:lnTo>
                <a:moveTo>
                  <a:pt x="60" y="5600"/>
                </a:moveTo>
                <a:cubicBezTo>
                  <a:pt x="56" y="5554"/>
                  <a:pt x="52" y="5507"/>
                  <a:pt x="48" y="5461"/>
                </a:cubicBezTo>
                <a:lnTo>
                  <a:pt x="91" y="5458"/>
                </a:lnTo>
                <a:cubicBezTo>
                  <a:pt x="94" y="5504"/>
                  <a:pt x="98" y="5550"/>
                  <a:pt x="102" y="5596"/>
                </a:cubicBezTo>
                <a:lnTo>
                  <a:pt x="60" y="5600"/>
                </a:lnTo>
                <a:moveTo>
                  <a:pt x="40" y="5350"/>
                </a:moveTo>
                <a:cubicBezTo>
                  <a:pt x="36" y="5303"/>
                  <a:pt x="33" y="5257"/>
                  <a:pt x="30" y="5211"/>
                </a:cubicBezTo>
                <a:lnTo>
                  <a:pt x="73" y="5208"/>
                </a:lnTo>
                <a:cubicBezTo>
                  <a:pt x="76" y="5255"/>
                  <a:pt x="79" y="5301"/>
                  <a:pt x="82" y="5347"/>
                </a:cubicBezTo>
                <a:lnTo>
                  <a:pt x="40" y="5350"/>
                </a:lnTo>
                <a:moveTo>
                  <a:pt x="24" y="5100"/>
                </a:moveTo>
                <a:cubicBezTo>
                  <a:pt x="21" y="5054"/>
                  <a:pt x="19" y="5008"/>
                  <a:pt x="17" y="4962"/>
                </a:cubicBezTo>
                <a:lnTo>
                  <a:pt x="58" y="4960"/>
                </a:lnTo>
                <a:cubicBezTo>
                  <a:pt x="60" y="5006"/>
                  <a:pt x="63" y="5052"/>
                  <a:pt x="65" y="5098"/>
                </a:cubicBezTo>
                <a:lnTo>
                  <a:pt x="24" y="5100"/>
                </a:lnTo>
                <a:moveTo>
                  <a:pt x="12" y="4851"/>
                </a:moveTo>
                <a:cubicBezTo>
                  <a:pt x="10" y="4804"/>
                  <a:pt x="9" y="4758"/>
                  <a:pt x="7" y="4712"/>
                </a:cubicBezTo>
                <a:lnTo>
                  <a:pt x="49" y="4711"/>
                </a:lnTo>
                <a:cubicBezTo>
                  <a:pt x="50" y="4757"/>
                  <a:pt x="52" y="4803"/>
                  <a:pt x="54" y="4849"/>
                </a:cubicBezTo>
                <a:lnTo>
                  <a:pt x="12" y="4851"/>
                </a:lnTo>
                <a:moveTo>
                  <a:pt x="4" y="4600"/>
                </a:moveTo>
                <a:cubicBezTo>
                  <a:pt x="3" y="4554"/>
                  <a:pt x="2" y="4508"/>
                  <a:pt x="2" y="4461"/>
                </a:cubicBezTo>
                <a:lnTo>
                  <a:pt x="43" y="4460"/>
                </a:lnTo>
                <a:cubicBezTo>
                  <a:pt x="44" y="4507"/>
                  <a:pt x="45" y="4553"/>
                  <a:pt x="46" y="4599"/>
                </a:cubicBezTo>
                <a:lnTo>
                  <a:pt x="4" y="4600"/>
                </a:lnTo>
                <a:moveTo>
                  <a:pt x="0" y="4349"/>
                </a:moveTo>
                <a:lnTo>
                  <a:pt x="0" y="4210"/>
                </a:lnTo>
                <a:lnTo>
                  <a:pt x="42" y="4210"/>
                </a:lnTo>
                <a:lnTo>
                  <a:pt x="42" y="4349"/>
                </a:lnTo>
                <a:lnTo>
                  <a:pt x="0" y="4349"/>
                </a:lnTo>
                <a:moveTo>
                  <a:pt x="1" y="4099"/>
                </a:moveTo>
                <a:lnTo>
                  <a:pt x="3" y="3961"/>
                </a:lnTo>
                <a:lnTo>
                  <a:pt x="44" y="3961"/>
                </a:lnTo>
                <a:lnTo>
                  <a:pt x="42" y="4100"/>
                </a:lnTo>
                <a:lnTo>
                  <a:pt x="1" y="4099"/>
                </a:lnTo>
                <a:moveTo>
                  <a:pt x="5" y="3850"/>
                </a:moveTo>
                <a:lnTo>
                  <a:pt x="9" y="3711"/>
                </a:lnTo>
                <a:lnTo>
                  <a:pt x="51" y="3712"/>
                </a:lnTo>
                <a:lnTo>
                  <a:pt x="47" y="3851"/>
                </a:lnTo>
                <a:lnTo>
                  <a:pt x="5" y="3850"/>
                </a:lnTo>
                <a:moveTo>
                  <a:pt x="13" y="3600"/>
                </a:moveTo>
                <a:lnTo>
                  <a:pt x="19" y="3460"/>
                </a:lnTo>
                <a:lnTo>
                  <a:pt x="61" y="3462"/>
                </a:lnTo>
                <a:lnTo>
                  <a:pt x="55" y="3601"/>
                </a:lnTo>
                <a:lnTo>
                  <a:pt x="13" y="3600"/>
                </a:lnTo>
                <a:moveTo>
                  <a:pt x="25" y="3349"/>
                </a:moveTo>
                <a:lnTo>
                  <a:pt x="34" y="3209"/>
                </a:lnTo>
                <a:lnTo>
                  <a:pt x="76" y="3211"/>
                </a:lnTo>
                <a:lnTo>
                  <a:pt x="68" y="3351"/>
                </a:lnTo>
                <a:lnTo>
                  <a:pt x="25" y="3349"/>
                </a:lnTo>
                <a:moveTo>
                  <a:pt x="41" y="3098"/>
                </a:moveTo>
                <a:lnTo>
                  <a:pt x="52" y="2961"/>
                </a:lnTo>
                <a:lnTo>
                  <a:pt x="94" y="2964"/>
                </a:lnTo>
                <a:lnTo>
                  <a:pt x="84" y="3102"/>
                </a:lnTo>
                <a:lnTo>
                  <a:pt x="41" y="3098"/>
                </a:lnTo>
                <a:moveTo>
                  <a:pt x="61" y="2850"/>
                </a:moveTo>
                <a:lnTo>
                  <a:pt x="74" y="2712"/>
                </a:lnTo>
                <a:lnTo>
                  <a:pt x="116" y="2716"/>
                </a:lnTo>
                <a:lnTo>
                  <a:pt x="103" y="2854"/>
                </a:lnTo>
                <a:lnTo>
                  <a:pt x="61" y="2850"/>
                </a:lnTo>
                <a:moveTo>
                  <a:pt x="85" y="2601"/>
                </a:moveTo>
                <a:lnTo>
                  <a:pt x="100" y="2463"/>
                </a:lnTo>
                <a:lnTo>
                  <a:pt x="141" y="2467"/>
                </a:lnTo>
                <a:lnTo>
                  <a:pt x="127" y="2606"/>
                </a:lnTo>
                <a:lnTo>
                  <a:pt x="85" y="2601"/>
                </a:lnTo>
                <a:moveTo>
                  <a:pt x="113" y="2352"/>
                </a:moveTo>
                <a:lnTo>
                  <a:pt x="129" y="2213"/>
                </a:lnTo>
                <a:lnTo>
                  <a:pt x="171" y="2218"/>
                </a:lnTo>
                <a:lnTo>
                  <a:pt x="154" y="2357"/>
                </a:lnTo>
                <a:lnTo>
                  <a:pt x="113" y="2352"/>
                </a:lnTo>
                <a:moveTo>
                  <a:pt x="144" y="2102"/>
                </a:moveTo>
                <a:lnTo>
                  <a:pt x="162" y="1965"/>
                </a:lnTo>
                <a:lnTo>
                  <a:pt x="203" y="1971"/>
                </a:lnTo>
                <a:lnTo>
                  <a:pt x="185" y="2107"/>
                </a:lnTo>
                <a:lnTo>
                  <a:pt x="144" y="2102"/>
                </a:lnTo>
                <a:moveTo>
                  <a:pt x="178" y="1856"/>
                </a:moveTo>
                <a:lnTo>
                  <a:pt x="198" y="1719"/>
                </a:lnTo>
                <a:lnTo>
                  <a:pt x="240" y="1725"/>
                </a:lnTo>
                <a:lnTo>
                  <a:pt x="219" y="1862"/>
                </a:lnTo>
                <a:lnTo>
                  <a:pt x="178" y="1856"/>
                </a:lnTo>
                <a:moveTo>
                  <a:pt x="216" y="1609"/>
                </a:moveTo>
                <a:lnTo>
                  <a:pt x="238" y="1472"/>
                </a:lnTo>
                <a:lnTo>
                  <a:pt x="279" y="1479"/>
                </a:lnTo>
                <a:lnTo>
                  <a:pt x="257" y="1616"/>
                </a:lnTo>
                <a:lnTo>
                  <a:pt x="216" y="1609"/>
                </a:lnTo>
                <a:moveTo>
                  <a:pt x="257" y="1362"/>
                </a:moveTo>
                <a:lnTo>
                  <a:pt x="282" y="1224"/>
                </a:lnTo>
                <a:lnTo>
                  <a:pt x="323" y="1231"/>
                </a:lnTo>
                <a:lnTo>
                  <a:pt x="298" y="1369"/>
                </a:lnTo>
                <a:lnTo>
                  <a:pt x="257" y="1362"/>
                </a:lnTo>
                <a:moveTo>
                  <a:pt x="302" y="1113"/>
                </a:moveTo>
                <a:lnTo>
                  <a:pt x="328" y="977"/>
                </a:lnTo>
                <a:lnTo>
                  <a:pt x="369" y="985"/>
                </a:lnTo>
                <a:lnTo>
                  <a:pt x="343" y="1121"/>
                </a:lnTo>
                <a:lnTo>
                  <a:pt x="302" y="1113"/>
                </a:lnTo>
                <a:moveTo>
                  <a:pt x="350" y="869"/>
                </a:moveTo>
                <a:lnTo>
                  <a:pt x="378" y="734"/>
                </a:lnTo>
                <a:lnTo>
                  <a:pt x="419" y="742"/>
                </a:lnTo>
                <a:lnTo>
                  <a:pt x="391" y="877"/>
                </a:lnTo>
                <a:lnTo>
                  <a:pt x="350" y="869"/>
                </a:lnTo>
                <a:moveTo>
                  <a:pt x="401" y="625"/>
                </a:moveTo>
                <a:lnTo>
                  <a:pt x="431" y="490"/>
                </a:lnTo>
                <a:lnTo>
                  <a:pt x="471" y="499"/>
                </a:lnTo>
                <a:lnTo>
                  <a:pt x="442" y="634"/>
                </a:lnTo>
                <a:lnTo>
                  <a:pt x="401" y="625"/>
                </a:lnTo>
                <a:moveTo>
                  <a:pt x="455" y="381"/>
                </a:moveTo>
                <a:lnTo>
                  <a:pt x="487" y="245"/>
                </a:lnTo>
                <a:lnTo>
                  <a:pt x="528" y="255"/>
                </a:lnTo>
                <a:lnTo>
                  <a:pt x="496" y="390"/>
                </a:lnTo>
                <a:lnTo>
                  <a:pt x="455" y="381"/>
                </a:lnTo>
                <a:moveTo>
                  <a:pt x="513" y="136"/>
                </a:moveTo>
                <a:lnTo>
                  <a:pt x="547" y="0"/>
                </a:lnTo>
                <a:lnTo>
                  <a:pt x="588" y="10"/>
                </a:lnTo>
                <a:lnTo>
                  <a:pt x="554" y="146"/>
                </a:lnTo>
                <a:lnTo>
                  <a:pt x="513" y="136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8158680" y="1539000"/>
            <a:ext cx="97560" cy="109440"/>
          </a:xfrm>
          <a:custGeom>
            <a:avLst/>
            <a:gdLst/>
            <a:ahLst/>
            <a:rect l="0" t="0" r="r" b="b"/>
            <a:pathLst>
              <a:path w="271" h="304">
                <a:moveTo>
                  <a:pt x="0" y="236"/>
                </a:moveTo>
                <a:lnTo>
                  <a:pt x="204" y="0"/>
                </a:lnTo>
                <a:lnTo>
                  <a:pt x="271" y="304"/>
                </a:lnTo>
                <a:lnTo>
                  <a:pt x="1" y="236"/>
                </a:lnTo>
                <a:lnTo>
                  <a:pt x="0" y="236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8841960" y="4571640"/>
            <a:ext cx="1452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92400E"/>
                </a:solidFill>
                <a:effectLst/>
                <a:uFillTx/>
                <a:latin typeface=".SFNS"/>
                <a:ea typeface=".SFNS"/>
              </a:rPr>
              <a:t>should match the known input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 rot="16200000">
            <a:off x="7809120" y="2989440"/>
            <a:ext cx="153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1" u="none" strike="noStrike">
                <a:solidFill>
                  <a:srgbClr val="B45309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?=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8946360" y="5170320"/>
            <a:ext cx="155844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3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If recovered ≈ known: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8838000" y="5371560"/>
            <a:ext cx="1440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374151"/>
                </a:solidFill>
                <a:effectLst/>
                <a:uFillTx/>
                <a:latin typeface=".SFNS"/>
                <a:ea typeface=".SFNS"/>
              </a:rPr>
              <a:t>the fitting procedure is sound,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8589960" y="5531760"/>
            <a:ext cx="1922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374151"/>
                </a:solidFill>
                <a:effectLst/>
                <a:uFillTx/>
                <a:latin typeface=".SFNS"/>
                <a:ea typeface=".SFNS"/>
              </a:rPr>
              <a:t>and the differences we find on real data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685440" y="2333520"/>
            <a:ext cx="5696640" cy="28800"/>
          </a:xfrm>
          <a:custGeom>
            <a:avLst/>
            <a:gdLst/>
            <a:ahLst/>
            <a:rect l="0" t="0" r="r" b="b"/>
            <a:pathLst>
              <a:path w="15824" h="80">
                <a:moveTo>
                  <a:pt x="0" y="0"/>
                </a:moveTo>
                <a:lnTo>
                  <a:pt x="15824" y="0"/>
                </a:lnTo>
                <a:lnTo>
                  <a:pt x="1582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F76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8618760" y="5691600"/>
            <a:ext cx="1860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374151"/>
                </a:solidFill>
                <a:effectLst/>
                <a:uFillTx/>
                <a:latin typeface=".SFNS"/>
                <a:ea typeface=".SFNS"/>
              </a:rPr>
              <a:t>are likely genuine rather than artifacts.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685800" y="1905480"/>
            <a:ext cx="2608560" cy="37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11827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Current challenge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685800" y="2504880"/>
            <a:ext cx="2651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0F766E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A TEST WE SHOULD RUN (RIGHT)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371240" y="2819160"/>
            <a:ext cx="572040" cy="200520"/>
          </a:xfrm>
          <a:custGeom>
            <a:avLst/>
            <a:gdLst/>
            <a:ahLst/>
            <a:rect l="0" t="0" r="r" b="b"/>
            <a:pathLst>
              <a:path w="1589" h="557">
                <a:moveTo>
                  <a:pt x="0" y="477"/>
                </a:moveTo>
                <a:lnTo>
                  <a:pt x="0" y="80"/>
                </a:lnTo>
                <a:cubicBezTo>
                  <a:pt x="0" y="69"/>
                  <a:pt x="3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510" y="0"/>
                </a:lnTo>
                <a:cubicBezTo>
                  <a:pt x="1520" y="0"/>
                  <a:pt x="1530" y="2"/>
                  <a:pt x="1540" y="6"/>
                </a:cubicBezTo>
                <a:cubicBezTo>
                  <a:pt x="1550" y="10"/>
                  <a:pt x="1558" y="16"/>
                  <a:pt x="1566" y="23"/>
                </a:cubicBezTo>
                <a:cubicBezTo>
                  <a:pt x="1573" y="31"/>
                  <a:pt x="1579" y="39"/>
                  <a:pt x="1583" y="49"/>
                </a:cubicBezTo>
                <a:cubicBezTo>
                  <a:pt x="1587" y="59"/>
                  <a:pt x="1589" y="69"/>
                  <a:pt x="1589" y="80"/>
                </a:cubicBezTo>
                <a:lnTo>
                  <a:pt x="1589" y="477"/>
                </a:lnTo>
                <a:cubicBezTo>
                  <a:pt x="1589" y="488"/>
                  <a:pt x="1587" y="498"/>
                  <a:pt x="1583" y="508"/>
                </a:cubicBezTo>
                <a:cubicBezTo>
                  <a:pt x="1579" y="518"/>
                  <a:pt x="1573" y="526"/>
                  <a:pt x="1566" y="534"/>
                </a:cubicBezTo>
                <a:cubicBezTo>
                  <a:pt x="1558" y="541"/>
                  <a:pt x="1550" y="547"/>
                  <a:pt x="1540" y="551"/>
                </a:cubicBezTo>
                <a:cubicBezTo>
                  <a:pt x="1530" y="555"/>
                  <a:pt x="1520" y="557"/>
                  <a:pt x="1510" y="557"/>
                </a:cubicBezTo>
                <a:lnTo>
                  <a:pt x="80" y="557"/>
                </a:lnTo>
                <a:cubicBezTo>
                  <a:pt x="69" y="557"/>
                  <a:pt x="59" y="555"/>
                  <a:pt x="49" y="551"/>
                </a:cubicBezTo>
                <a:cubicBezTo>
                  <a:pt x="40" y="547"/>
                  <a:pt x="31" y="541"/>
                  <a:pt x="24" y="534"/>
                </a:cubicBezTo>
                <a:cubicBezTo>
                  <a:pt x="16" y="526"/>
                  <a:pt x="11" y="518"/>
                  <a:pt x="7" y="508"/>
                </a:cubicBezTo>
                <a:cubicBezTo>
                  <a:pt x="3" y="498"/>
                  <a:pt x="0" y="488"/>
                  <a:pt x="0" y="477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12080" y="2798640"/>
            <a:ext cx="6652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1. Pick a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425600" y="2830680"/>
            <a:ext cx="45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F766E"/>
                </a:solidFill>
                <a:effectLst/>
                <a:uFillTx/>
                <a:latin typeface="Menlo"/>
                <a:ea typeface="Menlo"/>
              </a:rPr>
              <a:t>τ_inh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1941120" y="2798640"/>
            <a:ext cx="21196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value ourselves (e.g., 18 ms)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5010120" y="3124080"/>
            <a:ext cx="571680" cy="200160"/>
          </a:xfrm>
          <a:custGeom>
            <a:avLst/>
            <a:gdLst/>
            <a:ahLst/>
            <a:rect l="0" t="0" r="r" b="b"/>
            <a:pathLst>
              <a:path w="1588" h="556">
                <a:moveTo>
                  <a:pt x="0" y="476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509" y="0"/>
                </a:lnTo>
                <a:cubicBezTo>
                  <a:pt x="1519" y="0"/>
                  <a:pt x="1529" y="2"/>
                  <a:pt x="1539" y="6"/>
                </a:cubicBezTo>
                <a:cubicBezTo>
                  <a:pt x="1549" y="10"/>
                  <a:pt x="1557" y="16"/>
                  <a:pt x="1565" y="23"/>
                </a:cubicBezTo>
                <a:cubicBezTo>
                  <a:pt x="1572" y="31"/>
                  <a:pt x="1578" y="39"/>
                  <a:pt x="1582" y="49"/>
                </a:cubicBezTo>
                <a:cubicBezTo>
                  <a:pt x="1586" y="59"/>
                  <a:pt x="1588" y="69"/>
                  <a:pt x="1588" y="79"/>
                </a:cubicBezTo>
                <a:lnTo>
                  <a:pt x="1588" y="476"/>
                </a:lnTo>
                <a:cubicBezTo>
                  <a:pt x="1588" y="488"/>
                  <a:pt x="1586" y="498"/>
                  <a:pt x="1582" y="507"/>
                </a:cubicBezTo>
                <a:cubicBezTo>
                  <a:pt x="1578" y="517"/>
                  <a:pt x="1572" y="526"/>
                  <a:pt x="1565" y="533"/>
                </a:cubicBezTo>
                <a:cubicBezTo>
                  <a:pt x="1557" y="541"/>
                  <a:pt x="1549" y="546"/>
                  <a:pt x="1539" y="550"/>
                </a:cubicBezTo>
                <a:cubicBezTo>
                  <a:pt x="1529" y="554"/>
                  <a:pt x="1519" y="556"/>
                  <a:pt x="1509" y="556"/>
                </a:cubicBezTo>
                <a:lnTo>
                  <a:pt x="79" y="556"/>
                </a:lnTo>
                <a:cubicBezTo>
                  <a:pt x="68" y="556"/>
                  <a:pt x="58" y="554"/>
                  <a:pt x="49" y="550"/>
                </a:cubicBezTo>
                <a:cubicBezTo>
                  <a:pt x="39" y="546"/>
                  <a:pt x="30" y="541"/>
                  <a:pt x="23" y="533"/>
                </a:cubicBezTo>
                <a:cubicBezTo>
                  <a:pt x="15" y="526"/>
                  <a:pt x="10" y="517"/>
                  <a:pt x="6" y="507"/>
                </a:cubicBezTo>
                <a:cubicBezTo>
                  <a:pt x="2" y="498"/>
                  <a:pt x="0" y="488"/>
                  <a:pt x="0" y="476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12080" y="3103560"/>
            <a:ext cx="42930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2. Use the model to generate a synthetic EEG signal at that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5067000" y="3135240"/>
            <a:ext cx="45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F766E"/>
                </a:solidFill>
                <a:effectLst/>
                <a:uFillTx/>
                <a:latin typeface="Menlo"/>
                <a:ea typeface="Menlo"/>
              </a:rPr>
              <a:t>τ_inh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712080" y="3408480"/>
            <a:ext cx="41763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3. Run our fitting procedure on it: does it give back 18 ms?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733320" y="41907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5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2"/>
                  <a:pt x="76" y="133"/>
                  <a:pt x="67" y="133"/>
                </a:cubicBezTo>
                <a:cubicBezTo>
                  <a:pt x="58" y="133"/>
                  <a:pt x="50" y="132"/>
                  <a:pt x="42" y="128"/>
                </a:cubicBezTo>
                <a:cubicBezTo>
                  <a:pt x="34" y="125"/>
                  <a:pt x="26" y="120"/>
                  <a:pt x="20" y="114"/>
                </a:cubicBezTo>
                <a:cubicBezTo>
                  <a:pt x="14" y="108"/>
                  <a:pt x="8" y="101"/>
                  <a:pt x="5" y="93"/>
                </a:cubicBezTo>
                <a:cubicBezTo>
                  <a:pt x="1" y="85"/>
                  <a:pt x="0" y="76"/>
                  <a:pt x="0" y="67"/>
                </a:cubicBezTo>
                <a:cubicBezTo>
                  <a:pt x="0" y="59"/>
                  <a:pt x="1" y="50"/>
                  <a:pt x="5" y="42"/>
                </a:cubicBezTo>
                <a:cubicBezTo>
                  <a:pt x="8" y="33"/>
                  <a:pt x="14" y="26"/>
                  <a:pt x="20" y="20"/>
                </a:cubicBezTo>
                <a:cubicBezTo>
                  <a:pt x="26" y="13"/>
                  <a:pt x="34" y="9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9"/>
                  <a:pt x="108" y="13"/>
                  <a:pt x="114" y="20"/>
                </a:cubicBezTo>
                <a:cubicBezTo>
                  <a:pt x="120" y="26"/>
                  <a:pt x="125" y="33"/>
                  <a:pt x="128" y="42"/>
                </a:cubicBezTo>
                <a:cubicBezTo>
                  <a:pt x="131" y="50"/>
                  <a:pt x="133" y="59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685800" y="3790440"/>
            <a:ext cx="1624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0F766E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WHY THIS MATTERS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733320" y="44956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1"/>
                </a:cubicBezTo>
                <a:cubicBezTo>
                  <a:pt x="125" y="99"/>
                  <a:pt x="120" y="107"/>
                  <a:pt x="114" y="113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4" y="125"/>
                  <a:pt x="26" y="120"/>
                  <a:pt x="20" y="113"/>
                </a:cubicBezTo>
                <a:cubicBezTo>
                  <a:pt x="14" y="107"/>
                  <a:pt x="8" y="99"/>
                  <a:pt x="5" y="91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4" y="25"/>
                  <a:pt x="20" y="19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3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895320" y="4084560"/>
            <a:ext cx="38887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We have not yet done this test for our fitting procedure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895320" y="4657680"/>
            <a:ext cx="571680" cy="200160"/>
          </a:xfrm>
          <a:custGeom>
            <a:avLst/>
            <a:gdLst/>
            <a:ahLst/>
            <a:rect l="0" t="0" r="r" b="b"/>
            <a:pathLst>
              <a:path w="1588" h="556">
                <a:moveTo>
                  <a:pt x="0" y="47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509" y="0"/>
                </a:lnTo>
                <a:cubicBezTo>
                  <a:pt x="1519" y="0"/>
                  <a:pt x="1529" y="2"/>
                  <a:pt x="1539" y="6"/>
                </a:cubicBezTo>
                <a:cubicBezTo>
                  <a:pt x="1549" y="10"/>
                  <a:pt x="1557" y="15"/>
                  <a:pt x="1565" y="23"/>
                </a:cubicBezTo>
                <a:cubicBezTo>
                  <a:pt x="1572" y="30"/>
                  <a:pt x="1578" y="39"/>
                  <a:pt x="1582" y="49"/>
                </a:cubicBezTo>
                <a:cubicBezTo>
                  <a:pt x="1586" y="58"/>
                  <a:pt x="1588" y="68"/>
                  <a:pt x="1588" y="79"/>
                </a:cubicBezTo>
                <a:lnTo>
                  <a:pt x="1588" y="477"/>
                </a:lnTo>
                <a:cubicBezTo>
                  <a:pt x="1588" y="487"/>
                  <a:pt x="1586" y="498"/>
                  <a:pt x="1582" y="507"/>
                </a:cubicBezTo>
                <a:cubicBezTo>
                  <a:pt x="1578" y="517"/>
                  <a:pt x="1572" y="526"/>
                  <a:pt x="1565" y="533"/>
                </a:cubicBezTo>
                <a:cubicBezTo>
                  <a:pt x="1557" y="540"/>
                  <a:pt x="1549" y="546"/>
                  <a:pt x="1539" y="550"/>
                </a:cubicBezTo>
                <a:cubicBezTo>
                  <a:pt x="1529" y="554"/>
                  <a:pt x="1519" y="556"/>
                  <a:pt x="1509" y="556"/>
                </a:cubicBezTo>
                <a:lnTo>
                  <a:pt x="79" y="556"/>
                </a:lnTo>
                <a:cubicBezTo>
                  <a:pt x="68" y="556"/>
                  <a:pt x="58" y="554"/>
                  <a:pt x="49" y="550"/>
                </a:cubicBezTo>
                <a:cubicBezTo>
                  <a:pt x="39" y="546"/>
                  <a:pt x="30" y="540"/>
                  <a:pt x="23" y="533"/>
                </a:cubicBezTo>
                <a:cubicBezTo>
                  <a:pt x="15" y="526"/>
                  <a:pt x="10" y="517"/>
                  <a:pt x="6" y="507"/>
                </a:cubicBezTo>
                <a:cubicBezTo>
                  <a:pt x="2" y="498"/>
                  <a:pt x="0" y="487"/>
                  <a:pt x="0" y="477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895320" y="4389480"/>
            <a:ext cx="48132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Without it, we cannot tell whether PD vs Control differences in fitted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952560" y="4668840"/>
            <a:ext cx="45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F766E"/>
                </a:solidFill>
                <a:effectLst/>
                <a:uFillTx/>
                <a:latin typeface="Menlo"/>
                <a:ea typeface="Menlo"/>
              </a:rPr>
              <a:t>τ_inh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467720" y="4637160"/>
            <a:ext cx="37360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937"/>
                </a:solidFill>
                <a:effectLst/>
                <a:uFillTx/>
                <a:latin typeface=".SFNS"/>
                <a:ea typeface=".SFNS"/>
              </a:rPr>
              <a:t> reflect a real effect or errors made by the procedure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1835720" y="6488280"/>
            <a:ext cx="1137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.SFNS"/>
                <a:ea typeface=".SFN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LibreOffice/26.2.3.2$MacOSX_AARCH64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